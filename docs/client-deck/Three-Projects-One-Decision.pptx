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 payment / booking</c:v>
                </c:pt>
              </c:strCache>
            </c:strRef>
          </c:tx>
          <c:spPr>
            <a:solidFill>
              <a:srgbClr val="CDE4F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During construction</c:v>
                </c:pt>
              </c:strCache>
            </c:strRef>
          </c:tx>
          <c:spPr>
            <a:solidFill>
              <a:srgbClr val="8FC0D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30</c:v>
                </c:pt>
                <c:pt idx="2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 handover</c:v>
                </c:pt>
              </c:strCache>
            </c:strRef>
          </c:tx>
          <c:spPr>
            <a:solidFill>
              <a:srgbClr val="4E93B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60</c:v>
                </c:pt>
                <c:pt idx="2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F1412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0E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2E3A3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28C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0F14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7B0A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F14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· INVESTMENT COMPARISON · JULY 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2064" y="3557016"/>
            <a:ext cx="11027664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projects.</a:t>
            </a:r>
            <a:endParaRPr lang="en-US" sz="6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decision.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66928" y="5504688"/>
            <a:ext cx="118872" cy="118872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JVC · 2027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5968" y="5504688"/>
            <a:ext cx="118872" cy="118872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8" name="Text 6"/>
          <p:cNvSpPr/>
          <p:nvPr/>
        </p:nvSpPr>
        <p:spPr>
          <a:xfrm>
            <a:off x="453542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City of Arabia · 2029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65008" y="5504688"/>
            <a:ext cx="118872" cy="118872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0" name="Text 8"/>
          <p:cNvSpPr/>
          <p:nvPr/>
        </p:nvSpPr>
        <p:spPr>
          <a:xfrm>
            <a:off x="828446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DLRC · 2028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91440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24358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solving for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buyer, roughly AED 1M of capital, looking for an off-plan one-bedroom that earns. Three shortlisted projects that answer it in three completely different ways.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200400"/>
            <a:ext cx="5669280" cy="960120"/>
          </a:xfrm>
          <a:prstGeom prst="roundRect">
            <a:avLst>
              <a:gd name="adj" fmla="val 2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3310128"/>
            <a:ext cx="52669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this slide before you present.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budget, unit type and priority order with the client's own words — the rest of the deck holds up whatever you put here.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43584"/>
          <a:ext cx="49194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5059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brief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AED 1,000,000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before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Resale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66928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28160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28160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328160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8089392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89392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089392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SPREAD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three, side by side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47088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Mashriq Elite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BEYOND · OMNIYAT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Tarrad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in building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all-in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1,204,160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1,045,250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≈837,250  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1,454  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  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 /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in before keys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DLD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Furnished on handover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Purple Line, future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Line, 1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DXB airport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50468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8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marks the strongest of the three on that row. Floareá's figures come from a live sales offer (unit FS 611, 18 July 2026); Arancia and Celesto are published or estimated and still to be confirmed on a price list. Not financial advice.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BRIEF MOVES UP A SIZE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two-bedroom picture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quote a two-bedroom, and the spread is wide — AED 780,000 between the cheapest and the dearest before a single fee is added.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4086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from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1,320,000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Step-up vs own 1 BR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2,189,250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1,378,050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of this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of 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50, 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230368"/>
            <a:ext cx="5486400" cy="1024128"/>
          </a:xfrm>
          <a:prstGeom prst="roundRect">
            <a:avLst>
              <a:gd name="adj" fmla="val 267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5340096"/>
            <a:ext cx="50840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worth saying out loud.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Celesto's two-bedroom is 851.64 sqft — within fourteen square feet of Floareá's ONE-bedroom at 837.54. Same floor area, an extra bedroom, for AED 173,890 more all-in.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0" y="5230368"/>
            <a:ext cx="5193792" cy="1024128"/>
          </a:xfrm>
          <a:prstGeom prst="roundRect">
            <a:avLst>
              <a:gd name="adj" fmla="val 267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01968" y="5340096"/>
            <a:ext cx="4791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prices the step up.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charges 43% more per sqft for its two-bedroom than its one-bedroom. Celesto charges 7%. Arancia is the better 1 BR buy; Celesto is by far the better 2 BR buy.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YOUR MONEY SITS, AND WHEN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exposure before you hold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bar is 100% of the purchase price. The question that matters isn't the headline split — it's how much is out of your pocket before the asset can earn anything.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75488" y="2468880"/>
          <a:ext cx="1111910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5604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keys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handover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4956048"/>
            <a:ext cx="5193792" cy="1207008"/>
          </a:xfrm>
          <a:prstGeom prst="roundRect">
            <a:avLst>
              <a:gd name="adj" fmla="val 2273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01968" y="5065776"/>
            <a:ext cx="47914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kinds of easy.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asks the least before keys — 30%, of which 20% is the booking. It also carries the largest payment at the end: 70% on completion, usually the point a mortgage is drawn. Celesto's 1% a month is the opposite trade.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JUMEIRAH VILLAGE CIRCLE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LIFE PAINTED IN PASTEL HORIZONS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Mashriq Elite Developments        Handover · Q3–Q4 2027        From · AED 1,050,000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Mashriq Elite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yrs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HISTORY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arm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Mashriq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diversified house with over two decades across real estate, project development and telecommunications, with a network spanning the UAE, United States, Europe, Singapore and Saudi Arabia. Design, architecture and delivery sit under one roof in their own design centre.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834640"/>
            <a:ext cx="5650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 is their fourth venture, positioned as the project that sets their benchmark. The record is short but real: a project launched September 2023 was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 in August 2025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further launches in June 2024 and February 2025, and announced chapters in Dubai Islands and Dubailand.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boutique developer, not a Binghatti or an EMAAR. The upside is a small building and negotiable terms. The risk is depth of delivery record — mitigated by verifying the escrow account, RERA registration and construction-linked SPA milestones.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JVC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to JVC's entry and exit, with a Purple Line metro station coming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Jumeirah Village Circle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BR · 2 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+ 4P + 19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 · 20% 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15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70001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Rooftop infinity pool · organic pool · sunken lounge · floating meditation deck · gym · mini golf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6928" y="53218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City &amp; Media City 10 · Miracle Garden 5 · Marina, Burj Al Arab, Mall of the Emirates 15 · Downtown &amp; Dubai Mall 25 · DXB 35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42416"/>
            <a:ext cx="5650992" cy="23774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0" y="3529584"/>
            <a:ext cx="2743200" cy="219456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51392" y="3529584"/>
            <a:ext cx="27432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What's included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arrives fitted — that's the whole argument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wall cladding — tile and wood-textured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Dresser console wall with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 wardrobes; glass and wooden in the bedroom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wall console with bookshelf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Bathroom fittings, vanity, LED-lit mirror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4256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9744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home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Alexa-integrated home system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switch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thermostats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Curtains — provision only. Conduit and electrical point supplied; the smart curtains themselves are not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01584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2468880"/>
            <a:ext cx="146304" cy="146304"/>
          </a:xfrm>
          <a:prstGeom prst="ellipse">
            <a:avLst/>
          </a:prstGeom>
          <a:solidFill>
            <a:srgbClr val="828C87"/>
          </a:solidFill>
          <a:ln/>
        </p:spPr>
      </p:sp>
      <p:sp>
        <p:nvSpPr>
          <p:cNvPr id="18" name="Text 16"/>
          <p:cNvSpPr/>
          <p:nvPr/>
        </p:nvSpPr>
        <p:spPr>
          <a:xfrm>
            <a:off x="8577072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9328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 decor mirror piece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room furniture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Chandeliers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Wallpaper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513892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248656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unit leases faster and rents higher in JVC's young-professional tenant pool — it is the strongest single reason to choose this project over Arancia.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kitchen specification is blank on the developer's own deliverables sheet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needs to be confirmed in writing.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Unit FS 611 · 1 BR, 837.54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Type D · 837.54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€269,001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€10,760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1,204,160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€280,690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 · AED 15/sqft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€2,928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67,437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€15,720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real numbers, not a "from" price.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taken from the developer's sales offer for unit FS 611 dated 18 July 2026 — a specific 6th-floor pool-view apartment with one parking bay.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this page is an estimate.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fees and plan come from the sales offer; the service charge is published at AED 15/sqft; the rent is confirmed at AED 80,000. Floareá is the only one of the three where every line is evidenced.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EARLIEST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837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Fitted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HANDOVER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Sales offer S 611 · 18 July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SCHEDULE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payment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Dec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Jun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completion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807,800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73552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&amp; admin fees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at booking, all 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280,960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645152"/>
            <a:ext cx="5486400" cy="1051560"/>
          </a:xfrm>
          <a:prstGeom prst="roundRect">
            <a:avLst>
              <a:gd name="adj" fmla="val 260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68096" y="4754880"/>
            <a:ext cx="5084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client writes on day one: AED 280,960.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deposit plus DLD and admin, all due at booking. After that only AED 115,400 falls due across the next eighteen months.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0" y="1042416"/>
            <a:ext cx="5193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FS 611 · 1 BEDROOM TYPE D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71600"/>
            <a:ext cx="5193792" cy="3666744"/>
          </a:xfrm>
          <a:prstGeom prst="rect">
            <a:avLst/>
          </a:prstGeom>
        </p:spPr>
      </p:pic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193792"/>
          <a:ext cx="5193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906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/ floor / 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 611 · 6th floor · 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678.34 suite + 159.20 balcony = 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150F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0" y="-2651760"/>
            <a:ext cx="8778240" cy="5852160"/>
          </a:xfrm>
          <a:prstGeom prst="ellipse">
            <a:avLst/>
          </a:prstGeom>
          <a:solidFill>
            <a:srgbClr val="B08A25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RESIDENCES · CITY OF ARABIA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COURTYARDS, ONE KILOMETRE OF GREEN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BEYOND · OMNIYAT Group        Handover · Q1 2029        From · AED 1,000,000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BEYOND · OMNIYAT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residential brand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founded in Dubai in 2005 — the group behind the city's ultra-prime waterfront portfolio.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 4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MASTERPLAN VALUE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72384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72384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72384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LANDSCAPE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5650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Yards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BEYOND's master-planned destination in City of Arabia: 2.3 million sqft of gross floor area, 1,560 residences, organised along a one-kilometre green spine, with 70% of the total area given to open landscape. Mediterranean-inspired, with its own school, clinic, mosque, farm, gardens and retail — a complete community rather than an apartment block with a pool.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0" y="3200400"/>
            <a:ext cx="5650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is the first cluster to launch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it: 272 residences across three low-rise buildings, G+6 and G+7, arranged around a central green valley.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of being early.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 buys at first-phase pricing into a community that will still be building around them for years. That is the upside and the risk in the same sentence — and the reason the handover is 2029.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City of Arabia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low-rise buildings around a central green valley, inside a AED 4bn masterplan</a:t>
            </a:r>
            <a:endParaRPr lang="en-US" sz="1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Arabia, Dubailand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 · 3 Bedrooms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low-rise, G+6 / G+7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 in phase · 1,560 masterplan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height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LADDER</a:t>
            </a:r>
            <a:endParaRPr lang="en-US" sz="10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84832"/>
                <a:gridCol w="18288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1,700–1,751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3,370,000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943600" y="288036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terraces to every residence · 3.1 m ceilings · floor-to-ceiling thermally insulated glazing · courtyard views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943600" y="3520440"/>
            <a:ext cx="5650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Lagoon pool · lounge pool with lap pool · gyms · spa · cinema room · kids' club · yoga areas · sports court · amphitheatre · orchard gardens · farm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43600" y="4407408"/>
            <a:ext cx="5650992" cy="1170432"/>
          </a:xfrm>
          <a:prstGeom prst="roundRect">
            <a:avLst>
              <a:gd name="adj" fmla="val 2344"/>
            </a:avLst>
          </a:prstGeom>
          <a:solidFill>
            <a:srgbClr val="171E1B"/>
          </a:solidFill>
          <a:ln w="9525">
            <a:solidFill>
              <a:srgbClr val="2E3A35"/>
            </a:solidFill>
            <a:prstDash val="dash"/>
          </a:ln>
        </p:spPr>
      </p:sp>
      <p:sp>
        <p:nvSpPr>
          <p:cNvPr id="14" name="Text 10"/>
          <p:cNvSpPr/>
          <p:nvPr/>
        </p:nvSpPr>
        <p:spPr>
          <a:xfrm>
            <a:off x="6035040" y="4407408"/>
            <a:ext cx="54681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slot — drop the five Arancia images in here as a photo grid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 BR, 750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750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€233,100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€9,324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€243,648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€17,483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€2,622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€14,860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land per foot of the three.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1,333/sqft buys the largest one-bedroom in the comparison — 750 sqft against Celesto's 550.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still unpublished.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is the only one of the three with no service charge on record, so AED 15/sqft is modelled — matching Floareá. Its amenity and landscape load is the heaviest, so the real figure could be higher: at AED 25/sqft the yield falls to ~5.4%.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LONGEST WAIT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PHASE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DUBAILAND RESIDENCE COMPLEX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63440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Al Tarrad Development        Handover · Q4 2028        From · AED 540,000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Al Tarrad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Tarrad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SERIES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99.99%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ALLOWED GFA USED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 runs a focused, repeatable formula: mid-rise residential towers in Dubailand aimed at the investor and entry end-user market — fully furnished, smart-home fitted, priced below the mid-market.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4 is the fourth in a numbered series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tells you the model works well enough to keep running.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926080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submitted design package is itself a confidence signal: a full climate and solar study, site accessibility and land-use analysis, verified area calculations against permitted GFA, a reconciled unit matrix and complete floor plans. Residential GFA comes in at 22,309.05 sqm against an allowed 22,311.00.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206240"/>
            <a:ext cx="5650992" cy="1371600"/>
          </a:xfrm>
          <a:prstGeom prst="roundRect">
            <a:avLst>
              <a:gd name="adj" fmla="val 2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315968"/>
            <a:ext cx="5248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straight about what that number means.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has taken essentially every square metre the plot allows. That is efficient — and it is why there are 414 units here. Density drives the low entry price and the competition at handover. Both, not one.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DLRC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minute from a Blue Line metro station, eighteen from Downtown, DIFC and the airport</a:t>
            </a:r>
            <a:endParaRPr lang="en-US" sz="1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DLRC, Wadi Al Safa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BHK · 2 BHK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 + G + M + 3P + 21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space per apartment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furnished, smart home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12 / sqft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97433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and outdoor gym · indoor and outdoor kids play areas · adults and kids pools · sauna and jacuzzi · BBQ area · yoga area · outdoor cinema · zen garden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MIX</a:t>
            </a:r>
            <a:endParaRPr lang="en-US" sz="10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2194560"/>
                <a:gridCol w="13716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incl. balcony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326–363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BHK · A–C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BHK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3108960"/>
            <a:ext cx="565099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Studio &amp; 1 BR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· 326 SQFT · CONFIRMED ENTRY PRICE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€125,874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€5,035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566,850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€132,133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€8,879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BEDROOM · 550 SQFT · PRICE ESTIMATED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  (estimate)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€186,480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€7,459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€195,163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53,396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€12,447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520440"/>
            <a:ext cx="5486400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630168"/>
            <a:ext cx="5084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price is not confirmed.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AED 540,000 studio entry is published. The AED 823,000 figure online belongs to Celesto Tower — the earlier 272-unit, Q4 2027 project. Replace this column from the price list.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520440"/>
            <a:ext cx="5193792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630168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price per foot, not the ticket.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AED 1,454/sqft this is level with Floareá's 1,464. The low entry price comes from a smaller apartment, not a discount.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414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· MOST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/month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30 MONTHS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BLUE LINE METRO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Service charge AED 12/sqft, published for Celesto Tower — confirm for Celesto 4. Net yield is net rental divided by total cost including fees.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COSTS YOU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here is perfect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has a real weakness. These are the ones worth knowing before signing, not after.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63347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 developer with a thin delivery record — the real risk on this deal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JVC is Dubai's most crowded pipeline: 16,800–22,000 units to 2028, so rents may soften 5–10% at handover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falls due on completion — the largest single payment of the three, usually the point a mortgage is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all-in cost of the three at AED 1.2M, and the lowest modelled net yield at 5.7%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is the highest of the three at AED 15/sqft — the rooftop pool and meditation deck cost something to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633472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2029 handover — the longest wait. Four years before a dirham of rent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1,560 units across the masterplan: resale competes with the developer's own later phases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Inland City of Arabia — resale depends on the community delivering as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furnished, unlike the other two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with no published service charge, and the heaviest amenity and landscape load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9328" y="2633472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8577072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39328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339328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units in one building — at handover the 1BR competes with 179 identical neighbours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building is studios — investor-heavy, higher churn, weaker resale base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is small at 550 sqft; price per foot is not cheap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parking space per apartment, no resident surplus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established developer; record on Celesto 1–3 unverified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different propositions, not a ranking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land close enough that they don't decide this. What decides it is which of these three sentences sounds most like you.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2491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60704" y="243230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biggest apartment, the earliest keys, and the least tied up until then.”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39128" y="24323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08008" y="245059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2028, 837 sqft, only 30% before handover. The trade is a lower yield and a 70% completion payment.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3346704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369417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340156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 wait. I want the strongest name behind it and the cheapest land per foot.”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34015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08008" y="341985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OMNIYAT's premium brand at AED 1,333/sqft, and the only true community product.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431596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663440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60704" y="437083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smallest cheque, paid monthly, and the best yield.”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39128" y="437083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08008" y="438912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entry by a wide margin, 1% a month for 30 months, strongest modelled yield.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5358384"/>
            <a:ext cx="11027664" cy="859536"/>
          </a:xfrm>
          <a:prstGeom prst="roundRect">
            <a:avLst>
              <a:gd name="adj" fmla="val 319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468112"/>
            <a:ext cx="10625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read, and it changed once the real Floareá numbers came in: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live sales offer Floareá prices at AED 1.2M all-in for 837 sqft — the largest unit and the earliest keys, but the lowest yield at 5.6%. For a yield-first buyer the answer is now Celesto 4, and its lead widened once the published service charges came in (12/sqft against 15). For space, earliest handover and least capital tied up, it is Floareá.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it again: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Celesto's 1BR price is unconfirmed — above AED 900,000 its yield advantage largely disappears and Arancia takes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0584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33502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go from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505456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286000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one, and I'll pull live availability and the current price list the same day.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3218688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9" name="Text 7"/>
          <p:cNvSpPr/>
          <p:nvPr/>
        </p:nvSpPr>
        <p:spPr>
          <a:xfrm>
            <a:off x="1042416" y="2999232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get the service charge in writing on your pick — it moves net yield up to a full point.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712464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931920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712464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account and RERA registration verified before any deposit moves.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645152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25696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 or sales-centre walkthrough arranged for the two you like most.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228600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BROKER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578608"/>
            <a:ext cx="3913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Marwan Wareth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80960" y="320040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residential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3749040"/>
            <a:ext cx="3913632" cy="1097280"/>
          </a:xfrm>
          <a:prstGeom prst="roundRect">
            <a:avLst>
              <a:gd name="adj" fmla="val 25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3858768"/>
            <a:ext cx="3511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phone, email and Instagram handle here before sending — this is the slide the client screenshots.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developer- and broker-published and subject to change. For information only — not financial advice. Verify on the current price list and SPA.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— REMOVE BEFORE SENDING TO THE CLIENT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before you present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BR now confirmed from sales offer FS 611 — price, size, plan, fees, Q1 2028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price list and sizes — needed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AED 15/sqft published, rent confirmed at 80k — 1 BR fully evidenced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 count (192?) — not in the brochure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spec — blank on the deliverables sheet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FS 611 still available, or an indicative unit?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34256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223113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— the only one unpublished. At AED 25 the yield drops to ~5.4%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BR: confirm the AED 2.1M and get sizes per unit type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entry: AED 1.0M on portals vs 1.1M on BEYOND's own site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 to Dubai Mall and DXB — unverified, so omitted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quarter: Q1 2029 dominant, Q2 2029 also cited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it is Arancia, not Anarcia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01584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9328" y="2231136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4" name="Text 12"/>
          <p:cNvSpPr/>
          <p:nvPr/>
        </p:nvSpPr>
        <p:spPr>
          <a:xfrm>
            <a:off x="8577072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39328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price list — still the blocker (2BR confirmed at 1.32M)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— AED 12/sqft is Celesto Tower's rate; confirm for Celesto 4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4% DLD payable or waived? AED 32k of difference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Tarrad's delivery record on Celesto 1–3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and RERA/DDA registration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21 residential floors — one portal says 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5358384"/>
            <a:ext cx="11027664" cy="749808"/>
          </a:xfrm>
          <a:prstGeom prst="roundRect">
            <a:avLst>
              <a:gd name="adj" fmla="val 365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5468112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to all three: get the service charge in writing.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unpublished for every one of them and moves net yield 0.7–1.0 points — enough to reorder the comparison table on slide 3.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 Projects, One Decision — Dubai Off-Plan Comparison</dc:title>
  <dc:subject>PptxGenJS Presentation</dc:subject>
  <dc:creator>Marwan Wareth</dc:creator>
  <cp:lastModifiedBy>Marwan Wareth</cp:lastModifiedBy>
  <cp:revision>1</cp:revision>
  <dcterms:created xsi:type="dcterms:W3CDTF">2026-07-28T11:37:33Z</dcterms:created>
  <dcterms:modified xsi:type="dcterms:W3CDTF">2026-07-28T11:37:33Z</dcterms:modified>
</cp:coreProperties>
</file>