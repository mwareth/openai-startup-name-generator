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1M of capital, looking for an off-plan one-bedroom that earns. Three shortlisted projects that answer it in three completely different ways.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5669280" cy="960120"/>
          </a:xfrm>
          <a:prstGeom prst="roundRect">
            <a:avLst>
              <a:gd name="adj" fmla="val 2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310128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this slide before you present.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budget, unit type and priority order with the client's own words — the rest of the deck holds up whatever you put here.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1,000,000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Q3–Q4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1,055,250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≈837,250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1,454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48640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The 4% DLD position differs per project and is confirmed on each project's own slide. Figures subject to change — verify on the current price list and SPA. Not financial advice.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matters as much as the split.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asks the least before handover at 40%. But Celesto's 1% a month for 30 months is the only plan a client can fund out of monthly income rather than capital — for most buyers that is the easier cheque to write.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boutique developer, not a Binghatti or an EMAAR. The upside is a small building and negotiable terms. The risk is depth of delivery record — mitigated by verifying the escrow account, RERA registration and construction-linked SPA milestones.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Q3–Q4 2027 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13892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248656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unit leases faster and rents higher in JVC's young-professional tenant pool — it is the strongest single reason to choose this project over Arancia.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kitchen specification is blank on the developer's own deliverables sheet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needs to be confirmed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717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717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€244,755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€245,979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€17,483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€2,340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€15,143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DLD waiver is the biggest lever on this page.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 not live on the current price list, the total becomes AED 1,097,250 and the net yield falls to 5.9%.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modelled at AED 14/sqft — unpublished. Gross rent is the conservative end of the JVC 1BR range of AED 74–86k.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FEWEST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150F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0" y="-2651760"/>
            <a:ext cx="8778240" cy="5852160"/>
          </a:xfrm>
          <a:prstGeom prst="ellipse">
            <a:avLst/>
          </a:prstGeom>
          <a:solidFill>
            <a:srgbClr val="B08A25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1,000,000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of being early.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 buys at first-phase pricing into a community that will still be building around them for years. That is the upside and the risk in the same sentence — and the reason the handover is 2029.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0" y="4407408"/>
            <a:ext cx="5650992" cy="1170432"/>
          </a:xfrm>
          <a:prstGeom prst="roundRect">
            <a:avLst>
              <a:gd name="adj" fmla="val 2344"/>
            </a:avLst>
          </a:prstGeom>
          <a:solidFill>
            <a:srgbClr val="171E1B"/>
          </a:solidFill>
          <a:ln w="9525">
            <a:solidFill>
              <a:srgbClr val="2E3A35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6035040" y="4407408"/>
            <a:ext cx="54681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slot — drop the five Arancia images in here as a photo grid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€233,100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€9,324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€243,648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€17,483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land per foot of the three.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1,333/sqft buys the largest one-bedroom in the comparison — 750 sqft against Celesto's 550.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modelled at AED 14/sqft — unpublished, and the amenity load is heavy. At AED 25/sqft the net yield falls to roughly 5.4%.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SERIES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ALLOWED GFA USED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206240"/>
            <a:ext cx="5650992" cy="1371600"/>
          </a:xfrm>
          <a:prstGeom prst="roundRect">
            <a:avLst>
              <a:gd name="adj" fmla="val 2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315968"/>
            <a:ext cx="5248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straight about what that number means.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has taken essentially every square metre the plot allows. That is efficient — and it is why there are 414 units here. Density drives the low entry price and the competition at handover. Both, not one.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€132,133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37,439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€8,727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550 SQFT · PRICE ESTIMATED</a:t>
            </a:r>
            <a:endParaRPr lang="en-US" sz="10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€186,480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€7,459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€195,163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€12,190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520440"/>
            <a:ext cx="5486400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630168"/>
            <a:ext cx="5084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price is not confirmed.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AED 540,000 studio entry is published. The AED 823,000 figure online belongs to Celesto Tower — the earlier 272-unit, Q4 2027 project. Replace this column from the price list.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520440"/>
            <a:ext cx="5193792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630168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price per foot, not the ticket.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AED 1,454/sqft this is level with Floareá's 1,464. The low entry price comes from a smaller apartment, not a discount.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modelled at AED 14/sqft. Net yield is net rental divided by total cost including fees.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lands as a single bullet payment on handover day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view premium — a yield play, not an address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unpublished on a heavily amenitised rooftop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Heaviest amenity load with no published service charge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small at 550 sqft; price per foot is not cheap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rent coming in as soon as possible, and I don't want to furnish it.”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Q3–Q4 2027 — eighteen months earlier than Arancia. Arrives fitted, into a proven leasing market.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 wait. I want the best-built asset and the strongest name behind it.”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OMNIYAT's premium brand, the largest one-bedroom, the lowest price per foot.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in the best-connected spot.”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entry by a wide margin, 1% a month for 30 months, metro at one minute.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358384"/>
            <a:ext cx="11027664" cy="859536"/>
          </a:xfrm>
          <a:prstGeom prst="roundRect">
            <a:avLst>
              <a:gd name="adj" fmla="val 319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468112"/>
            <a:ext cx="10625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read, for a yield-first buyer at this budget: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— it starts earning in 2027, arrives fitted, has the fewest neighbours to compete with at 192 units, and posts the strongest net yield.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my answer: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4% DLD waiver isn't live, or if the client can wait until 2029, Arancia takes it on developer strength and price per foot.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49040"/>
            <a:ext cx="3913632" cy="1097280"/>
          </a:xfrm>
          <a:prstGeom prst="roundRect">
            <a:avLst>
              <a:gd name="adj" fmla="val 25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858768"/>
            <a:ext cx="3511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phone, email and Instagram handle here before sending — this is the slide the client screenshots.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— REMOVE BEFORE SENDING TO THE 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you present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list and exact sizes — the 1,050,000 / 717 sqft basis is research, not brochure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4% DLD waiver still live? Worth 0.3 pts of yield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 in writing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count (192?) and handover quarter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plan is live: 50/50 or 20/30/50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spec — blank on the deliverables sheet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34256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23113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 — at AED 25 the yield drops to ~5.4%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entry: AED 1.0M on portals vs 1.1M on BEYOND's own site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 to Dubai Mall and DXB — unverified, so omitted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quarter: Q1 2029 dominant, Q2 2029 also cited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it is Arancia, not Anarcia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01584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9328" y="2231136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4" name="Text 12"/>
          <p:cNvSpPr/>
          <p:nvPr/>
        </p:nvSpPr>
        <p:spPr>
          <a:xfrm>
            <a:off x="8577072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9328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and 2BR price list — the blocker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4% DLD payable or waived? AED 32k of difference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Tarrad's delivery record on Celesto 1–3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and RERA/DDA registration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21 residential floors — one portal says 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27664" cy="749808"/>
          </a:xfrm>
          <a:prstGeom prst="roundRect">
            <a:avLst>
              <a:gd name="adj" fmla="val 365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5468112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three: get the service charge in writing.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unpublished for every one of them and moves net yield 0.7–1.0 points — enough to reorder the comparison table on slide 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2026-07-28T08:24:28Z</dcterms:created>
  <dcterms:modified xsi:type="dcterms:W3CDTF">2026-07-28T08:24:28Z</dcterms:modified>
</cp:coreProperties>
</file>