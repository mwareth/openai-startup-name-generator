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 payment / booking</c:v>
                </c:pt>
              </c:strCache>
            </c:strRef>
          </c:tx>
          <c:spPr>
            <a:solidFill>
              <a:srgbClr val="CDE4F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10</c:v>
                </c:pt>
                <c:pt idx="2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During construction</c:v>
                </c:pt>
              </c:strCache>
            </c:strRef>
          </c:tx>
          <c:spPr>
            <a:solidFill>
              <a:srgbClr val="8FC0D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</c:v>
                </c:pt>
                <c:pt idx="1">
                  <c:v>30</c:v>
                </c:pt>
                <c:pt idx="2">
                  <c:v>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 handover</c:v>
                </c:pt>
              </c:strCache>
            </c:strRef>
          </c:tx>
          <c:spPr>
            <a:solidFill>
              <a:srgbClr val="4E93B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50</c:v>
                </c:pt>
                <c:pt idx="1">
                  <c:v>60</c:v>
                </c:pt>
                <c:pt idx="2">
                  <c:v>70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F1412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3F0E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2E3A3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28C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solidFill>
          <a:srgbClr val="0F14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A7B0A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F14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C12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OFF-PLAN · INVESTMENT COMPARISON · JULY 2026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12064" y="3557016"/>
            <a:ext cx="11027664" cy="17373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2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projects.</a:t>
            </a:r>
            <a:endParaRPr lang="en-US" sz="6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62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decision.</a:t>
            </a:r>
            <a:endParaRPr lang="en-US" sz="6200" dirty="0"/>
          </a:p>
        </p:txBody>
      </p:sp>
      <p:sp>
        <p:nvSpPr>
          <p:cNvPr id="5" name="Shape 3"/>
          <p:cNvSpPr/>
          <p:nvPr/>
        </p:nvSpPr>
        <p:spPr>
          <a:xfrm>
            <a:off x="566928" y="5504688"/>
            <a:ext cx="118872" cy="118872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JVC · 2027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15968" y="5504688"/>
            <a:ext cx="118872" cy="118872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8" name="Text 6"/>
          <p:cNvSpPr/>
          <p:nvPr/>
        </p:nvSpPr>
        <p:spPr>
          <a:xfrm>
            <a:off x="453542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City of Arabia · 2029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65008" y="5504688"/>
            <a:ext cx="118872" cy="118872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0" name="Text 8"/>
          <p:cNvSpPr/>
          <p:nvPr/>
        </p:nvSpPr>
        <p:spPr>
          <a:xfrm>
            <a:off x="828446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DLRC · 2028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91440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24358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we're solving for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13969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buyer, roughly AED 1M of capital, looking for an off-plan one-bedroom that earns. Three shortlisted projects that answer it in three completely different ways.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3200400"/>
            <a:ext cx="5669280" cy="960120"/>
          </a:xfrm>
          <a:prstGeom prst="roundRect">
            <a:avLst>
              <a:gd name="adj" fmla="val 2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3310128"/>
            <a:ext cx="526694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this slide before you present.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budget, unit type and priority order with the client's own words — the rest of the deck holds up whatever you put here.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243584"/>
          <a:ext cx="49194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450592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brief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AED 1,000,000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stage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Off-plan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first 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before handover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Resale liquidity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566928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328160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28160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328160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COMMUNITIES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8089392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89392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months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089392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SPREAD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TO HEAD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three, side by side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75104"/>
          <a:ext cx="11027664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70048"/>
                <a:gridCol w="2670048"/>
                <a:gridCol w="2670048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of Arabia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DLRC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Mashriq Elite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BEYOND · OMNIYAT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Tarrad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in building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BR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750–762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590–650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BR all-in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1,204,360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1,044,200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836,200  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  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in before keys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 DLD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Furnished on 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Purple Line, future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 Line, 1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DXB airport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504688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7BE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pPr indent="0" marL="0">
              <a:buNone/>
            </a:pPr>
            <a:r>
              <a:rPr lang="en-US" sz="8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marks the strongest of the three on that row. The full cost stack is on the next slide. Floareá's numbers come from a live sales offer (unit FS 611, 18 July 2026); Arancia and Celesto are still to be confirmed. Not financial advice.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COST, LINE BY 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price to net return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cost a buyer actually pays, and what is left at the end of a year. One bedroom, entry unit, same method for all three.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11027664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70048"/>
                <a:gridCol w="2670048"/>
                <a:gridCol w="2670048"/>
              </a:tblGrid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bedroom · 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800,000  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 to buy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1,204,360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1,044,200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836,200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EUR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€280,737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€243,403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€194,918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size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837.54 sqft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 sqft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 sqft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per sqft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11,726  (14/sqft)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11,250  (15/sqft)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7,080  (12/sqft)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return, annual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68,274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78,750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EUR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€15,915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€18,357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€14,200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359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468112"/>
            <a:ext cx="5486400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5577840"/>
            <a:ext cx="5084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 now leads on income. 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90,000 a year on a cheaper unit returns AED 78,750 net — 7.5%. Celesto follows at 7.3% on the smallest cheque. Floareá trails at 5.7%.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400800" y="5468112"/>
            <a:ext cx="5193792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01968" y="5577840"/>
            <a:ext cx="47914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Method, so the client can check it. 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return = rent − service charge. Yield = net return ÷ total cost including DLD and admin. Admin held at AED 4,200. Only Floareá's figures are confirmed.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BRIEF MOVES UP A SIZE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two-bedroom picture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quote a two-bedroom, and the spread is wide — AED 780,000 between the cheapest and the dearest before a single fee is added.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40864"/>
          <a:ext cx="11027664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70048"/>
                <a:gridCol w="2670048"/>
                <a:gridCol w="2670048"/>
              </a:tblGrid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Bedroom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from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1,900,000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2,100,000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1,320,000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1,100–1,179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852–1,070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per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1,909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Step-up vs own 1 BR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  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  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All-in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1,980,000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2,189,250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1,378,050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of this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of 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/ 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/ 50, 1% monthly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230368"/>
            <a:ext cx="5486400" cy="1024128"/>
          </a:xfrm>
          <a:prstGeom prst="roundRect">
            <a:avLst>
              <a:gd name="adj" fmla="val 2679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5340096"/>
            <a:ext cx="50840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worth saying out loud. 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Celesto's two-bedroom is 851.64 sqft — within fourteen square feet of Floareá's ONE-bedroom at 837.54. Same floor area, an extra bedroom, for AED 173,890 more all-in.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400800" y="5230368"/>
            <a:ext cx="5193792" cy="1024128"/>
          </a:xfrm>
          <a:prstGeom prst="roundRect">
            <a:avLst>
              <a:gd name="adj" fmla="val 2679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01968" y="5340096"/>
            <a:ext cx="4791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prices the step up. 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 charges 43% more per sqft for its two-bedroom than its one-bedroom. Celesto charges 7%. Arancia is the better 1 BR buy; Celesto is by far the better 2 BR buy.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YOUR MONEY SITS, AND WHEN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exposure before you hold keys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bar is 100% of the purchase price. The question that matters isn't the headline split — it's how much is out of your pocket before the asset can earn anything.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75488" y="2468880"/>
          <a:ext cx="11119104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56048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18872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keys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handover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 monthly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400800" y="4956048"/>
            <a:ext cx="5193792" cy="1207008"/>
          </a:xfrm>
          <a:prstGeom prst="roundRect">
            <a:avLst>
              <a:gd name="adj" fmla="val 2273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601968" y="5065776"/>
            <a:ext cx="47914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kinds of easy.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asks the least before keys — 30%, of which 20% is the booking. It also carries the largest payment at the end: 70% on completion, usually the point a mortgage is drawn. Celesto's 1% a month is the opposite trade.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END APARTMENTS · JUMEIRAH VILLAGE CIRCLE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5800" dirty="0"/>
          </a:p>
        </p:txBody>
      </p:sp>
      <p:sp>
        <p:nvSpPr>
          <p:cNvPr id="6" name="Text 2"/>
          <p:cNvSpPr/>
          <p:nvPr/>
        </p:nvSpPr>
        <p:spPr>
          <a:xfrm>
            <a:off x="566928" y="4608576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20" kern="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LIFE PAINTED IN PASTEL HORIZONS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66928" y="4992624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Mashriq Elite Developments        Handover · Q3–Q4 2027        From · AED 1,050,000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Mashriq Elite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Mashriq Elite</a:t>
            </a:r>
            <a:endParaRPr lang="en-US" sz="3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66928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pPr indent="0" marL="0">
              <a:buNone/>
            </a:pPr>
            <a:r>
              <a:rPr lang="en-US" sz="12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yrs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66928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HISTORY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072384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2384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4th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072384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VENTURE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0" y="1371600"/>
            <a:ext cx="56509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arm of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Mashriq Group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diversified house with over two decades across real estate, project development and telecommunications, with a network spanning the UAE, United States, Europe, Singapore and Saudi Arabia. Design, architecture and delivery sit under one roof in their own design centre.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43600" y="2834640"/>
            <a:ext cx="5650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 is their fourth venture, positioned as the project that sets their benchmark. The record is short but real: a project launched September 2023 was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handed over in August 2025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further launches in June 2024 and February 2025, and announced chapters in Dubai Islands and Dubailand.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43600" y="4160520"/>
            <a:ext cx="5650992" cy="1417320"/>
          </a:xfrm>
          <a:prstGeom prst="roundRect">
            <a:avLst>
              <a:gd name="adj" fmla="val 1935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4270248"/>
            <a:ext cx="524865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plainly: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boutique developer, not a Binghatti or an EMAAR. The upside is a small building and negotiable terms. The risk is depth of delivery record — mitigated by verifying the escrow account, RERA registration and construction-linked SPA milestones.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Mashriq Elite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JVC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to JVC's entry and exit, with a Purple Line metro station coming</a:t>
            </a:r>
            <a:endParaRPr lang="en-US" sz="1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Jumeirah Village Circle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1 BR · 2 BR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+ 4P + 19 floors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  (confirm)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/ 70 · 20% on booking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14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70001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Rooftop infinity pool · organic pool · sunken lounge · floating meditation deck · gym · mini golf · ground-floor retail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66928" y="532180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times.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City &amp; Media City 10 · Miracle Garden 5 · Marina, Burj Al Arab, Mall of the Emirates 15 · Downtown &amp; Dubai Mall 25 · DXB 35</a:t>
            </a:r>
            <a:endParaRPr lang="en-US" sz="10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1042416"/>
            <a:ext cx="5650992" cy="237744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43600" y="3529584"/>
            <a:ext cx="2743200" cy="219456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851392" y="3529584"/>
            <a:ext cx="27432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What's included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arrives fitted — that's the whole argument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2468880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Decorative wall cladding — tile and wood-textured panels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Dresser console wall with mirror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 wardrobes; glass and wooden in the bedroom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room wall console with bookshelf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Bathroom fittings, vanity, LED-lit mirror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4256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2468880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14" name="Text 12"/>
          <p:cNvSpPr/>
          <p:nvPr/>
        </p:nvSpPr>
        <p:spPr>
          <a:xfrm>
            <a:off x="4809744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home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0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Alexa-integrated home system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switch panels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thermostats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Curtains — provision only. Conduit and electrical point supplied; the smart curtains themselves are not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01584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2468880"/>
            <a:ext cx="146304" cy="146304"/>
          </a:xfrm>
          <a:prstGeom prst="ellipse">
            <a:avLst/>
          </a:prstGeom>
          <a:solidFill>
            <a:srgbClr val="828C87"/>
          </a:solidFill>
          <a:ln/>
        </p:spPr>
      </p:sp>
      <p:sp>
        <p:nvSpPr>
          <p:cNvPr id="18" name="Text 16"/>
          <p:cNvSpPr/>
          <p:nvPr/>
        </p:nvSpPr>
        <p:spPr>
          <a:xfrm>
            <a:off x="8577072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included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39328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room mirror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Bedroom decor mirror piece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room furniture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Chandeliers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Wallpaper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5138928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5248656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fitted unit leases faster and rents higher in JVC's young-professional tenant pool — it is the strongest single reason to choose this project over Arancia. </a:t>
            </a:r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kitchen specification is blank on the developer's own deliverables sheet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needs to be confirmed in writing.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Unit FS 611 · 1 BR, 837.54 sqft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 BE PAID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 · Type D · 837.54 sqft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€269,001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€10,760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1,204,360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€280,737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RETURN SCENARIO</a:t>
            </a:r>
            <a:endParaRPr lang="en-US" sz="10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gross rental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€18,648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837.54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 · AED 14/sqft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€2,733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return, annual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68,274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€15,915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3291840"/>
            <a:ext cx="5486400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3401568"/>
            <a:ext cx="5084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real numbers, not a "from" price.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above is taken from the developer's sales offer for unit FS 611 dated 18 July 2026 — a specific 6th-floor pool-view apartment with one parking bay.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400800" y="3291840"/>
            <a:ext cx="5193792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01968" y="3401568"/>
            <a:ext cx="47914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on this page is an estimate.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Price, fees and plan come from the sales offer; the service charge is AED 14/sqft; the rent is confirmed at AED 80,000. Floareá is the only one of the three where every line is evidenced.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66928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2028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566928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· EARLIEST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387852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87852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837</a:t>
            </a:r>
            <a:pPr indent="0" marL="0">
              <a:buNone/>
            </a:pPr>
            <a:r>
              <a:rPr lang="en-US" sz="12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sqft</a:t>
            </a: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3387852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1 BR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208776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08776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6208776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BEFORE KEYS · LEAST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9029700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029700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Fitted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9029700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HANDOVER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Net yield is net rental divided by total cost including fees. Figures subject to change — verify on the price list and SPA.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Sales offer S 611 · 18 July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SCHEDULE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77240"/>
                <a:gridCol w="1508760"/>
                <a:gridCol w="146304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payment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booking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instalment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Dec 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57,700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2nd instalment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Jun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57,700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completion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807,800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73552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77240"/>
                <a:gridCol w="1508760"/>
                <a:gridCol w="146304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Government &amp; admin fees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 at booking, all 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280,960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645152"/>
            <a:ext cx="5486400" cy="1051560"/>
          </a:xfrm>
          <a:prstGeom prst="roundRect">
            <a:avLst>
              <a:gd name="adj" fmla="val 2609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68096" y="4754880"/>
            <a:ext cx="5084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client writes on day one: AED 280,960.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20% deposit plus DLD and admin, all due at booking. After that only AED 115,400 falls due across the next eighteen months.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0" y="1042416"/>
            <a:ext cx="5193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FS 611 · 1 BEDROOM TYPE D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371600"/>
            <a:ext cx="5193792" cy="3666744"/>
          </a:xfrm>
          <a:prstGeom prst="rect">
            <a:avLst/>
          </a:prstGeom>
        </p:spPr>
      </p:pic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5193792"/>
          <a:ext cx="5193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906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/ floor / parking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 611 · 6th floor · 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678.34 suite + 159.20 balcony = 837.54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1150F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0" y="-2651760"/>
            <a:ext cx="8778240" cy="5852160"/>
          </a:xfrm>
          <a:prstGeom prst="ellipse">
            <a:avLst/>
          </a:prstGeom>
          <a:solidFill>
            <a:srgbClr val="B08A25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RESIDENCES · CITY OF ARABIA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66928" y="4608576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20" kern="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COURTYARDS, ONE KILOMETRE OF GREEN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4992624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BEYOND · OMNIYAT Group        Handover · Q1 2029        From · AED 1,000,000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BEYOND · OMNIYAT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8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premium residential brand of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OMNIYAT Group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founded in Dubai in 2005 — the group behind the city's ultra-prime waterfront portfolio.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52044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3611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AED 4</a:t>
            </a:r>
            <a:pPr indent="0" marL="0">
              <a:buNone/>
            </a:pPr>
            <a:r>
              <a:rPr lang="en-US" sz="12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bn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66928" y="408736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MASTERPLAN VALUE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072384" y="352044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72384" y="3611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072384" y="408736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LANDSCAPE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943600" y="1371600"/>
            <a:ext cx="5650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Yards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BEYOND's master-planned destination in City of Arabia: 2.3 million sqft of gross floor area, 1,560 residences, organised along a one-kilometre green spine, with 70% of the total area given to open landscape. Mediterranean-inspired, with its own school, clinic, mosque, farm, gardens and retail — a complete community rather than an apartment block with a pool.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3600" y="3200400"/>
            <a:ext cx="5650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 is the first cluster to launch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inside it: 272 residences across three low-rise buildings, G+6 and G+7, arranged around a central green valley.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943600" y="4160520"/>
            <a:ext cx="5650992" cy="1417320"/>
          </a:xfrm>
          <a:prstGeom prst="roundRect">
            <a:avLst>
              <a:gd name="adj" fmla="val 1935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44768" y="4270248"/>
            <a:ext cx="524865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 of being early.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client buys at first-phase pricing into a community that will still be building around them for years. That is the upside and the risk in the same sentence — and the reason the handover is 2029.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City of Arabia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8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low-rise buildings around a central green valley, inside a AED 4bn masterplan</a:t>
            </a:r>
            <a:endParaRPr lang="en-US" sz="1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of Arabia, Dubailand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2 · 3 Bedrooms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low-rise, G+6 / G+7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 in phase · 1,560 masterplan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Ceiling height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0" y="1042416"/>
            <a:ext cx="565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LADDER</a:t>
            </a:r>
            <a:endParaRPr lang="en-US" sz="10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371600"/>
          <a:ext cx="565099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84832"/>
                <a:gridCol w="182880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750–762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1,100–1,179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2,100,000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Beds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1,700–1,751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3,370,000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943600" y="2880360"/>
            <a:ext cx="5650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In-unit.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terraces to every residence · 3.1 m ceilings · floor-to-ceiling thermally insulated glazing · courtyard views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5943600" y="3520440"/>
            <a:ext cx="5650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Lagoon pool · lounge pool with lap pool · gyms · spa · cinema room · kids' club · yoga areas · sports court · amphitheatre · orchard gardens · farm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943600" y="4407408"/>
            <a:ext cx="5650992" cy="1170432"/>
          </a:xfrm>
          <a:prstGeom prst="roundRect">
            <a:avLst>
              <a:gd name="adj" fmla="val 2344"/>
            </a:avLst>
          </a:prstGeom>
          <a:solidFill>
            <a:srgbClr val="171E1B"/>
          </a:solidFill>
          <a:ln w="9525">
            <a:solidFill>
              <a:srgbClr val="2E3A35"/>
            </a:solidFill>
            <a:prstDash val="dash"/>
          </a:ln>
        </p:spPr>
      </p:sp>
      <p:sp>
        <p:nvSpPr>
          <p:cNvPr id="14" name="Text 10"/>
          <p:cNvSpPr/>
          <p:nvPr/>
        </p:nvSpPr>
        <p:spPr>
          <a:xfrm>
            <a:off x="6035040" y="4407408"/>
            <a:ext cx="54681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slot — drop the five Arancia images in here as a photo grid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1 BR, 750 sqft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 BE PAID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 · 750 sqft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€233,100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€9,324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1,044,200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€243,403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RETURN SCENARIO</a:t>
            </a:r>
            <a:endParaRPr lang="en-US" sz="10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€20,979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 · AED 15/sqft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€2,622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return, annual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78,750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€18,357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3291840"/>
            <a:ext cx="5486400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3401568"/>
            <a:ext cx="5084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income of the three.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90,000 a year on a AED 1.04M all-in cost returns AED 78,750 net — a 7.5% yield, the highest here. It is also the cheapest land per foot at AED 1,333.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400800" y="3291840"/>
            <a:ext cx="5193792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01968" y="3401568"/>
            <a:ext cx="47914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E0A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still unpublished.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 is the only one of the three with no service charge on record, so AED 15/sqft is modelled — matching Floareá. Its amenity and landscape load is the heaviest, so the real figure could be higher: at AED 25/sqft the yield falls to ~6.8%.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66928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566928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YIELD · HIGHEST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387852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87852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1,333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3387852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/ SQFT · CHEAPEST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208776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08776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272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6208776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IN PHASE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9029700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029700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9029700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· LONGEST WAIT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Net yield is net rental divided by total cost including fees. Figures subject to change — verify on the price list and SPA.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END APARTMENTS · DUBAILAND RESIDENCE COMPLEX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5800" dirty="0"/>
          </a:p>
        </p:txBody>
      </p:sp>
      <p:sp>
        <p:nvSpPr>
          <p:cNvPr id="6" name="Text 2"/>
          <p:cNvSpPr/>
          <p:nvPr/>
        </p:nvSpPr>
        <p:spPr>
          <a:xfrm>
            <a:off x="566928" y="4663440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Al Tarrad Development        Handover · Q4 2028        From · AED 540,000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Al Tarrad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3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Tarrad</a:t>
            </a:r>
            <a:endParaRPr lang="en-US" sz="3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66928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4th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66928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SERIES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072384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2384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99.99%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072384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ALLOWED GFA USED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0" y="1371600"/>
            <a:ext cx="56509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Tarrad runs a focused, repeatable formula: mid-rise residential towers in Dubailand aimed at the investor and entry end-user market — fully furnished, smart-home fitted, priced below the mid-market.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4 is the fourth in a numbered series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tells you the model works well enough to keep running.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43600" y="2926080"/>
            <a:ext cx="5650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submitted design package is itself a confidence signal: a full climate and solar study, site accessibility and land-use analysis, verified area calculations against permitted GFA, a reconciled unit matrix and complete floor plans. Residential GFA comes in at 22,309.05 sqm against an allowed 22,311.00.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43600" y="4206240"/>
            <a:ext cx="5650992" cy="1371600"/>
          </a:xfrm>
          <a:prstGeom prst="roundRect">
            <a:avLst>
              <a:gd name="adj" fmla="val 2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4315968"/>
            <a:ext cx="52486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straight about what that number means.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 has taken essentially every square metre the plot allows. That is efficient — and it is why there are 414 units here. Density drives the low entry price and the competition at handover. Both, not one.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DLRC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3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minute from a Blue Line metro station, eighteen from Downtown, DIFC and the airport</a:t>
            </a:r>
            <a:endParaRPr lang="en-US" sz="1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DLRC, Wadi Al Safa 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1 BHK · 2 BHK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3B + G + M + 3P + 21 floors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space per apartment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Furnishing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furnished, smart home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12 / sqft (confirm)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974336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Indoor and outdoor gym · indoor and outdoor kids play areas · adults and kids pools · sauna and jacuzzi · BBQ area · yoga area · outdoor cinema · zen garden · ground-floor retail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943600" y="1042416"/>
            <a:ext cx="565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MIX</a:t>
            </a:r>
            <a:endParaRPr lang="en-US" sz="10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371600"/>
          <a:ext cx="5650992" cy="914400"/>
        </p:xfrm>
        <a:graphic>
          <a:graphicData uri="http://schemas.openxmlformats.org/drawingml/2006/table">
            <a:tbl>
              <a:tblPr/>
              <a:tblGrid>
                <a:gridCol w="2084832"/>
                <a:gridCol w="2194560"/>
                <a:gridCol w="137160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incl. balcony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A–D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326–363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BHK · A–C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550–598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BHK · A–D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852–1,070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3108960"/>
            <a:ext cx="5650992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Studio &amp; 1 BR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· 326 SQFT · CONFIRMED ENTRY PRICE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€125,874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€5,035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565,800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€131,888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 42,000 − service charge 3,910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38,090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€8,879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BEDROOM · 590 SQFT · PRICE ESTIMATED</a:t>
            </a:r>
            <a:endParaRPr lang="en-US" sz="10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  (estimate)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≈800,000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€186,480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€7,459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836,200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€194,918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 68,000 − service charge 7,080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60,920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€14,200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3520440"/>
            <a:ext cx="5486400" cy="1005840"/>
          </a:xfrm>
          <a:prstGeom prst="roundRect">
            <a:avLst>
              <a:gd name="adj" fmla="val 272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3630168"/>
            <a:ext cx="5084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E0A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1BR price is not confirmed.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AED 540,000 studio entry is published. The AED 823,000 figure online belongs to Celesto Tower — the earlier 272-unit, Q4 2027 project. Replace this column from the price list.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400800" y="3520440"/>
            <a:ext cx="5193792" cy="1005840"/>
          </a:xfrm>
          <a:prstGeom prst="roundRect">
            <a:avLst>
              <a:gd name="adj" fmla="val 272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01968" y="3630168"/>
            <a:ext cx="4791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cheque and the second-best yield.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836,200 all-in returns AED 60,920 net — 7.3%, just behind Arancia on a third less capital, and priced below Floareá per foot at AED 1,356.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66928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566928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387852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87852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414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3387852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· MOST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208776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08776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</a:t>
            </a:r>
            <a:pPr indent="0" marL="0">
              <a:buNone/>
            </a:pPr>
            <a:r>
              <a:rPr lang="en-US" sz="12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/month</a:t>
            </a: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6208776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30 MONTHS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9029700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029700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2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9029700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BLUE LINE METRO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Service charge AED 12/sqft, published for Celesto Tower — confirm for Celesto 4. Net return = rent − service charge; yield = net return ÷ total cost including DLD and admin.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ONE COSTS YOU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project here is perfect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option has a real weakness. These are the ones worth knowing before signing, not after.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633472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7" name="Text 5"/>
          <p:cNvSpPr/>
          <p:nvPr/>
        </p:nvSpPr>
        <p:spPr>
          <a:xfrm>
            <a:off x="1042416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Boutique developer with a thin delivery record — the real risk on this deal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JVC is Dubai's most crowded pipeline: 16,800–22,000 units to 2028, so rents may soften 5–10% at handover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falls due on completion — the largest single payment of the three, usually the point a mortgage is drawn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all-in cost at AED 1.2M and the lowest yield of the three at 5.7% — second-highest rent, but on the biggest outlay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of AED 14/sqft is above Celesto's 12 — the rooftop pool and meditation deck cost something to run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4256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2633472"/>
            <a:ext cx="146304" cy="146304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12" name="Text 10"/>
          <p:cNvSpPr/>
          <p:nvPr/>
        </p:nvSpPr>
        <p:spPr>
          <a:xfrm>
            <a:off x="4809744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0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0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2029 handover — the longest wait. Four years before a dirham of rent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1,560 units across the masterplan: resale competes with the developer's own later phases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Inland City of Arabia — resale depends on the community delivering as drawn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furnished, unlike the other two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one with no published service charge, and the heaviest amenity and landscape load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01584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39328" y="2633472"/>
            <a:ext cx="146304" cy="146304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7" name="Text 15"/>
          <p:cNvSpPr/>
          <p:nvPr/>
        </p:nvSpPr>
        <p:spPr>
          <a:xfrm>
            <a:off x="8577072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39328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339328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414 units in one building — at handover the 1BR competes with 179 identical neighbours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building is studios — investor-heavy, higher churn, weaker resale base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1BR is small at 550 sqft; price per foot is not cheap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parking space per apartment, no resident surplus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established developer; record on Celesto 1–3 unverified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different propositions, not a ranking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land close enough that they don't decide this. What decides it is which of these three sentences sounds most like you.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724912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7" name="Text 5"/>
          <p:cNvSpPr/>
          <p:nvPr/>
        </p:nvSpPr>
        <p:spPr>
          <a:xfrm>
            <a:off x="1060704" y="243230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the biggest apartment, the earliest keys, and the least tied up until then.”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739128" y="2432304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208008" y="2450592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2028, 837 sqft, only 30% before handover. The trade is a lower yield and a 70% completion payment.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3346704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3694176"/>
            <a:ext cx="146304" cy="146304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12" name="Text 10"/>
          <p:cNvSpPr/>
          <p:nvPr/>
        </p:nvSpPr>
        <p:spPr>
          <a:xfrm>
            <a:off x="1060704" y="340156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the best income, and I can wait until 2029 for it.”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39128" y="340156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208008" y="3419856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net return of the three at AED 78,750 a year — 7.5% — plus the cheapest land per foot.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" y="4315968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4663440"/>
            <a:ext cx="146304" cy="146304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7" name="Text 15"/>
          <p:cNvSpPr/>
          <p:nvPr/>
        </p:nvSpPr>
        <p:spPr>
          <a:xfrm>
            <a:off x="1060704" y="437083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the smallest cheque, paid monthly, without giving up much yield.”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39128" y="4370832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08008" y="4389120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7.3% on a third less capital than Arancia, 1% a month for 30 months, metro at one minute.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5358384"/>
            <a:ext cx="11027664" cy="859536"/>
          </a:xfrm>
          <a:prstGeom prst="roundRect">
            <a:avLst>
              <a:gd name="adj" fmla="val 319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5468112"/>
            <a:ext cx="10625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read, and it changed once the real Floareá numbers came in: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rents in, Arancia leads on income at 7.5% — AED 90,000 of rent on the cheapest land per foot. Celesto follows at 7.3% on a third less capital. Floareá trails at 5.7%: the second-highest rent, but on the biggest outlay. For space, earliest handover and least capital tied up, Floareá is still the answer — just not on yield. </a:t>
            </a:r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caveat that matters: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Floareá's numbers are confirmed. Arancia is quoted at AED 1.0M on portals and 1.1M on BEYOND's own site — at 1.1M its yield falls to 6.9%. Celesto's 1BR price is an estimate entirely.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0584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33502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go from here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505456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2286000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 one, and I'll pull live availability and the current price list the same day.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999232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3218688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9" name="Text 7"/>
          <p:cNvSpPr/>
          <p:nvPr/>
        </p:nvSpPr>
        <p:spPr>
          <a:xfrm>
            <a:off x="1042416" y="2999232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I'll get the service charge in writing on your pick — it moves net yield up to a full point.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712464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3931920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3712464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account and RERA registration verified before any deposit moves.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425696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645152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15" name="Text 13"/>
          <p:cNvSpPr/>
          <p:nvPr/>
        </p:nvSpPr>
        <p:spPr>
          <a:xfrm>
            <a:off x="1042416" y="4425696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visit or sales-centre walkthrough arranged for the two you like most.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680960" y="2286000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BROKER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0960" y="2578608"/>
            <a:ext cx="3913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Marwan Wareth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680960" y="3200400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off-plan residential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680960" y="3749040"/>
            <a:ext cx="3913632" cy="1097280"/>
          </a:xfrm>
          <a:prstGeom prst="roundRect">
            <a:avLst>
              <a:gd name="adj" fmla="val 25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2128" y="3858768"/>
            <a:ext cx="3511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phone, email and Instagram handle here before sending — this is the slide the client screenshots.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developer- and broker-published and subject to change. For information only — not financial advice. Verify on the current price list and SPA.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E0A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— REMOVE BEFORE SENDING TO THE CLIENT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before you present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75104"/>
            <a:ext cx="3493008" cy="3200400"/>
          </a:xfrm>
          <a:prstGeom prst="roundRect">
            <a:avLst>
              <a:gd name="adj" fmla="val 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2157984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578608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BR now confirmed from sales offer FS 611 — price, size, plan, fees, Q1 2028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BR price list and sizes — needed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AED 15/sqft published, rent confirmed at 80k — 1 BR fully evidenced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 count (192?) — not in the brochure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spec — blank on the deliverables sheet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FS 611 still available, or an indicative unit?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34256" y="1975104"/>
            <a:ext cx="3493008" cy="3200400"/>
          </a:xfrm>
          <a:prstGeom prst="roundRect">
            <a:avLst>
              <a:gd name="adj" fmla="val 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2231136"/>
            <a:ext cx="146304" cy="146304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10" name="Text 8"/>
          <p:cNvSpPr/>
          <p:nvPr/>
        </p:nvSpPr>
        <p:spPr>
          <a:xfrm>
            <a:off x="4809744" y="2157984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578608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— the only one unpublished. At AED 25 the yield drops to ~6.8%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BR: confirm the AED 2.1M and get sizes per unit type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1BR entry: AED 1.0M on portals vs 1.1M on BEYOND's own site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times to Dubai Mall and DXB — unverified, so omitted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quarter: Q1 2029 dominant, Q2 2029 also cited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it is Arancia, not Anarcia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01584" y="1975104"/>
            <a:ext cx="3493008" cy="3200400"/>
          </a:xfrm>
          <a:prstGeom prst="roundRect">
            <a:avLst>
              <a:gd name="adj" fmla="val 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39328" y="2231136"/>
            <a:ext cx="146304" cy="146304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4" name="Text 12"/>
          <p:cNvSpPr/>
          <p:nvPr/>
        </p:nvSpPr>
        <p:spPr>
          <a:xfrm>
            <a:off x="8577072" y="2157984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39328" y="2578608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1BR price list — still the blocker (2BR confirmed at 1.32M)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— AED 12/sqft is Celesto Tower's rate; confirm for Celesto 4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4% DLD payable or waived? AED 32k of difference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Tarrad's delivery record on Celesto 1–3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and RERA/DDA registration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21 residential floors — one portal says 20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5358384"/>
            <a:ext cx="11027664" cy="749808"/>
          </a:xfrm>
          <a:prstGeom prst="roundRect">
            <a:avLst>
              <a:gd name="adj" fmla="val 3659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5468112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to all three: get the service charge in writing.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unpublished for every one of them and moves net yield 0.7–1.0 points — enough to reorder the comparison table on slide 3.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Three Projects, One Decision — Dubai Off-Plan Comparison</dc:title>
  <dc:subject>PptxGenJS Presentation</dc:subject>
  <dc:creator>Marwan Wareth</dc:creator>
  <cp:lastModifiedBy>Marwan Wareth</cp:lastModifiedBy>
  <cp:revision>1</cp:revision>
  <dcterms:created xsi:type="dcterms:W3CDTF">2026-07-28T11:52:38Z</dcterms:created>
  <dcterms:modified xsi:type="dcterms:W3CDTF">2026-07-28T11:52:38Z</dcterms:modified>
</cp:coreProperties>
</file>