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 payment / booking</c:v>
                </c:pt>
              </c:strCache>
            </c:strRef>
          </c:tx>
          <c:spPr>
            <a:solidFill>
              <a:srgbClr val="CDE4F2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</c:v>
                </c:pt>
                <c:pt idx="1">
                  <c:v>10</c:v>
                </c:pt>
                <c:pt idx="2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During construction</c:v>
                </c:pt>
              </c:strCache>
            </c:strRef>
          </c:tx>
          <c:spPr>
            <a:solidFill>
              <a:srgbClr val="8FC0D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 handover</c:v>
                </c:pt>
              </c:strCache>
            </c:strRef>
          </c:tx>
          <c:spPr>
            <a:solidFill>
              <a:srgbClr val="4E93B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412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Celesto 4</c:v>
                  </c:pt>
                  <c:pt idx="1">
                    <c:v>Arancia</c:v>
                  </c:pt>
                  <c:pt idx="2">
                    <c:v>Floareá Skies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50</c:v>
                </c:pt>
                <c:pt idx="1">
                  <c:v>60</c:v>
                </c:pt>
                <c:pt idx="2">
                  <c:v>70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0F1412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F3F0E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2E3A3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28C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solidFill>
          <a:srgbClr val="0F14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A7B0A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F14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C12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· INVESTMENT COMPARISON · JULY 2026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512064" y="3557016"/>
            <a:ext cx="11027664" cy="17373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projects.</a:t>
            </a:r>
            <a:endParaRPr lang="en-US" sz="62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62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decision.</a:t>
            </a:r>
            <a:endParaRPr lang="en-US" sz="6200" dirty="0"/>
          </a:p>
        </p:txBody>
      </p:sp>
      <p:sp>
        <p:nvSpPr>
          <p:cNvPr id="5" name="Shape 3"/>
          <p:cNvSpPr/>
          <p:nvPr/>
        </p:nvSpPr>
        <p:spPr>
          <a:xfrm>
            <a:off x="566928" y="5504688"/>
            <a:ext cx="118872" cy="118872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78638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JVC · 2027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15968" y="5504688"/>
            <a:ext cx="118872" cy="118872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8" name="Text 6"/>
          <p:cNvSpPr/>
          <p:nvPr/>
        </p:nvSpPr>
        <p:spPr>
          <a:xfrm>
            <a:off x="453542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City of Arabia · 2029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65008" y="5504688"/>
            <a:ext cx="118872" cy="118872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0" name="Text 8"/>
          <p:cNvSpPr/>
          <p:nvPr/>
        </p:nvSpPr>
        <p:spPr>
          <a:xfrm>
            <a:off x="8284464" y="535838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DLRC · 2028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91440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24358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we're solving for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139696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buyer, roughly AED 1M of capital, looking for an off-plan one-bedroom that earns. Three shortlisted projects that answer it in three completely different ways.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3200400"/>
            <a:ext cx="5669280" cy="960120"/>
          </a:xfrm>
          <a:prstGeom prst="roundRect">
            <a:avLst>
              <a:gd name="adj" fmla="val 2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3310128"/>
            <a:ext cx="526694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this slide before you present.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budget, unit type and priority order with the client's own words — the rest of the deck holds up whatever you put here.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243584"/>
          <a:ext cx="49194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50592"/>
              </a:tblGrid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 brief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1,000,000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to first rent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before handover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Resale liquidity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566928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4328160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28160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328160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8089392" y="4892040"/>
            <a:ext cx="3505200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089392" y="4983480"/>
            <a:ext cx="350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months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089392" y="5458968"/>
            <a:ext cx="350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SPREAD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 HEAD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three, side by side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75104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Mashriq Elite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BEYOND · OMNIYAT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 Tarrad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in building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BR 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≈837,250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1,454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  est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 before keys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 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Payable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Furnished on 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Purple Line, future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Blue Line, 1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5420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DXB airport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min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486400"/>
            <a:ext cx="1102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7BE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</a:t>
            </a:r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marks the strongest of the three on that row. Floareá's figures come from a live sales offer (unit FS 611, 18 July 2026); Arancia and Celesto are published or estimated and still to be confirmed on a price list. Not financial advice.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BRIEF MOVES UP A SIZE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two-bedroom picture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of the three has a published two-bedroom price today. Sizes are confirmed for all three, so the comparison still holds shape — the two missing prices are being requested.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487168"/>
          <a:ext cx="11027664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2670048"/>
                <a:gridCol w="2670048"/>
                <a:gridCol w="2670048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Offered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of this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of 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list requested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list requested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per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AED 1,850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/ 50, 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4956048"/>
            <a:ext cx="5486400" cy="1051560"/>
          </a:xfrm>
          <a:prstGeom prst="roundRect">
            <a:avLst>
              <a:gd name="adj" fmla="val 260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5065776"/>
            <a:ext cx="5084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Arancia's 2 BR tells you.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2.1M for 1,100–1,179 sqft is around AED 1,850/sqft — well above its own one-bedroom at 1,333. The two-bedroom is priced as the family product, not as two one-beds.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0" y="4956048"/>
            <a:ext cx="5193792" cy="1051560"/>
          </a:xfrm>
          <a:prstGeom prst="roundRect">
            <a:avLst>
              <a:gd name="adj" fmla="val 260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601968" y="5065776"/>
            <a:ext cx="47914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Needed to finish this slide.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Two-bedroom price lists for Floareá Skies and Celesto 4, plus Floareá 2 BR sizes and unit counts per type. One sales offer per project is enough — same format as FS 611.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YOUR MONEY SITS, AND WHEN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exposure before you hold keys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bar is 100% of the purchase price. The question that matters isn't the headline split — it's how much is out of your pocket before the asset can earn anything.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75488" y="2468880"/>
          <a:ext cx="11119104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956048"/>
          <a:ext cx="54864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188720"/>
                <a:gridCol w="118872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keys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handover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Floareá Skies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Celesto 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 monthly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6400800" y="4956048"/>
            <a:ext cx="5193792" cy="1207008"/>
          </a:xfrm>
          <a:prstGeom prst="roundRect">
            <a:avLst>
              <a:gd name="adj" fmla="val 2273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601968" y="5065776"/>
            <a:ext cx="4791456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different kinds of easy.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asks the least before keys — 30%, of which 20% is the booking. It also carries the largest payment at the end: 70% on completion, usually the point a mortgage is drawn. Celesto's 1% a month is the opposite trade.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JUMEIRAH VILLAGE CIRCLE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LIFE PAINTED IN PASTEL HORIZONS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Mashriq Elite Developments        Handover · Q3–Q4 2027        From · AED 1,050,000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Mashriq Elite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Developments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yrs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HISTORY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VENTURE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property arm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Mashriq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diversified house with over two decades across real estate, project development and telecommunications, with a network spanning the UAE, United States, Europe, Singapore and Saudi Arabia. Design, architecture and delivery sit under one roof in their own design centre.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834640"/>
            <a:ext cx="5650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 is their fourth venture, positioned as the project that sets their benchmark. The record is short but real: a project launched September 2023 was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handed over in August 2025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with further launches in June 2024 and February 2025, and announced chapters in Dubai Islands and Dubailand.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 plainly: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boutique developer, not a Binghatti or an EMAAR. The upside is a small building and negotiable terms. The risk is depth of delivery record — mitigated by verifying the escrow account, RERA registration and construction-linked SPA milestones.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19" name="Text 17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Mashriq Elite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JVC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to JVC's entry and exit, with a Purple Line metro station coming</a:t>
            </a:r>
            <a:endParaRPr lang="en-US" sz="1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Jumeirah Village Circle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BR · 2 BR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+ 4P + 19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 (confirm)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/ 70 · 20% 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70001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Rooftop infinity pool · organic pool · sunken lounge · floating meditation deck · gym · mini golf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66928" y="5321808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City &amp; Media City 10 · Miracle Garden 5 · Marina, Burj Al Arab, Mall of the Emirates 15 · Downtown &amp; Dubai Mall 25 · DXB 35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1042416"/>
            <a:ext cx="5650992" cy="2377440"/>
          </a:xfrm>
          <a:prstGeom prst="rect">
            <a:avLst/>
          </a:prstGeom>
        </p:spPr>
      </p:pic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0" y="3529584"/>
            <a:ext cx="2743200" cy="219456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851392" y="3529584"/>
            <a:ext cx="274320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What's included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arrives fitted — that's the whole argument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66928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4672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0" name="Text 8"/>
          <p:cNvSpPr/>
          <p:nvPr/>
        </p:nvSpPr>
        <p:spPr>
          <a:xfrm>
            <a:off x="1042416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04672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Decorative wall cladding — tile and wood-textured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Dresser console wall with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Glass wardrobes; glass and wooden in the bedroom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wall console with bookshelf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Bathroom fittings, vanity, LED-lit mirror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34256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468880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14" name="Text 12"/>
          <p:cNvSpPr/>
          <p:nvPr/>
        </p:nvSpPr>
        <p:spPr>
          <a:xfrm>
            <a:off x="4809744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home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Alexa-integrated home system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switch panels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thermostats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Curtains — provision only. Conduit and electrical point supplied; the smart curtains themselves are not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01584" y="2212848"/>
            <a:ext cx="3493008" cy="2743200"/>
          </a:xfrm>
          <a:prstGeom prst="roundRect">
            <a:avLst>
              <a:gd name="adj" fmla="val 1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39328" y="2468880"/>
            <a:ext cx="146304" cy="146304"/>
          </a:xfrm>
          <a:prstGeom prst="ellipse">
            <a:avLst/>
          </a:prstGeom>
          <a:solidFill>
            <a:srgbClr val="828C87"/>
          </a:solidFill>
          <a:ln/>
        </p:spPr>
      </p:sp>
      <p:sp>
        <p:nvSpPr>
          <p:cNvPr id="18" name="Text 16"/>
          <p:cNvSpPr/>
          <p:nvPr/>
        </p:nvSpPr>
        <p:spPr>
          <a:xfrm>
            <a:off x="8577072" y="2395728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included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339328" y="2816352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Living room mirror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Bedroom decor mirror piece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room furniture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Chandeliers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Wallpaper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13892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248656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fitted unit leases faster and rents higher in JVC's young-professional tenant pool — it is the strongest single reason to choose this project over Arancia.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kitchen specification is blank on the developer's own deliverables sheet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needs to be confirmed in writing.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Unit FS 611 · 1 BR, 837.54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Type D · 837.54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€269,001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€10,760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€321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1,204,160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€280,690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11,726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€2,733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68,274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€15,915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real numbers, not a "from" price.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above is taken from the developer's sales offer for unit FS 611 dated 18 July 2026 — a specific 6th-floor pool-view apartment with one parking bay.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estimates.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at AED 14/sqft is modelled, not published. Gross rent of AED 80,000 is mid-range for a JVC 1BR — the range is 74–86k.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EARLIEST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837</a:t>
            </a:r>
            <a:pPr indent="0" marL="0">
              <a:buNone/>
            </a:pPr>
            <a:r>
              <a:rPr lang="en-US" sz="12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Fitted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HANDOVER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4862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Floareá Skies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Sales offer S 611 · 18 July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SCHEDULE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payment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booking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1st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Dec 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2nd instalment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Jun 2027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57,700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completion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807,800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273552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77240"/>
                <a:gridCol w="1508760"/>
                <a:gridCol w="146304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Government &amp; admin fees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46,160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Booking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 at booking, all 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280,960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645152"/>
            <a:ext cx="5486400" cy="1051560"/>
          </a:xfrm>
          <a:prstGeom prst="roundRect">
            <a:avLst>
              <a:gd name="adj" fmla="val 260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68096" y="4754880"/>
            <a:ext cx="508406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client writes on day one: AED 280,960.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deposit plus DLD and admin, all due at booking. After that only AED 115,400 falls due across the next eighteen months.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6400800" y="1042416"/>
            <a:ext cx="5193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4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FS 611 · 1 BEDROOM TYPE D</a:t>
            </a:r>
            <a:endParaRPr lang="en-US" sz="10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371600"/>
            <a:ext cx="5193792" cy="3666744"/>
          </a:xfrm>
          <a:prstGeom prst="rect">
            <a:avLst/>
          </a:prstGeom>
        </p:spPr>
      </p:pic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5193792"/>
          <a:ext cx="519379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0906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/ floor / 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FS 611 · 6th floor · 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678.34 suite + 159.20 balcony = 837.54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11150F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0" y="-2651760"/>
            <a:ext cx="8778240" cy="5852160"/>
          </a:xfrm>
          <a:prstGeom prst="ellipse">
            <a:avLst/>
          </a:prstGeom>
          <a:solidFill>
            <a:srgbClr val="B08A25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 RESIDENCES · CITY OF ARABIA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566928" y="4608576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20" kern="0" dirty="0">
                <a:solidFill>
                  <a:srgbClr val="CFC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COURTYARDS, ONE KILOMETRE OF GREEN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4992624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BEYOND · OMNIYAT Group        Handover · Q1 2029        From · AED 1,000,000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BEYOND · OMNIYAT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residential brand of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 Group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founded in Dubai in 2005 — the group behind the city's ultra-prime waterfront portfolio.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AED 4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bn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66928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MASTERPLAN VALUE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72384" y="352044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72384" y="361188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072384" y="408736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LANDSCAPE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943600" y="1371600"/>
            <a:ext cx="565099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Yards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BEYOND's master-planned destination in City of Arabia: 2.3 million sqft of gross floor area, 1,560 residences, organised along a one-kilometre green spine, with 70% of the total area given to open landscape. Mediterranean-inspired, with its own school, clinic, mosque, farm, gardens and retail — a complete community rather than an apartment block with a pool.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0" y="3200400"/>
            <a:ext cx="56509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 is the first cluster to launch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inside it: 272 residences across three low-rise buildings, G+6 and G+7, arranged around a central green valley.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943600" y="4160520"/>
            <a:ext cx="5650992" cy="1417320"/>
          </a:xfrm>
          <a:prstGeom prst="roundRect">
            <a:avLst>
              <a:gd name="adj" fmla="val 1935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44768" y="4270248"/>
            <a:ext cx="5248656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sides of being early.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client buys at first-phase pricing into a community that will still be building around them for years. That is the upside and the risk in the same sentence — and the reason the handover is 2029.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City of Arabia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B08A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low-rise buildings around a central green valley, inside a AED 4bn masterplan</a:t>
            </a:r>
            <a:endParaRPr lang="en-US" sz="1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City of Arabia, Dubailand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· 2 · 3 Bedrooms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low-rise, G+6 / G+7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 in phase · 1,560 masterplan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Ceiling height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 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plan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/ 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LADDER</a:t>
            </a:r>
            <a:endParaRPr lang="en-US" sz="10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84832"/>
                <a:gridCol w="18288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750–762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1,100–1,179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2,100,000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Beds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1,700–1,751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 3,370,000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943600" y="2880360"/>
            <a:ext cx="5650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In-unit.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terraces to every residence · 3.1 m ceilings · floor-to-ceiling thermally insulated glazing · courtyard views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5943600" y="3520440"/>
            <a:ext cx="5650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Lagoon pool · lounge pool with lap pool · gyms · spa · cinema room · kids' club · yoga areas · sports court · amphitheatre · orchard gardens · farm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5943600" y="4407408"/>
            <a:ext cx="5650992" cy="1170432"/>
          </a:xfrm>
          <a:prstGeom prst="roundRect">
            <a:avLst>
              <a:gd name="adj" fmla="val 2344"/>
            </a:avLst>
          </a:prstGeom>
          <a:solidFill>
            <a:srgbClr val="171E1B"/>
          </a:solidFill>
          <a:ln w="9525">
            <a:solidFill>
              <a:srgbClr val="2E3A35"/>
            </a:solidFill>
            <a:prstDash val="dash"/>
          </a:ln>
        </p:spPr>
      </p:sp>
      <p:sp>
        <p:nvSpPr>
          <p:cNvPr id="14" name="Text 10"/>
          <p:cNvSpPr/>
          <p:nvPr/>
        </p:nvSpPr>
        <p:spPr>
          <a:xfrm>
            <a:off x="6035040" y="4407408"/>
            <a:ext cx="54681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slot — drop the five Arancia images in here as a photo grid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B08A25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Arancia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1 BR, 750 sqft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TO BE PAID</a:t>
            </a:r>
            <a:endParaRPr lang="en-US" sz="10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 · 750 sqft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€233,100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€9,324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€311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€243,648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RENTAL RETURN SCENARIO</a:t>
            </a:r>
            <a:endParaRPr lang="en-US" sz="10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gross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€17,483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size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€2,622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63,750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€14,860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291840"/>
            <a:ext cx="5486400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401568"/>
            <a:ext cx="508406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land per foot of the three.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1,333/sqft buys the largest one-bedroom in the comparison — 750 sqft against Celesto's 550.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291840"/>
            <a:ext cx="5193792" cy="914400"/>
          </a:xfrm>
          <a:prstGeom prst="roundRect">
            <a:avLst>
              <a:gd name="adj" fmla="val 3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401568"/>
            <a:ext cx="47914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modelled at AED 14/sqft — unpublished, and the amenity load is heavy. At AED 25/sqft the net yield falls to roughly 5.4%.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· LONGEST WAIT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272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IN PHASE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BEFORE KEYS · LEAST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61772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70916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</a:t>
            </a:r>
            <a:pPr indent="0" marL="0">
              <a:buNone/>
            </a:pPr>
            <a:r>
              <a:rPr lang="en-US" sz="12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sqft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18464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1 BR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Net yield is net rental divided by total cost including fees. Figures subject to change — verify on the price list and SPA.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61520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928" y="3246120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D8D4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END APARTMENTS · DUBAILAND RESIDENCE COMPLEX</a:t>
            </a:r>
            <a:endParaRPr lang="en-US" sz="1050" dirty="0"/>
          </a:p>
        </p:txBody>
      </p:sp>
      <p:sp>
        <p:nvSpPr>
          <p:cNvPr id="5" name="Text 1"/>
          <p:cNvSpPr/>
          <p:nvPr/>
        </p:nvSpPr>
        <p:spPr>
          <a:xfrm>
            <a:off x="512064" y="3557016"/>
            <a:ext cx="11027664" cy="1051560"/>
          </a:xfrm>
          <a:prstGeom prst="rect">
            <a:avLst/>
          </a:prstGeom>
          <a:noFill/>
          <a:ln/>
          <a:effectLst>
            <a:outerShdw sx="100000" sy="100000" kx="0" ky="0" algn="bl" rotWithShape="0" blurRad="177800" dist="25400" dir="5400000">
              <a:srgbClr val="000000">
                <a:alpha val="45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5800" b="1" dirty="0">
                <a:solidFill>
                  <a:srgbClr val="FA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5800" dirty="0"/>
          </a:p>
        </p:txBody>
      </p:sp>
      <p:sp>
        <p:nvSpPr>
          <p:cNvPr id="6" name="Text 2"/>
          <p:cNvSpPr/>
          <p:nvPr/>
        </p:nvSpPr>
        <p:spPr>
          <a:xfrm>
            <a:off x="566928" y="4663440"/>
            <a:ext cx="110276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DEA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· Al Tarrad Development        Handover · Q4 2028        From · AED 540,000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8" name="Text 4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Al Tarrad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7160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Tarrad</a:t>
            </a:r>
            <a:endParaRPr lang="en-US" sz="34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66928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4th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566928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SERIES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072384" y="3017520"/>
            <a:ext cx="2249424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72384" y="310896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99.99%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3072384" y="3584448"/>
            <a:ext cx="22494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ALLOWED GFA USED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943600" y="1371600"/>
            <a:ext cx="56509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 runs a focused, repeatable formula: mid-rise residential towers in Dubailand aimed at the investor and entry end-user market — fully furnished, smart-home fitted, priced below the mid-market. </a:t>
            </a:r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4 is the fourth in a numbered series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which tells you the model works well enough to keep running.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943600" y="2926080"/>
            <a:ext cx="56509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submitted design package is itself a confidence signal: a full climate and solar study, site accessibility and land-use analysis, verified area calculations against permitted GFA, a reconciled unit matrix and complete floor plans. Residential GFA comes in at 22,309.05 sqm against an allowed 22,311.00.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943600" y="4206240"/>
            <a:ext cx="5650992" cy="1371600"/>
          </a:xfrm>
          <a:prstGeom prst="roundRect">
            <a:avLst>
              <a:gd name="adj" fmla="val 20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4768" y="4315968"/>
            <a:ext cx="5248656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straight about what that number means.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developer has taken essentially every square metre the plot allows. That is efficient — and it is why there are 414 units here. Density drives the low entry price and the competition at handover. Both, not one.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DLRC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3A8F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353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minute from a Blue Line metro station, eighteen from Downtown, DIFC and the airport</a:t>
            </a:r>
            <a:endParaRPr lang="en-US" sz="1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12848"/>
          <a:ext cx="5029200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88036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DLRC, Wadi Al Safa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1 BHK · 2 BHK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3B + G + M + 3P + 21 floors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units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Handover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 2028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space per apartment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Furnishing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furnished, smart home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 charge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confirm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66928" y="4974336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Amenities. </a:t>
            </a:r>
            <a:pPr indent="0" marL="0"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Indoor and outdoor gym · indoor and outdoor kids play areas · adults and kids pools · sauna and jacuzzi · BBQ area · yoga area · outdoor cinema · zen garden · ground-floor retail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43600" y="1042416"/>
            <a:ext cx="5650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MIX</a:t>
            </a:r>
            <a:endParaRPr lang="en-US" sz="100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0" y="1371600"/>
          <a:ext cx="5650992" cy="914400"/>
        </p:xfrm>
        <a:graphic>
          <a:graphicData uri="http://schemas.openxmlformats.org/drawingml/2006/table">
            <a:tbl>
              <a:tblPr/>
              <a:tblGrid>
                <a:gridCol w="2084832"/>
                <a:gridCol w="2194560"/>
                <a:gridCol w="1371600"/>
              </a:tblGrid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incl. balcony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326–363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BHK · A–C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550–598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BHK · A–D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852–1,070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3108960"/>
            <a:ext cx="5650992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68580" cy="219456"/>
          </a:xfrm>
          <a:prstGeom prst="rect">
            <a:avLst/>
          </a:prstGeom>
          <a:solidFill>
            <a:srgbClr val="3A8FBF"/>
          </a:solidFill>
          <a:ln/>
        </p:spPr>
      </p:sp>
      <p:sp>
        <p:nvSpPr>
          <p:cNvPr id="3" name="Text 1"/>
          <p:cNvSpPr/>
          <p:nvPr/>
        </p:nvSpPr>
        <p:spPr>
          <a:xfrm>
            <a:off x="722376" y="32918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 Tower 4</a:t>
            </a:r>
            <a:pPr indent="0" marL="0">
              <a:buNone/>
            </a:pPr>
            <a:r>
              <a:rPr lang="en-US" sz="12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Studio &amp; 1 BR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66928" y="104241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· 326 SQFT · CONFIRMED ENTRY PRICE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17320"/>
                <a:gridCol w="14173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€125,874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€5,035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566,850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€132,133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37,439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€8,727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7BE0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1042416"/>
            <a:ext cx="5193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BEDROOM · 550 SQFT · PRICE ESTIMATED</a:t>
            </a:r>
            <a:endParaRPr lang="en-US" sz="10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193792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Bedroom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140" kern="0" dirty="0">
                          <a:solidFill>
                            <a:srgbClr val="828C8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 price  (estimate)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≈800,000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€186,480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DLD registration fee 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€7,459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€1,224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1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price / sqft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837,250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€195,163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A7B0A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estimate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€12,190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32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rental yield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3F0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2296" marR="82296" marT="36576" marB="36576" anchor="ctr">
                    <a:lnL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3A3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2A26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566928" y="3520440"/>
            <a:ext cx="5486400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3630168"/>
            <a:ext cx="5084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price is not confirmed.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AED 540,000 studio entry is published. The AED 823,000 figure online belongs to Celesto Tower — the earlier 272-unit, Q4 2027 project. Replace this column from the price list.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6400800" y="3520440"/>
            <a:ext cx="5193792" cy="1005840"/>
          </a:xfrm>
          <a:prstGeom prst="roundRect">
            <a:avLst>
              <a:gd name="adj" fmla="val 272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601968" y="3630168"/>
            <a:ext cx="47914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price per foot, not the ticket. </a:t>
            </a:r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AED 1,454/sqft this is level with Floareá's 1,464. The low entry price comes from a smaller apartment, not a discount.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66928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566928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387852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387852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414</a:t>
            </a:r>
            <a:pPr indent="0" marL="0">
              <a:buNone/>
            </a:pP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3387852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· MOST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208776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08776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1%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/month</a:t>
            </a:r>
            <a:endParaRPr lang="en-US" sz="2600" dirty="0"/>
          </a:p>
        </p:txBody>
      </p:sp>
      <p:sp>
        <p:nvSpPr>
          <p:cNvPr id="22" name="Text 18"/>
          <p:cNvSpPr/>
          <p:nvPr/>
        </p:nvSpPr>
        <p:spPr>
          <a:xfrm>
            <a:off x="6208776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30 MONTHS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9029700" y="4754880"/>
            <a:ext cx="2564892" cy="0"/>
          </a:xfrm>
          <a:prstGeom prst="line">
            <a:avLst/>
          </a:prstGeom>
          <a:noFill/>
          <a:ln w="9525">
            <a:solidFill>
              <a:srgbClr val="2E3A35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9029700" y="4846320"/>
            <a:ext cx="25648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pPr indent="0" marL="0">
              <a:buNone/>
            </a:pPr>
            <a:r>
              <a:rPr lang="en-US" sz="12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min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9029700" y="5321808"/>
            <a:ext cx="25648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BLUE LINE METRO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FX 1 EUR = 4.29 AED. Service charge modelled at AED 14/sqft. Net yield is net rental divided by total cost including fees. Not financial advice.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EACH ONE COSTS YOU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project here is perfect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8836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option has a real weakness. These are the ones worth knowing before signing, not after.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42416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04672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Boutique developer with a thin delivery record — the real risk on this deal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JVC is Dubai's most crowded pipeline: 16,800–22,000 units to 2028, so rents may soften 5–10% at handover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falls due on completion — the largest single payment of the three, usually the point a mortgage is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all-in cost of the three at AED 1.2M, and the lowest modelled net yield at 5.7%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unpublished on a heavily amenitised rooftop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4256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0" y="2633472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4809744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0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572000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2029 handover — the longest wait. Four years before a dirham of rent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1,560 units across the masterplan: resale competes with the developer's own later phases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Inland City of Arabia — resale depends on the community delivering as drawn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furnished, unlike the other two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Heaviest amenity load with no published service charge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01584" y="2377440"/>
            <a:ext cx="3493008" cy="3383280"/>
          </a:xfrm>
          <a:prstGeom prst="roundRect">
            <a:avLst>
              <a:gd name="adj" fmla="val 81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39328" y="2633472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8577072" y="2560320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39328" y="290779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339328" y="3182112"/>
            <a:ext cx="3017520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414 units in one building — at handover the 1BR competes with 179 identical neighbours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building is studios — investor-heavy, higher churn, weaker resale base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1BR is small at 550 sqft; price per foot is not cheap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parking space per apartment, no resident surplus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established developer; record on Celesto 1–3 unverified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different propositions, not a ranking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847088"/>
            <a:ext cx="9144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land close enough that they don't decide this. What decides it is which of these three sentences sounds most like you.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2377440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724912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7" name="Text 5"/>
          <p:cNvSpPr/>
          <p:nvPr/>
        </p:nvSpPr>
        <p:spPr>
          <a:xfrm>
            <a:off x="1060704" y="243230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biggest apartment, the earliest keys, and the least tied up until then.”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739128" y="24323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48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208008" y="2450592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2028, 837 sqft, only 30% before handover. The trade is a lower yield and a 70% completion payment.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" y="3346704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369417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2" name="Text 10"/>
          <p:cNvSpPr/>
          <p:nvPr/>
        </p:nvSpPr>
        <p:spPr>
          <a:xfrm>
            <a:off x="1060704" y="340156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can wait. I want the strongest name behind it and the cheapest land per foot.”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739128" y="34015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8A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208008" y="341985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OMNIYAT's premium brand at AED 1,333/sqft, and the only true community product.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66928" y="4315968"/>
            <a:ext cx="11027664" cy="841248"/>
          </a:xfrm>
          <a:prstGeom prst="roundRect">
            <a:avLst>
              <a:gd name="adj" fmla="val 326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60704" y="437083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want the smallest cheque, paid monthly, and the best yield.”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39128" y="4370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8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08008" y="4389120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entry by a wide margin, 1% a month for 30 months, strongest modelled yield.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6928" y="5358384"/>
            <a:ext cx="11027664" cy="859536"/>
          </a:xfrm>
          <a:prstGeom prst="roundRect">
            <a:avLst>
              <a:gd name="adj" fmla="val 3191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8096" y="5468112"/>
            <a:ext cx="10625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read, and it changed once the real Floareá numbers came 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live sales offer Floareá prices at AED 1.2M all-in for 837 sqft — the largest unit and the earliest keys, but the lowest modelled yield at 5.7%. For a yield-first buyer the answer is now Celesto 4, subject to its price list. For space, earliest handover and least capital tied up, it is Floareá. </a:t>
            </a:r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 again: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Celesto's 1BR price is unconfirmed — above AED 900,000 its yield advantage largely disappears and Arancia takes it.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005840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33502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we go from 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2505456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286000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Shortlist one, and I'll pull live availability and the current price list the same day.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3218688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9" name="Text 7"/>
          <p:cNvSpPr/>
          <p:nvPr/>
        </p:nvSpPr>
        <p:spPr>
          <a:xfrm>
            <a:off x="1042416" y="2999232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get the service charge in writing on your pick — it moves net yield up to a full point.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3712464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86384" y="3931920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712464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account and RERA registration verified before any deposit moves.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6675120" cy="585216"/>
          </a:xfrm>
          <a:prstGeom prst="roundRect">
            <a:avLst>
              <a:gd name="adj" fmla="val 4688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645152"/>
            <a:ext cx="146304" cy="146304"/>
          </a:xfrm>
          <a:prstGeom prst="ellipse">
            <a:avLst/>
          </a:prstGeom>
          <a:solidFill>
            <a:srgbClr val="7BE08A"/>
          </a:solidFill>
          <a:ln/>
        </p:spPr>
      </p:sp>
      <p:sp>
        <p:nvSpPr>
          <p:cNvPr id="15" name="Text 13"/>
          <p:cNvSpPr/>
          <p:nvPr/>
        </p:nvSpPr>
        <p:spPr>
          <a:xfrm>
            <a:off x="1042416" y="4425696"/>
            <a:ext cx="60350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visit or sales-centre walkthrough arranged for the two you like most.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680960" y="2286000"/>
            <a:ext cx="39136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BROKER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0" y="2578608"/>
            <a:ext cx="3913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Marwan Wareth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680960" y="320040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Dubai off-plan residential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680960" y="3749040"/>
            <a:ext cx="3913632" cy="1097280"/>
          </a:xfrm>
          <a:prstGeom prst="roundRect">
            <a:avLst>
              <a:gd name="adj" fmla="val 2500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882128" y="3858768"/>
            <a:ext cx="351129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your phone, email and Instagram handle here before sending — this is the slide the client screenshots.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2788920" y="6254496"/>
            <a:ext cx="6583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developer- and broker-published and subject to change. For information only — not financial advice. Verify on the current price list and SPA.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859536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E0A4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— REMOVE BEFORE SENDING TO THE CLIENT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1170432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before you present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146304" cy="146304"/>
          </a:xfrm>
          <a:prstGeom prst="ellipse">
            <a:avLst/>
          </a:prstGeom>
          <a:solidFill>
            <a:srgbClr val="B04862"/>
          </a:solidFill>
          <a:ln/>
        </p:spPr>
      </p:sp>
      <p:sp>
        <p:nvSpPr>
          <p:cNvPr id="6" name="Text 4"/>
          <p:cNvSpPr/>
          <p:nvPr/>
        </p:nvSpPr>
        <p:spPr>
          <a:xfrm>
            <a:off x="1042416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Floareá Skies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BR now confirmed from sales offer FS 611 — price, size, plan, fees, Q1 2028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 price list and sizes — needed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 in writing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unit count (192?) — not in the brochure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spec — blank on the deliverables sheet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FS 611 still available, or an indicative unit?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34256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2231136"/>
            <a:ext cx="146304" cy="146304"/>
          </a:xfrm>
          <a:prstGeom prst="ellipse">
            <a:avLst/>
          </a:prstGeom>
          <a:solidFill>
            <a:srgbClr val="B08A25"/>
          </a:solidFill>
          <a:ln/>
        </p:spPr>
      </p:sp>
      <p:sp>
        <p:nvSpPr>
          <p:cNvPr id="10" name="Text 8"/>
          <p:cNvSpPr/>
          <p:nvPr/>
        </p:nvSpPr>
        <p:spPr>
          <a:xfrm>
            <a:off x="4809744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Arancia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 — at AED 25 the yield drops to ~5.4%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BR: confirm the AED 2.1M and get sizes per unit type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entry: AED 1.0M on portals vs 1.1M on BEYOND's own site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times to Dubai Mall and DXB — unverified, so omitted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quarter: Q1 2029 dominant, Q2 2029 also cited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it is Arancia, not Anarcia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01584" y="1975104"/>
            <a:ext cx="3493008" cy="3200400"/>
          </a:xfrm>
          <a:prstGeom prst="roundRect">
            <a:avLst>
              <a:gd name="adj" fmla="val 857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9328" y="2231136"/>
            <a:ext cx="146304" cy="146304"/>
          </a:xfrm>
          <a:prstGeom prst="ellipse">
            <a:avLst/>
          </a:prstGeom>
          <a:solidFill>
            <a:srgbClr val="3A8FBF"/>
          </a:solidFill>
          <a:ln/>
        </p:spPr>
      </p:sp>
      <p:sp>
        <p:nvSpPr>
          <p:cNvPr id="14" name="Text 12"/>
          <p:cNvSpPr/>
          <p:nvPr/>
        </p:nvSpPr>
        <p:spPr>
          <a:xfrm>
            <a:off x="8577072" y="2157984"/>
            <a:ext cx="27797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0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Celesto Tower 4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39328" y="2578608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1BR and 2BR price list — the blocker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charge per sqft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4% DLD payable or waived? AED 32k of difference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Tarrad's delivery record on Celesto 1–3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 and RERA/DDA registration</a:t>
            </a:r>
            <a:endParaRPr lang="en-US" sz="10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21 residential floors — one portal says 20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5358384"/>
            <a:ext cx="11027664" cy="749808"/>
          </a:xfrm>
          <a:prstGeom prst="roundRect">
            <a:avLst>
              <a:gd name="adj" fmla="val 3659"/>
            </a:avLst>
          </a:prstGeom>
          <a:solidFill>
            <a:srgbClr val="202A26"/>
          </a:solidFill>
          <a:ln w="6350">
            <a:solidFill>
              <a:srgbClr val="2E3A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68096" y="5468112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b="1" dirty="0">
                <a:solidFill>
                  <a:srgbClr val="F3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to all three: get the service charge in writing. </a:t>
            </a:r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A7B0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unpublished for every one of them and moves net yield 0.7–1.0 points — enough to reorder the comparison table on slide 3.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291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Marwan Wareth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680192" y="62910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28C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Three Projects, One Decision — Dubai Off-Plan Comparison</dc:title>
  <dc:subject>PptxGenJS Presentation</dc:subject>
  <dc:creator>Marwan Wareth</dc:creator>
  <cp:lastModifiedBy>Marwan Wareth</cp:lastModifiedBy>
  <cp:revision>1</cp:revision>
  <dcterms:created xsi:type="dcterms:W3CDTF">2026-07-28T10:33:51Z</dcterms:created>
  <dcterms:modified xsi:type="dcterms:W3CDTF">2026-07-28T10:33:51Z</dcterms:modified>
</cp:coreProperties>
</file>