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Down payment / booking</c:v>
                </c:pt>
              </c:strCache>
            </c:strRef>
          </c:tx>
          <c:spPr>
            <a:solidFill>
              <a:srgbClr val="CDE4F2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F1412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Celesto 4</c:v>
                  </c:pt>
                  <c:pt idx="1">
                    <c:v>Arancia</c:v>
                  </c:pt>
                  <c:pt idx="2">
                    <c:v>Floareá Skies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</c:v>
                </c:pt>
                <c:pt idx="1">
                  <c:v>10</c:v>
                </c:pt>
                <c:pt idx="2">
                  <c:v>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During construction</c:v>
                </c:pt>
              </c:strCache>
            </c:strRef>
          </c:tx>
          <c:spPr>
            <a:solidFill>
              <a:srgbClr val="8FC0DC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F1412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Celesto 4</c:v>
                  </c:pt>
                  <c:pt idx="1">
                    <c:v>Arancia</c:v>
                  </c:pt>
                  <c:pt idx="2">
                    <c:v>Floareá Skies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30</c:v>
                </c:pt>
                <c:pt idx="1">
                  <c:v>30</c:v>
                </c:pt>
                <c:pt idx="2">
                  <c:v>10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 handover</c:v>
                </c:pt>
              </c:strCache>
            </c:strRef>
          </c:tx>
          <c:spPr>
            <a:solidFill>
              <a:srgbClr val="4E93B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F1412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Celesto 4</c:v>
                  </c:pt>
                  <c:pt idx="1">
                    <c:v>Arancia</c:v>
                  </c:pt>
                  <c:pt idx="2">
                    <c:v>Floareá Skies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50</c:v>
                </c:pt>
                <c:pt idx="1">
                  <c:v>60</c:v>
                </c:pt>
                <c:pt idx="2">
                  <c:v>70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0F1412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F3F0E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2E3A35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28C8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solidFill>
          <a:srgbClr val="0F14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A7B0A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F1412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jpeg"/><Relationship Id="rId3" Type="http://schemas.openxmlformats.org/officeDocument/2006/relationships/image" Target="../media/image-9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image" Target="../media/image-15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e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C12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24612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D8D4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DUBAI OFF-PLAN · INVESTMENT COMPARISON · JULY 2026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12064" y="3557016"/>
            <a:ext cx="11027664" cy="1737360"/>
          </a:xfrm>
          <a:prstGeom prst="rect">
            <a:avLst/>
          </a:prstGeom>
          <a:noFill/>
          <a:ln/>
          <a:effectLst>
            <a:outerShdw sx="100000" sy="100000" kx="0" ky="0" algn="bl" rotWithShape="0" blurRad="177800" dist="25400" dir="5400000">
              <a:srgbClr val="000000">
                <a:alpha val="45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200" b="1" dirty="0">
                <a:solidFill>
                  <a:srgbClr val="FAF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projects.</a:t>
            </a:r>
            <a:endParaRPr lang="en-US" sz="62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6200" b="1" dirty="0">
                <a:solidFill>
                  <a:srgbClr val="FAF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decision.</a:t>
            </a:r>
            <a:endParaRPr lang="en-US" sz="6200" dirty="0"/>
          </a:p>
        </p:txBody>
      </p:sp>
      <p:sp>
        <p:nvSpPr>
          <p:cNvPr id="5" name="Shape 3"/>
          <p:cNvSpPr/>
          <p:nvPr/>
        </p:nvSpPr>
        <p:spPr>
          <a:xfrm>
            <a:off x="566928" y="5504688"/>
            <a:ext cx="118872" cy="118872"/>
          </a:xfrm>
          <a:prstGeom prst="ellipse">
            <a:avLst/>
          </a:prstGeom>
          <a:solidFill>
            <a:srgbClr val="B04862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535838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Floareá Skies</a:t>
            </a:r>
            <a:pPr indent="0" marL="0">
              <a:buNone/>
            </a:pPr>
            <a:r>
              <a:rPr lang="en-US" sz="12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JVC · 2028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15968" y="5504688"/>
            <a:ext cx="118872" cy="118872"/>
          </a:xfrm>
          <a:prstGeom prst="ellipse">
            <a:avLst/>
          </a:prstGeom>
          <a:solidFill>
            <a:srgbClr val="B08A25"/>
          </a:solidFill>
          <a:ln/>
        </p:spPr>
      </p:sp>
      <p:sp>
        <p:nvSpPr>
          <p:cNvPr id="8" name="Text 6"/>
          <p:cNvSpPr/>
          <p:nvPr/>
        </p:nvSpPr>
        <p:spPr>
          <a:xfrm>
            <a:off x="4535424" y="535838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Arancia</a:t>
            </a:r>
            <a:pPr indent="0" marL="0">
              <a:buNone/>
            </a:pPr>
            <a:r>
              <a:rPr lang="en-US" sz="12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City of Arabia · 2029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065008" y="5504688"/>
            <a:ext cx="118872" cy="118872"/>
          </a:xfrm>
          <a:prstGeom prst="ellipse">
            <a:avLst/>
          </a:prstGeom>
          <a:solidFill>
            <a:srgbClr val="3A8FBF"/>
          </a:solidFill>
          <a:ln/>
        </p:spPr>
      </p:sp>
      <p:sp>
        <p:nvSpPr>
          <p:cNvPr id="10" name="Text 8"/>
          <p:cNvSpPr/>
          <p:nvPr/>
        </p:nvSpPr>
        <p:spPr>
          <a:xfrm>
            <a:off x="8284464" y="535838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Celesto Tower 4</a:t>
            </a:r>
            <a:pPr indent="0" marL="0">
              <a:buNone/>
            </a:pPr>
            <a:r>
              <a:rPr lang="en-US" sz="12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DLRC · 2028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91440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1243584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we're solving for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139696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buyer, roughly AED 1.5–2M of capital, looking for an off-plan one- or two-bedroom that earns. Three shortlisted projects that answer it in three completely different ways.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1243584"/>
          <a:ext cx="491947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2450592"/>
              </a:tblGrid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Requirement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 brief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AED 2,000,000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1–2 Bedroom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stage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Off-plan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rental yield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 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to first rent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 before handover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 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Resale liquidity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892040"/>
            <a:ext cx="3505200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983480"/>
            <a:ext cx="350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66928" y="5458968"/>
            <a:ext cx="350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4328160" y="4892040"/>
            <a:ext cx="3505200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328160" y="4983480"/>
            <a:ext cx="350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4328160" y="5458968"/>
            <a:ext cx="350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COMMUNITIES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8089392" y="4892040"/>
            <a:ext cx="3505200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089392" y="4983480"/>
            <a:ext cx="350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months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8089392" y="5458968"/>
            <a:ext cx="350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HANDOVER SPREAD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85953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TO HEAD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1170432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three, side by side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75104"/>
          <a:ext cx="11027664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670048"/>
                <a:gridCol w="2670048"/>
                <a:gridCol w="2670048"/>
              </a:tblGrid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Floareá Skies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Arancia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Celesto 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Community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City of Arabia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DLRC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Mashriq Elite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BEYOND · OMNIYAT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 Tarrad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Handover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Q1 2028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Q1 2029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 2028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Units in building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BR size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837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750–762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590–650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BR all-in cost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1,204,160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1,513,250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899,650  est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 in before keys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 DLD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Payable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Payable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Payable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Furnished on handover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Purple Line, future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Yellow Line, future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Blue Line, 1 min, future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DXB airport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 min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 min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min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5504688"/>
            <a:ext cx="11027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7BE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</a:t>
            </a:r>
            <a:pPr indent="0" marL="0">
              <a:buNone/>
            </a:pPr>
            <a:r>
              <a:rPr lang="en-US" sz="8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marks the strongest of the three on that row. The full cost stack is on the next slide. Floareá's numbers come from a live sales offer (unit FS 611, 18 July 2026); Arancia and Celesto are still to be confirmed. Not financial advice.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85953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COST, LINE BY LINE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1170432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price to net return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847088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cost a buyer actually pays, and what is left at the end of a year. One bedroom, entry unit, same method for all three.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86000"/>
          <a:ext cx="11027664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670048"/>
                <a:gridCol w="2670048"/>
                <a:gridCol w="2670048"/>
              </a:tblGrid>
              <a:tr h="2359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bedroom · AED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Floareá Skies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Arancia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Celesto 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359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Starting unit price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1,154,000  (discount possible)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1,450,000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860,000  est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359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DLD registration fee 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46,160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34,400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359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fee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359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cost to buy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1,204,160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1,513,250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899,650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359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EUR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€280,690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€352,739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€209,708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359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size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837.54 sqft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750 sqft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 sqft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359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per sqft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359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rent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359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 charge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11,726  (14/sqft)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11,250  (15/sqft)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7,080  (12/sqft)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359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return, annual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68,274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78,750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60,920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359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EUR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€15,915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€18,357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€14,200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359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rental yield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88920" y="6254496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return = rent − service charge. Yield = net return ÷ total cost including DLD and admin. FX 1 EUR = 4.29 AED. Floareá confirmed; Arancia and Celesto prices to be verified on a price list. Not financial advice.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85953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BRIEF MOVES UP A SIZE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1170432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two-bedroom picture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883664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quote a two-bedroom, and the spread is wide — AED 780,000 between the cheapest and the dearest before a single fee is added.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40864"/>
          <a:ext cx="11027664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670048"/>
                <a:gridCol w="2670048"/>
                <a:gridCol w="2670048"/>
              </a:tblGrid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Bedroom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Floareá Skies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Arancia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Celesto 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from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1,900,000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2,100,000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1,320,000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1,105–1,170 sqft · 3 types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1,100–1,179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852–1,070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per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1,623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1,909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1,550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DLD 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52,800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All-in cost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1,980,000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2,189,250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1,378,050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Units of this 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of 192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confirm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 of 414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 plan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/ 70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/ 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/ 50, 1% monthly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Handover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Q1 2028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Q1 2029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 2028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85953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YOUR MONEY SITS, AND WHEN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1170432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 exposure before you hold keys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883664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bar is 100% of the purchase price. The question that matters isn't the headline split — it's how much is out of your pocket before the asset can earn anything.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75488" y="2468880"/>
          <a:ext cx="11119104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956048"/>
          <a:ext cx="54864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188720"/>
                <a:gridCol w="1188720"/>
                <a:gridCol w="118872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Before keys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handover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Shape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Floareá Skies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Milestone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Arancia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Milestone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Celesto 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 monthly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6400800" y="4956048"/>
            <a:ext cx="5193792" cy="1207008"/>
          </a:xfrm>
          <a:prstGeom prst="roundRect">
            <a:avLst>
              <a:gd name="adj" fmla="val 2273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601968" y="5065776"/>
            <a:ext cx="479145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different kinds of easy.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Floareá asks the least before keys — 30%, of which 20% is the booking. It also carries the largest payment at the end: 70% on completion, usually the point a mortgage is drawn. Celesto's 1% a month is the opposite trade.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66928" y="324612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D8D4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END APARTMENTS · JUMEIRAH VILLAGE CIRCLE</a:t>
            </a:r>
            <a:endParaRPr lang="en-US" sz="1050" dirty="0"/>
          </a:p>
        </p:txBody>
      </p:sp>
      <p:sp>
        <p:nvSpPr>
          <p:cNvPr id="5" name="Text 1"/>
          <p:cNvSpPr/>
          <p:nvPr/>
        </p:nvSpPr>
        <p:spPr>
          <a:xfrm>
            <a:off x="512064" y="3557016"/>
            <a:ext cx="11027664" cy="1051560"/>
          </a:xfrm>
          <a:prstGeom prst="rect">
            <a:avLst/>
          </a:prstGeom>
          <a:noFill/>
          <a:ln/>
          <a:effectLst>
            <a:outerShdw sx="100000" sy="100000" kx="0" ky="0" algn="bl" rotWithShape="0" blurRad="177800" dist="25400" dir="5400000">
              <a:srgbClr val="000000">
                <a:alpha val="45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5800" b="1" dirty="0">
                <a:solidFill>
                  <a:srgbClr val="FAF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Floareá Skies</a:t>
            </a:r>
            <a:endParaRPr lang="en-US" sz="5800" dirty="0"/>
          </a:p>
        </p:txBody>
      </p:sp>
      <p:sp>
        <p:nvSpPr>
          <p:cNvPr id="6" name="Text 2"/>
          <p:cNvSpPr/>
          <p:nvPr/>
        </p:nvSpPr>
        <p:spPr>
          <a:xfrm>
            <a:off x="566928" y="4608576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20" kern="0" dirty="0">
                <a:solidFill>
                  <a:srgbClr val="CFC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LIFE PAINTED IN PASTEL HORIZONS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566928" y="4992624"/>
            <a:ext cx="11027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DEA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· Mashriq Elite Developments        Handover · Q3–Q4 2027        From · AED 1,050,000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B04862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Floareá Skies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Mashriq Elite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B04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DEVELOPER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" y="137160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Mashriq Elite</a:t>
            </a:r>
            <a:endParaRPr lang="en-US" sz="3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Developments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66928" y="3017520"/>
            <a:ext cx="2249424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3108960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48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pPr indent="0" marL="0">
              <a:buNone/>
            </a:pPr>
            <a:r>
              <a:rPr lang="en-US" sz="1200" b="1" dirty="0">
                <a:solidFill>
                  <a:srgbClr val="B048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yrs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566928" y="3584448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HISTORY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072384" y="3017520"/>
            <a:ext cx="2249424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72384" y="3108960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48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4th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072384" y="3584448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VENTURE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943600" y="1371600"/>
            <a:ext cx="56509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property arm of </a:t>
            </a:r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Mashriq Group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diversified house with over two decades across real estate, project development and telecommunications, with a network spanning the UAE, United States, Europe, Singapore and Saudi Arabia. Design, architecture and delivery sit under one roof in their own design centre.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943600" y="2834640"/>
            <a:ext cx="56509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Floareá Skies is their fourth venture, positioned as the project that sets their benchmark. The record is short but real: a project launched September 2023 was </a:t>
            </a:r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handed over in August 2025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with further launches in June 2024 and February 2025, and announced chapters in Dubai Islands and Dubailand.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B04862"/>
          </a:solidFill>
          <a:ln/>
        </p:spPr>
      </p:sp>
      <p:sp>
        <p:nvSpPr>
          <p:cNvPr id="17" name="Text 15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Floareá Skies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Mashriq Elite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B04862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Floareá Skies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JVC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B04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" y="135331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Adjacent to JVC's entry and exit, with a Purple Line metro station coming</a:t>
            </a:r>
            <a:endParaRPr lang="en-US" sz="17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12848"/>
          <a:ext cx="502920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288036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Attribute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Jumeirah Village Circle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Studio · 1 BR · 2 BR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 + 4P + 19 floors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Handover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Q1 2028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 plan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/ 70 · 20% on booking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 charge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14 /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66928" y="4700016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Amenities. </a:t>
            </a:r>
            <a:pPr indent="0" marL="0"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Rooftop infinity pool · organic pool · sunken lounge · floating meditation deck · gym · mini golf · ground-floor retail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566928" y="5321808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times. </a:t>
            </a:r>
            <a:pPr indent="0" marL="0"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City &amp; Media City 10 · Miracle Garden 5 · Marina, Burj Al Arab, Mall of the Emirates 15 · Downtown &amp; Dubai Mall 25 · DXB Airport 35</a:t>
            </a:r>
            <a:endParaRPr lang="en-US" sz="105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43600" y="1042416"/>
            <a:ext cx="5650992" cy="2377440"/>
          </a:xfrm>
          <a:prstGeom prst="rect">
            <a:avLst/>
          </a:prstGeom>
        </p:spPr>
      </p:pic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943600" y="3529584"/>
            <a:ext cx="2743200" cy="2194560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851392" y="3529584"/>
            <a:ext cx="274320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B04862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Floareá Skies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What's included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B04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" y="1371600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arrives fitted — that's the whole argument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566928" y="2212848"/>
            <a:ext cx="3493008" cy="2743200"/>
          </a:xfrm>
          <a:prstGeom prst="roundRect">
            <a:avLst>
              <a:gd name="adj" fmla="val 1000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4672" y="2468880"/>
            <a:ext cx="146304" cy="146304"/>
          </a:xfrm>
          <a:prstGeom prst="ellipse">
            <a:avLst/>
          </a:prstGeom>
          <a:solidFill>
            <a:srgbClr val="B04862"/>
          </a:solidFill>
          <a:ln/>
        </p:spPr>
      </p:sp>
      <p:sp>
        <p:nvSpPr>
          <p:cNvPr id="10" name="Text 8"/>
          <p:cNvSpPr/>
          <p:nvPr/>
        </p:nvSpPr>
        <p:spPr>
          <a:xfrm>
            <a:off x="1042416" y="2395728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Included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04672" y="2816352"/>
            <a:ext cx="3017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Decorative wall cladding — tile and wood-textured panels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Dresser console wall with mirror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Glass wardrobes; glass and wooden in the bedroom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Living room wall console with bookshelf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Bathroom fittings, vanity, LED-lit mirror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34256" y="2212848"/>
            <a:ext cx="3493008" cy="2743200"/>
          </a:xfrm>
          <a:prstGeom prst="roundRect">
            <a:avLst>
              <a:gd name="adj" fmla="val 1000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0" y="2468880"/>
            <a:ext cx="146304" cy="146304"/>
          </a:xfrm>
          <a:prstGeom prst="ellipse">
            <a:avLst/>
          </a:prstGeom>
          <a:solidFill>
            <a:srgbClr val="B04862"/>
          </a:solidFill>
          <a:ln/>
        </p:spPr>
      </p:sp>
      <p:sp>
        <p:nvSpPr>
          <p:cNvPr id="14" name="Text 12"/>
          <p:cNvSpPr/>
          <p:nvPr/>
        </p:nvSpPr>
        <p:spPr>
          <a:xfrm>
            <a:off x="4809744" y="2395728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home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0" y="2816352"/>
            <a:ext cx="3017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Alexa-integrated home system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switch panels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 thermostats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Curtains — provision only. Conduit and electrical point supplied; the smart curtains themselves are not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101584" y="2212848"/>
            <a:ext cx="3493008" cy="2743200"/>
          </a:xfrm>
          <a:prstGeom prst="roundRect">
            <a:avLst>
              <a:gd name="adj" fmla="val 1000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39328" y="2468880"/>
            <a:ext cx="146304" cy="146304"/>
          </a:xfrm>
          <a:prstGeom prst="ellipse">
            <a:avLst/>
          </a:prstGeom>
          <a:solidFill>
            <a:srgbClr val="828C87"/>
          </a:solidFill>
          <a:ln/>
        </p:spPr>
      </p:sp>
      <p:sp>
        <p:nvSpPr>
          <p:cNvPr id="18" name="Text 16"/>
          <p:cNvSpPr/>
          <p:nvPr/>
        </p:nvSpPr>
        <p:spPr>
          <a:xfrm>
            <a:off x="8577072" y="2395728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included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339328" y="2816352"/>
            <a:ext cx="3017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Living room mirror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Bedroom decor mirror piece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room furniture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Chandeliers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Wallpaper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B04862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Floareá Skies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Unit FS 611 · 1 BR, 837.54 sqft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TO BE PAID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71600"/>
          <a:ext cx="54864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417320"/>
                <a:gridCol w="141732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Bedroom · Type D · 837.54 sqft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price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1,154,000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€269,001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DLD registration fee 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46,160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€10,760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€932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price /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€321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1,204,160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€280,690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400800" y="1042416"/>
            <a:ext cx="5193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RENTAL RETURN SCENARIO</a:t>
            </a:r>
            <a:endParaRPr lang="en-US" sz="1000" dirty="0"/>
          </a:p>
        </p:txBody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371600"/>
          <a:ext cx="5193792" cy="914400"/>
        </p:xfrm>
        <a:graphic>
          <a:graphicData uri="http://schemas.openxmlformats.org/drawingml/2006/table">
            <a:tbl>
              <a:tblPr/>
              <a:tblGrid>
                <a:gridCol w="2633472"/>
                <a:gridCol w="1280160"/>
                <a:gridCol w="128016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gross rental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€18,648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size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837.54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 charge · AED 14/sqft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11,726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€2,733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return, annual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68,274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€15,915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rental yield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66928" y="461772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66928" y="470916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48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2028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2" name="Text 8"/>
          <p:cNvSpPr/>
          <p:nvPr/>
        </p:nvSpPr>
        <p:spPr>
          <a:xfrm>
            <a:off x="566928" y="518464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HANDOVER · EARLIEST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3387852" y="461772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3387852" y="470916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48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837</a:t>
            </a:r>
            <a:pPr indent="0" marL="0">
              <a:buNone/>
            </a:pPr>
            <a:r>
              <a:rPr lang="en-US" sz="1200" b="1" dirty="0">
                <a:solidFill>
                  <a:srgbClr val="B048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sqft</a:t>
            </a:r>
            <a:endParaRPr lang="en-US" sz="2600" dirty="0"/>
          </a:p>
        </p:txBody>
      </p:sp>
      <p:sp>
        <p:nvSpPr>
          <p:cNvPr id="15" name="Text 11"/>
          <p:cNvSpPr/>
          <p:nvPr/>
        </p:nvSpPr>
        <p:spPr>
          <a:xfrm>
            <a:off x="3387852" y="518464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1 BR</a:t>
            </a:r>
            <a:endParaRPr lang="en-US" sz="850" dirty="0"/>
          </a:p>
        </p:txBody>
      </p:sp>
      <p:sp>
        <p:nvSpPr>
          <p:cNvPr id="16" name="Shape 12"/>
          <p:cNvSpPr/>
          <p:nvPr/>
        </p:nvSpPr>
        <p:spPr>
          <a:xfrm>
            <a:off x="6208776" y="461772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208776" y="470916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48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8" name="Text 14"/>
          <p:cNvSpPr/>
          <p:nvPr/>
        </p:nvSpPr>
        <p:spPr>
          <a:xfrm>
            <a:off x="6208776" y="518464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BEFORE KEYS · LEAST</a:t>
            </a:r>
            <a:endParaRPr lang="en-US" sz="850" dirty="0"/>
          </a:p>
        </p:txBody>
      </p:sp>
      <p:sp>
        <p:nvSpPr>
          <p:cNvPr id="19" name="Shape 15"/>
          <p:cNvSpPr/>
          <p:nvPr/>
        </p:nvSpPr>
        <p:spPr>
          <a:xfrm>
            <a:off x="9029700" y="461772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029700" y="470916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48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Fitted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21" name="Text 17"/>
          <p:cNvSpPr/>
          <p:nvPr/>
        </p:nvSpPr>
        <p:spPr>
          <a:xfrm>
            <a:off x="9029700" y="518464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HANDOVER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2788920" y="6254496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FX 1 EUR = 4.29 AED. Net yield is net rental divided by total cost including fees. Figures subject to change — verify on the price list and SPA. Not financial advice.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B04862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Floareá Skies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Sales offer S 611 · 18 July 2026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B04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SCHEDULE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71600"/>
          <a:ext cx="54864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777240"/>
                <a:gridCol w="1508760"/>
                <a:gridCol w="146304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 payment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booking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230,800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1st instalment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Dec 2026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57,700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2nd instalment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Jun 2027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57,700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completion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Q1 2028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807,800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1,154,000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273552"/>
          <a:ext cx="54864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777240"/>
                <a:gridCol w="1508760"/>
                <a:gridCol w="146304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Government &amp; admin fees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DLD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Booking date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46,160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Booking date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Due at booking, all 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280,960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6400800" y="1042416"/>
            <a:ext cx="5193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B04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FS 611 · 1 BEDROOM TYPE D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371600"/>
            <a:ext cx="5193792" cy="3666744"/>
          </a:xfrm>
          <a:prstGeom prst="rect">
            <a:avLst/>
          </a:prstGeom>
        </p:spPr>
      </p:pic>
      <p:graphicFrame>
        <p:nvGraphicFramePr>
          <p:cNvPr id="37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5193792"/>
          <a:ext cx="519379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09067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detail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area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678.34 suite + 159.20 balcony = 837.54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66928" y="324612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D8D4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GARDEN RESIDENCES · CITY OF ARABIA</a:t>
            </a:r>
            <a:endParaRPr lang="en-US" sz="1050" dirty="0"/>
          </a:p>
        </p:txBody>
      </p:sp>
      <p:sp>
        <p:nvSpPr>
          <p:cNvPr id="5" name="Text 1"/>
          <p:cNvSpPr/>
          <p:nvPr/>
        </p:nvSpPr>
        <p:spPr>
          <a:xfrm>
            <a:off x="512064" y="3557016"/>
            <a:ext cx="11027664" cy="1051560"/>
          </a:xfrm>
          <a:prstGeom prst="rect">
            <a:avLst/>
          </a:prstGeom>
          <a:noFill/>
          <a:ln/>
          <a:effectLst>
            <a:outerShdw sx="100000" sy="100000" kx="0" ky="0" algn="bl" rotWithShape="0" blurRad="177800" dist="25400" dir="5400000">
              <a:srgbClr val="000000">
                <a:alpha val="45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5800" b="1" dirty="0">
                <a:solidFill>
                  <a:srgbClr val="FAF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Arancia</a:t>
            </a:r>
            <a:endParaRPr lang="en-US" sz="5800" dirty="0"/>
          </a:p>
        </p:txBody>
      </p:sp>
      <p:sp>
        <p:nvSpPr>
          <p:cNvPr id="6" name="Text 2"/>
          <p:cNvSpPr/>
          <p:nvPr/>
        </p:nvSpPr>
        <p:spPr>
          <a:xfrm>
            <a:off x="566928" y="4608576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20" kern="0" dirty="0">
                <a:solidFill>
                  <a:srgbClr val="CFC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 COURTYARDS, ONE KILOMETRE OF GREEN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566928" y="4992624"/>
            <a:ext cx="11027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DEA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· BEYOND · OMNIYAT Group        Handover · Q1 2029        From · AED 1,450,000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B08A25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Arancia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BEYOND · OMNIYAT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B08A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DEVELOPER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" y="13716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228600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premium residential brand of </a:t>
            </a:r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OMNIYAT Group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founded in Dubai in 2005 — the group behind the city's ultra-prime waterfront portfolio.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3520440"/>
            <a:ext cx="2249424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3611880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8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AED 4</a:t>
            </a:r>
            <a:pPr indent="0" marL="0">
              <a:buNone/>
            </a:pPr>
            <a:r>
              <a:rPr lang="en-US" sz="1200" b="1" dirty="0">
                <a:solidFill>
                  <a:srgbClr val="B08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bn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566928" y="4087368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MASTERPLAN VALUE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072384" y="3520440"/>
            <a:ext cx="2249424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72384" y="3611880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8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072384" y="4087368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LANDSCAPE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943600" y="1371600"/>
            <a:ext cx="565099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Yards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BEYOND's master-planned destination in City of Arabia: 2.3 million sqft of gross floor area, 1,560 residences, organised along a one-kilometre green spine, with 70% of the total area given to open landscape. Mediterranean-inspired, with its own school, clinic, mosque, farm, gardens and retail — a complete community rather than an apartment block with a pool.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943600" y="3200400"/>
            <a:ext cx="56509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Arancia is the first cluster to launch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inside it: 272 residences across three low-rise buildings, G+6 and G+7, arranged around a central green valley.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B08A25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Arancia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City of Arabia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B08A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" y="135331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low-rise buildings around a central green valley, inside a AED 4bn masterplan</a:t>
            </a:r>
            <a:endParaRPr lang="en-US" sz="17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12848"/>
          <a:ext cx="502920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288036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Attribute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City of Arabia, Dubailand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· 2 · 3 Bedrooms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Buildings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low-rise, G+6 / G+7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272 in phase · 1,560 masterplan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Handover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Q1 2029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Ceiling height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 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 plan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/ 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 charge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confirm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943600" y="1042416"/>
            <a:ext cx="5650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LADDER</a:t>
            </a:r>
            <a:endParaRPr lang="en-US" sz="1000" dirty="0"/>
          </a:p>
        </p:txBody>
      </p:sp>
      <p:graphicFrame>
        <p:nvGraphicFramePr>
          <p:cNvPr id="3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1371600"/>
          <a:ext cx="565099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084832"/>
                <a:gridCol w="182880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750–762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1,450,000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Beds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1,100–1,179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2,100,000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Beds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1,700–1,751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3,370,000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5943600" y="2880360"/>
            <a:ext cx="5650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In-unit. </a:t>
            </a:r>
            <a:pPr indent="0" marL="0"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terraces to every residence · 3.1 m ceilings · floor-to-ceiling thermally insulated glazing · courtyard views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5943600" y="3520440"/>
            <a:ext cx="5650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Amenities. </a:t>
            </a:r>
            <a:pPr indent="0" marL="0"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Lagoon pool · lounge pool with lap pool · gyms · spa · cinema room · kids' club · yoga areas · sports court · amphitheatre · orchard gardens · farm</a:t>
            </a:r>
            <a:endParaRPr lang="en-US" sz="105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43600" y="4315968"/>
            <a:ext cx="2743200" cy="1298448"/>
          </a:xfrm>
          <a:prstGeom prst="rect">
            <a:avLst/>
          </a:prstGeom>
        </p:spPr>
      </p:pic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851392" y="4315968"/>
            <a:ext cx="2743200" cy="129844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B08A25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Arancia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1 BR, 750 sqft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TO BE PAID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71600"/>
          <a:ext cx="54864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417320"/>
                <a:gridCol w="141732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Bedroom · 750 sqft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price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€337,995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DLD registration fee 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€13,520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€1,224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price /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€451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1,513,250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€352,739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400800" y="1042416"/>
            <a:ext cx="5193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RENTAL RETURN SCENARIO</a:t>
            </a:r>
            <a:endParaRPr lang="en-US" sz="1000" dirty="0"/>
          </a:p>
        </p:txBody>
      </p:sp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371600"/>
          <a:ext cx="5193792" cy="914400"/>
        </p:xfrm>
        <a:graphic>
          <a:graphicData uri="http://schemas.openxmlformats.org/drawingml/2006/table">
            <a:tbl>
              <a:tblPr/>
              <a:tblGrid>
                <a:gridCol w="2633472"/>
                <a:gridCol w="1280160"/>
                <a:gridCol w="128016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rent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€20,979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size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750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 charge · AED 15/sqft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11,250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€2,622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return, annual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78,750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€18,357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rental yield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66928" y="461772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66928" y="470916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8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90,000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2" name="Text 8"/>
          <p:cNvSpPr/>
          <p:nvPr/>
        </p:nvSpPr>
        <p:spPr>
          <a:xfrm>
            <a:off x="566928" y="518464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AED RENT · HIGHEST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3387852" y="461772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3387852" y="470916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8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1,933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5" name="Text 11"/>
          <p:cNvSpPr/>
          <p:nvPr/>
        </p:nvSpPr>
        <p:spPr>
          <a:xfrm>
            <a:off x="3387852" y="518464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AED / SQFT · PREMIUM</a:t>
            </a:r>
            <a:endParaRPr lang="en-US" sz="850" dirty="0"/>
          </a:p>
        </p:txBody>
      </p:sp>
      <p:sp>
        <p:nvSpPr>
          <p:cNvPr id="16" name="Shape 12"/>
          <p:cNvSpPr/>
          <p:nvPr/>
        </p:nvSpPr>
        <p:spPr>
          <a:xfrm>
            <a:off x="6208776" y="461772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208776" y="470916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8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272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8" name="Text 14"/>
          <p:cNvSpPr/>
          <p:nvPr/>
        </p:nvSpPr>
        <p:spPr>
          <a:xfrm>
            <a:off x="6208776" y="518464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IN PHASE</a:t>
            </a:r>
            <a:endParaRPr lang="en-US" sz="850" dirty="0"/>
          </a:p>
        </p:txBody>
      </p:sp>
      <p:sp>
        <p:nvSpPr>
          <p:cNvPr id="19" name="Shape 15"/>
          <p:cNvSpPr/>
          <p:nvPr/>
        </p:nvSpPr>
        <p:spPr>
          <a:xfrm>
            <a:off x="9029700" y="461772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029700" y="470916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8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2029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21" name="Text 17"/>
          <p:cNvSpPr/>
          <p:nvPr/>
        </p:nvSpPr>
        <p:spPr>
          <a:xfrm>
            <a:off x="9029700" y="518464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HANDOVER · LONGEST WAIT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2788920" y="6254496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FX 1 EUR = 4.29 AED. Net yield is net rental divided by total cost including fees. Figures subject to change — verify on the price list and SPA. Not financial advice.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66928" y="324612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D8D4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END APARTMENTS · DUBAILAND RESIDENCE COMPLEX</a:t>
            </a:r>
            <a:endParaRPr lang="en-US" sz="1050" dirty="0"/>
          </a:p>
        </p:txBody>
      </p:sp>
      <p:sp>
        <p:nvSpPr>
          <p:cNvPr id="5" name="Text 1"/>
          <p:cNvSpPr/>
          <p:nvPr/>
        </p:nvSpPr>
        <p:spPr>
          <a:xfrm>
            <a:off x="512064" y="3557016"/>
            <a:ext cx="11027664" cy="1051560"/>
          </a:xfrm>
          <a:prstGeom prst="rect">
            <a:avLst/>
          </a:prstGeom>
          <a:noFill/>
          <a:ln/>
          <a:effectLst>
            <a:outerShdw sx="100000" sy="100000" kx="0" ky="0" algn="bl" rotWithShape="0" blurRad="177800" dist="25400" dir="5400000">
              <a:srgbClr val="000000">
                <a:alpha val="45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5800" b="1" dirty="0">
                <a:solidFill>
                  <a:srgbClr val="FAF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Celesto Tower 4</a:t>
            </a:r>
            <a:endParaRPr lang="en-US" sz="5800" dirty="0"/>
          </a:p>
        </p:txBody>
      </p:sp>
      <p:sp>
        <p:nvSpPr>
          <p:cNvPr id="6" name="Text 2"/>
          <p:cNvSpPr/>
          <p:nvPr/>
        </p:nvSpPr>
        <p:spPr>
          <a:xfrm>
            <a:off x="566928" y="4663440"/>
            <a:ext cx="11027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DEA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· Al Tarrad Development        Handover · Q4 2028        From · AED 540,000</a:t>
            </a:r>
            <a:endParaRPr lang="en-US" sz="1300" dirty="0"/>
          </a:p>
        </p:txBody>
      </p:sp>
      <p:sp>
        <p:nvSpPr>
          <p:cNvPr id="7" name="Text 3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8" name="Text 4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3A8FBF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Celesto Tower 4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Al Tarrad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3A8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DEVELOPER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" y="137160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Tarrad</a:t>
            </a:r>
            <a:endParaRPr lang="en-US" sz="3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Development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5943600" y="1371600"/>
            <a:ext cx="56509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Tarrad runs a focused, repeatable formula: mid-rise residential towers in Dubailand aimed at the investor and entry end-user market — fully furnished, smart-home fitted, priced below the mid-market. </a:t>
            </a:r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Celesto 4 is the fourth in a numbered series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which tells you the model works well enough to keep running.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943600" y="2926080"/>
            <a:ext cx="56509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submitted design package is itself a confidence signal: a full climate and solar study, site accessibility and land-use analysis, verified area calculations against permitted GFA, a reconciled unit matrix and complete floor plans. Residential GFA comes in at 22,309.05 sqm against an allowed 22,311.00.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3A8FBF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Celesto Tower 4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DLRC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3A8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" y="135331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minute from a Blue Line metro station, eighteen from Downtown, DIFC and the airport</a:t>
            </a:r>
            <a:endParaRPr lang="en-US" sz="17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12848"/>
          <a:ext cx="502920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288036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Attribute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DLRC, Wadi Al Safa 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Studio · 1 BHK · 2 BHK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3B + G + M + 3P + 21 floors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Handover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 2028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Parking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space per apartment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Furnishing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Fully furnished, smart home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 charge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12 / sqft (confirm)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66928" y="4974336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Amenities. </a:t>
            </a:r>
            <a:pPr indent="0" marL="0"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Indoor and outdoor gym · indoor and outdoor kids play areas · adults and kids pools · sauna and jacuzzi · BBQ area · yoga area · outdoor cinema · zen garden · ground-floor retail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5943600" y="1042416"/>
            <a:ext cx="5650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MIX</a:t>
            </a:r>
            <a:endParaRPr lang="en-US" sz="1000" dirty="0"/>
          </a:p>
        </p:txBody>
      </p:sp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1371600"/>
          <a:ext cx="5650992" cy="914400"/>
        </p:xfrm>
        <a:graphic>
          <a:graphicData uri="http://schemas.openxmlformats.org/drawingml/2006/table">
            <a:tbl>
              <a:tblPr/>
              <a:tblGrid>
                <a:gridCol w="2084832"/>
                <a:gridCol w="2194560"/>
                <a:gridCol w="137160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 incl. balcony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Studio · A–D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326–363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BHK · A–C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550–598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BHK · A–D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852–1,070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</a:tbl>
          </a:graphicData>
        </a:graphic>
      </p:graphicFrame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43600" y="3108960"/>
            <a:ext cx="5650992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3A8FBF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Celesto Tower 4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Studio &amp; 1 BR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· 326 SQFT · CONFIRMED ENTRY PRICE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71600"/>
          <a:ext cx="54864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417320"/>
                <a:gridCol w="141732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Studio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price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€125,874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DLD registration fee 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21,600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€5,035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€1,224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price /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1,657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€386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566,850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€132,133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 42,000 − service charge 3,910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38,090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€8,879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rental yield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400800" y="1042416"/>
            <a:ext cx="5193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BEDROOM · 590 SQFT · PRICE ESTIMATED</a:t>
            </a:r>
            <a:endParaRPr lang="en-US" sz="1000" dirty="0"/>
          </a:p>
        </p:txBody>
      </p:sp>
      <p:graphicFrame>
        <p:nvGraphicFramePr>
          <p:cNvPr id="4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371600"/>
          <a:ext cx="5193792" cy="914400"/>
        </p:xfrm>
        <a:graphic>
          <a:graphicData uri="http://schemas.openxmlformats.org/drawingml/2006/table">
            <a:tbl>
              <a:tblPr/>
              <a:tblGrid>
                <a:gridCol w="2633472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Bedroom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price  (estimate)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≈860,000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€200,466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DLD registration fee 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34,400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€8,019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€1,224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price /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€340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899,650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€209,708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 68,000 − service charge 7,080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60,920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€14,200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rental yield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66928" y="475488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66928" y="484632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A8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2" name="Text 8"/>
          <p:cNvSpPr/>
          <p:nvPr/>
        </p:nvSpPr>
        <p:spPr>
          <a:xfrm>
            <a:off x="566928" y="532180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HANDOVER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3387852" y="475488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3387852" y="484632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A8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414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5" name="Text 11"/>
          <p:cNvSpPr/>
          <p:nvPr/>
        </p:nvSpPr>
        <p:spPr>
          <a:xfrm>
            <a:off x="3387852" y="532180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· MOST</a:t>
            </a:r>
            <a:endParaRPr lang="en-US" sz="850" dirty="0"/>
          </a:p>
        </p:txBody>
      </p:sp>
      <p:sp>
        <p:nvSpPr>
          <p:cNvPr id="16" name="Shape 12"/>
          <p:cNvSpPr/>
          <p:nvPr/>
        </p:nvSpPr>
        <p:spPr>
          <a:xfrm>
            <a:off x="6208776" y="475488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208776" y="484632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A8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1%</a:t>
            </a:r>
            <a:pPr indent="0" marL="0">
              <a:buNone/>
            </a:pPr>
            <a:r>
              <a:rPr lang="en-US" sz="1200" b="1" dirty="0">
                <a:solidFill>
                  <a:srgbClr val="3A8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/month</a:t>
            </a:r>
            <a:endParaRPr lang="en-US" sz="2600" dirty="0"/>
          </a:p>
        </p:txBody>
      </p:sp>
      <p:sp>
        <p:nvSpPr>
          <p:cNvPr id="18" name="Text 14"/>
          <p:cNvSpPr/>
          <p:nvPr/>
        </p:nvSpPr>
        <p:spPr>
          <a:xfrm>
            <a:off x="6208776" y="532180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30 MONTHS</a:t>
            </a:r>
            <a:endParaRPr lang="en-US" sz="850" dirty="0"/>
          </a:p>
        </p:txBody>
      </p:sp>
      <p:sp>
        <p:nvSpPr>
          <p:cNvPr id="19" name="Shape 15"/>
          <p:cNvSpPr/>
          <p:nvPr/>
        </p:nvSpPr>
        <p:spPr>
          <a:xfrm>
            <a:off x="9029700" y="475488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029700" y="484632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A8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indent="0" marL="0">
              <a:buNone/>
            </a:pPr>
            <a:r>
              <a:rPr lang="en-US" sz="1200" b="1" dirty="0">
                <a:solidFill>
                  <a:srgbClr val="3A8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min</a:t>
            </a:r>
            <a:endParaRPr lang="en-US" sz="2600" dirty="0"/>
          </a:p>
        </p:txBody>
      </p:sp>
      <p:sp>
        <p:nvSpPr>
          <p:cNvPr id="21" name="Text 17"/>
          <p:cNvSpPr/>
          <p:nvPr/>
        </p:nvSpPr>
        <p:spPr>
          <a:xfrm>
            <a:off x="9029700" y="532180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BLUE LINE METRO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2788920" y="6254496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FX 1 EUR = 4.29 AED. Service charge AED 12/sqft, published for Celesto Tower — confirm for Celesto 4. Net return = rent − service charge; yield = net return ÷ total cost including DLD and admin. Not financial advice.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85953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EACH ONE COSTS YOU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1170432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project here is perfect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883664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option has a real weakness. These are the ones worth knowing before signing, not after.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2377440"/>
            <a:ext cx="3493008" cy="3383280"/>
          </a:xfrm>
          <a:prstGeom prst="roundRect">
            <a:avLst>
              <a:gd name="adj" fmla="val 811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2633472"/>
            <a:ext cx="146304" cy="146304"/>
          </a:xfrm>
          <a:prstGeom prst="ellipse">
            <a:avLst/>
          </a:prstGeom>
          <a:solidFill>
            <a:srgbClr val="B04862"/>
          </a:solidFill>
          <a:ln/>
        </p:spPr>
      </p:sp>
      <p:sp>
        <p:nvSpPr>
          <p:cNvPr id="7" name="Text 5"/>
          <p:cNvSpPr/>
          <p:nvPr/>
        </p:nvSpPr>
        <p:spPr>
          <a:xfrm>
            <a:off x="1042416" y="2560320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Floareá Skies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04672" y="290779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CATCH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04672" y="3182112"/>
            <a:ext cx="3017520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Boutique developer with a thin delivery record — the real risk on this deal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JVC is Dubai's most crowded pipeline: 16,800–22,000 units to 2028, so rents may soften 5–10% at handover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 falls due on completion — the largest single payment of the three, usually the point a mortgage is drawn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AED 1.2M all-in for the mid yield of the three at 5.7% — a size-and-timing buy more than an income buy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charge of AED 14/sqft is above Celesto's 12 — the rooftop pool and meditation deck cost something to run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34256" y="2377440"/>
            <a:ext cx="3493008" cy="3383280"/>
          </a:xfrm>
          <a:prstGeom prst="roundRect">
            <a:avLst>
              <a:gd name="adj" fmla="val 811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0" y="2633472"/>
            <a:ext cx="146304" cy="146304"/>
          </a:xfrm>
          <a:prstGeom prst="ellipse">
            <a:avLst/>
          </a:prstGeom>
          <a:solidFill>
            <a:srgbClr val="B08A25"/>
          </a:solidFill>
          <a:ln/>
        </p:spPr>
      </p:sp>
      <p:sp>
        <p:nvSpPr>
          <p:cNvPr id="12" name="Text 10"/>
          <p:cNvSpPr/>
          <p:nvPr/>
        </p:nvSpPr>
        <p:spPr>
          <a:xfrm>
            <a:off x="4809744" y="2560320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Arancia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72000" y="290779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CATCH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572000" y="3182112"/>
            <a:ext cx="3017520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confirmed AED 1.45M price it is the dearest per foot (1,933) and the lowest yield of the three at 5.2%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2029 handover — the longest wait. Four years before a dirham of rent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1,560 units across the masterplan: resale competes with the developer's own later phases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Inland City of Arabia — resale depends on the community delivering as drawn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furnished, unlike the other two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one with no published service charge, and the heaviest amenity and landscape load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101584" y="2377440"/>
            <a:ext cx="3493008" cy="3383280"/>
          </a:xfrm>
          <a:prstGeom prst="roundRect">
            <a:avLst>
              <a:gd name="adj" fmla="val 811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39328" y="2633472"/>
            <a:ext cx="146304" cy="146304"/>
          </a:xfrm>
          <a:prstGeom prst="ellipse">
            <a:avLst/>
          </a:prstGeom>
          <a:solidFill>
            <a:srgbClr val="3A8FBF"/>
          </a:solidFill>
          <a:ln/>
        </p:spPr>
      </p:sp>
      <p:sp>
        <p:nvSpPr>
          <p:cNvPr id="17" name="Text 15"/>
          <p:cNvSpPr/>
          <p:nvPr/>
        </p:nvSpPr>
        <p:spPr>
          <a:xfrm>
            <a:off x="8577072" y="2560320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Celesto Tower 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339328" y="290779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CATCH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339328" y="3182112"/>
            <a:ext cx="3017520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414 units in one building — at handover the 1BR competes with 179 identical neighbours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39% of the building is studios — investor-heavy, higher churn, weaker resale base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1BR is the smallest of the three at 590 sqft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parking space per apartment, no resident surplus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established developer; record on Celesto 1–3 unverified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85953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1170432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different propositions, not a ranking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847088"/>
            <a:ext cx="9144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numbers land close enough that they don't decide this. What decides it is which of these three sentences sounds most like you.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2377440"/>
            <a:ext cx="11027664" cy="841248"/>
          </a:xfrm>
          <a:prstGeom prst="roundRect">
            <a:avLst>
              <a:gd name="adj" fmla="val 3261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2724912"/>
            <a:ext cx="146304" cy="146304"/>
          </a:xfrm>
          <a:prstGeom prst="ellipse">
            <a:avLst/>
          </a:prstGeom>
          <a:solidFill>
            <a:srgbClr val="B04862"/>
          </a:solidFill>
          <a:ln/>
        </p:spPr>
      </p:sp>
      <p:sp>
        <p:nvSpPr>
          <p:cNvPr id="7" name="Text 5"/>
          <p:cNvSpPr/>
          <p:nvPr/>
        </p:nvSpPr>
        <p:spPr>
          <a:xfrm>
            <a:off x="1060704" y="2432304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want the biggest apartment, the earliest keys, and the least tied up until then.”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739128" y="2432304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B048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Floareá Skies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208008" y="2450592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2028, 837 sqft, only 30% before handover — and the developer will talk about the price.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3346704"/>
            <a:ext cx="11027664" cy="841248"/>
          </a:xfrm>
          <a:prstGeom prst="roundRect">
            <a:avLst>
              <a:gd name="adj" fmla="val 3261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04672" y="3694176"/>
            <a:ext cx="146304" cy="146304"/>
          </a:xfrm>
          <a:prstGeom prst="ellipse">
            <a:avLst/>
          </a:prstGeom>
          <a:solidFill>
            <a:srgbClr val="B08A25"/>
          </a:solidFill>
          <a:ln/>
        </p:spPr>
      </p:sp>
      <p:sp>
        <p:nvSpPr>
          <p:cNvPr id="12" name="Text 10"/>
          <p:cNvSpPr/>
          <p:nvPr/>
        </p:nvSpPr>
        <p:spPr>
          <a:xfrm>
            <a:off x="1060704" y="3401568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want the best address and the strongest rent, and I can wait until 2029.”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739128" y="340156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B08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Arancia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208008" y="3419856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AED 90,000 a year — the highest rent of the three — OMNIYAT's brand and the only true community. Priced for it at 1,933/sqft.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66928" y="4315968"/>
            <a:ext cx="11027664" cy="841248"/>
          </a:xfrm>
          <a:prstGeom prst="roundRect">
            <a:avLst>
              <a:gd name="adj" fmla="val 3261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4663440"/>
            <a:ext cx="146304" cy="146304"/>
          </a:xfrm>
          <a:prstGeom prst="ellipse">
            <a:avLst/>
          </a:prstGeom>
          <a:solidFill>
            <a:srgbClr val="3A8FBF"/>
          </a:solidFill>
          <a:ln/>
        </p:spPr>
      </p:sp>
      <p:sp>
        <p:nvSpPr>
          <p:cNvPr id="17" name="Text 15"/>
          <p:cNvSpPr/>
          <p:nvPr/>
        </p:nvSpPr>
        <p:spPr>
          <a:xfrm>
            <a:off x="1060704" y="4370832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want the smallest cheque, paid monthly, and the best yield.”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739128" y="4370832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3A8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Celesto Tower 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208008" y="4389120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6.8% on the least capital, 1% a month for 30 months, metro at one minute.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66928" y="5358384"/>
            <a:ext cx="11027664" cy="859536"/>
          </a:xfrm>
          <a:prstGeom prst="roundRect">
            <a:avLst>
              <a:gd name="adj" fmla="val 3191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8096" y="5468112"/>
            <a:ext cx="10625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read, on the confirmed prices: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yield-first, it is Celesto 4 at 6.8% on the smallest cheque. Floareá sits in the middle at 5.7% with the earliest keys and the biggest apartment. Arancia at AED 1.45M is the premium play — the strongest rent and name at 5.2%, bought for the address, not the yield. </a:t>
            </a:r>
            <a:pPr indent="0" marL="0">
              <a:lnSpc>
                <a:spcPct val="118000"/>
              </a:lnSpc>
              <a:buNone/>
            </a:pPr>
            <a:r>
              <a:rPr lang="en-US" sz="11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open: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Celesto's price is an estimate; Arancia's service charge is unpublished.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0584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1335024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we go from here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2286000"/>
            <a:ext cx="6675120" cy="585216"/>
          </a:xfrm>
          <a:prstGeom prst="roundRect">
            <a:avLst>
              <a:gd name="adj" fmla="val 4688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2505456"/>
            <a:ext cx="146304" cy="146304"/>
          </a:xfrm>
          <a:prstGeom prst="ellipse">
            <a:avLst/>
          </a:prstGeom>
          <a:solidFill>
            <a:srgbClr val="7BE08A"/>
          </a:solidFill>
          <a:ln/>
        </p:spPr>
      </p:sp>
      <p:sp>
        <p:nvSpPr>
          <p:cNvPr id="6" name="Text 4"/>
          <p:cNvSpPr/>
          <p:nvPr/>
        </p:nvSpPr>
        <p:spPr>
          <a:xfrm>
            <a:off x="1042416" y="2286000"/>
            <a:ext cx="6035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Shortlist one, and I'll pull live availability and the current price list the same day.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2999232"/>
            <a:ext cx="6675120" cy="585216"/>
          </a:xfrm>
          <a:prstGeom prst="roundRect">
            <a:avLst>
              <a:gd name="adj" fmla="val 4688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3218688"/>
            <a:ext cx="146304" cy="146304"/>
          </a:xfrm>
          <a:prstGeom prst="ellipse">
            <a:avLst/>
          </a:prstGeom>
          <a:solidFill>
            <a:srgbClr val="7BE08A"/>
          </a:solidFill>
          <a:ln/>
        </p:spPr>
      </p:sp>
      <p:sp>
        <p:nvSpPr>
          <p:cNvPr id="9" name="Text 7"/>
          <p:cNvSpPr/>
          <p:nvPr/>
        </p:nvSpPr>
        <p:spPr>
          <a:xfrm>
            <a:off x="1042416" y="2999232"/>
            <a:ext cx="6035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I'll get the service charge in writing on your pick — it moves net yield up to a full point.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3712464"/>
            <a:ext cx="6675120" cy="585216"/>
          </a:xfrm>
          <a:prstGeom prst="roundRect">
            <a:avLst>
              <a:gd name="adj" fmla="val 4688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86384" y="3931920"/>
            <a:ext cx="146304" cy="146304"/>
          </a:xfrm>
          <a:prstGeom prst="ellipse">
            <a:avLst/>
          </a:prstGeom>
          <a:solidFill>
            <a:srgbClr val="7BE08A"/>
          </a:solidFill>
          <a:ln/>
        </p:spPr>
      </p:sp>
      <p:sp>
        <p:nvSpPr>
          <p:cNvPr id="12" name="Text 10"/>
          <p:cNvSpPr/>
          <p:nvPr/>
        </p:nvSpPr>
        <p:spPr>
          <a:xfrm>
            <a:off x="1042416" y="3712464"/>
            <a:ext cx="6035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Escrow account and RERA registration verified before any deposit moves.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4425696"/>
            <a:ext cx="6675120" cy="585216"/>
          </a:xfrm>
          <a:prstGeom prst="roundRect">
            <a:avLst>
              <a:gd name="adj" fmla="val 4688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4645152"/>
            <a:ext cx="146304" cy="146304"/>
          </a:xfrm>
          <a:prstGeom prst="ellipse">
            <a:avLst/>
          </a:prstGeom>
          <a:solidFill>
            <a:srgbClr val="7BE08A"/>
          </a:solidFill>
          <a:ln/>
        </p:spPr>
      </p:sp>
      <p:sp>
        <p:nvSpPr>
          <p:cNvPr id="15" name="Text 13"/>
          <p:cNvSpPr/>
          <p:nvPr/>
        </p:nvSpPr>
        <p:spPr>
          <a:xfrm>
            <a:off x="1042416" y="4425696"/>
            <a:ext cx="6035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visit or sales-centre walkthrough arranged for the two you like most.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680960" y="2286000"/>
            <a:ext cx="3913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BROKER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0960" y="2578608"/>
            <a:ext cx="39136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Marwan Wareth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7680960" y="3200400"/>
            <a:ext cx="39136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Bridges &amp; Allies Real Estate · Dubai off-plan residential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680960" y="3785616"/>
            <a:ext cx="3913632" cy="402336"/>
          </a:xfrm>
          <a:prstGeom prst="roundRect">
            <a:avLst>
              <a:gd name="adj" fmla="val 6818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882128" y="3785616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BE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📞   </a:t>
            </a:r>
            <a:pPr indent="0" marL="0">
              <a:buNone/>
            </a:pPr>
            <a:r>
              <a:rPr lang="en-US" sz="11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+971 56 164 5645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680960" y="4261104"/>
            <a:ext cx="3913632" cy="402336"/>
          </a:xfrm>
          <a:prstGeom prst="roundRect">
            <a:avLst>
              <a:gd name="adj" fmla="val 6818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882128" y="4261104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BE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✉   </a:t>
            </a:r>
            <a:pPr indent="0" marL="0">
              <a:buNone/>
            </a:pPr>
            <a:r>
              <a:rPr lang="en-US" sz="11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marwan.w@bridgesandalliesre.com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680960" y="4736592"/>
            <a:ext cx="3913632" cy="402336"/>
          </a:xfrm>
          <a:prstGeom prst="roundRect">
            <a:avLst>
              <a:gd name="adj" fmla="val 6818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882128" y="4736592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BE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  </a:t>
            </a:r>
            <a:pPr indent="0" marL="0">
              <a:buNone/>
            </a:pPr>
            <a:r>
              <a:rPr lang="en-US" sz="11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502 Al Fattan Office Tower · JBR · Dubai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788920" y="6254496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figures developer- and broker-published and subject to change. For information only — not financial advice. Verify on the current price list and SPA.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Three Projects, One Decision — Dubai Off-Plan Comparison</dc:title>
  <dc:subject>PptxGenJS Presentation</dc:subject>
  <dc:creator>Marwan Wareth</dc:creator>
  <cp:lastModifiedBy>Marwan Wareth</cp:lastModifiedBy>
  <cp:revision>1</cp:revision>
  <dcterms:created xsi:type="dcterms:W3CDTF">2026-07-28T13:21:16Z</dcterms:created>
  <dcterms:modified xsi:type="dcterms:W3CDTF">2026-07-28T13:21:16Z</dcterms:modified>
</cp:coreProperties>
</file>