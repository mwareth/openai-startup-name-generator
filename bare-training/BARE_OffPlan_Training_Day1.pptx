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AED bn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wk-4</c:v>
                  </c:pt>
                  <c:pt idx="1">
                    <c:v>wk-3</c:v>
                  </c:pt>
                  <c:pt idx="2">
                    <c:v>wk-2</c:v>
                  </c:pt>
                  <c:pt idx="3">
                    <c:v>wk-1</c:v>
                  </c:pt>
                  <c:pt idx="4">
                    <c:v>last wk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14.7</c:v>
                </c:pt>
                <c:pt idx="2">
                  <c:v>15.2</c:v>
                </c:pt>
                <c:pt idx="3">
                  <c:v>21</c:v>
                </c:pt>
                <c:pt idx="4">
                  <c:v>11.3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room warmly. This is a presenter-led, 4-day live programme. Goal: take a complete beginner to confidently running an off-plan deal end to end. Set the tone — professional, high-energy, 'we build a great team and rise together'. Swap BARE logo onto this slide when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career-changers and fresh grads: no prior experience needed. Emphasise the mentorship model and the team-first culture. The market timing point: Dubai's scale means learning now pays off when the cycle turns. Keep it motivating, not salesy.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through the arc. Day 1 = rules of the game; Day 2 = the mechanics and paperwork; Day 3 = the numbers; Day 4 = how to actually sell. Quizzes are low-stakes confidence checks, not exams. Encourage questions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sets the foundation every later day depends on. By the end they'll know who regulates what, the legal path to working as an agent, and the core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day. Keep it brisk — this is a signpost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them in scale. Weekly transaction values swing roughly AED 10B–21B; Q1 2026 hit AED 252B (+31% YoY); 2025 was a record AED 682.5B in sales. These figures move — re-check the weekly DLD report before quoting. The point: this is a deep, liquid market with constant deal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off-plan as the engine of new-launch sales. The four advantages — entry, payment plans, appreciation, incentives — are also your selling points later in Day 4. Balance: note risks too (construction, market timing) which Day 2 escrow content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confusion: DLD vs RERA. DLD is the parent authority; RERA is its regulatory arm. DREI trains. Trakheesi is the advertising-permit system — no permit, no advert (a hard compliance rule). Dubai REST is the app brokers actually use day to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Buyers care most about freehold — full ownership of unit and land, available to all nationalities in designated zones, and the basis for residency visas. Leasehold = long-term use right, land reverts. Almost all new off-plan you sell is freehold.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takeaway: you cannot freelance — you must be sponsored by a licensed brokerage (that's us). The next four slides detail steps 2–4. Pass mark is commonly cited 75% but has shifted; confirm at registration.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new joiners: the brokerage handles sponsorship. This removes the biggest barrier people worry about. Visa + sponsorship first, certification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is DLD's training arm. The course is ~32 hours over ~4 days, English or Arabic, attendance mandatory. Fee ~AED 2,400 (confirm current pricing). It's the prerequisite to the RERA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~100 MCQs, pass mark commonly 75% (some sources 70%), fee ~AED 785 all-in. These move — verify at registration. Encourage them: this training maps directly onto the exam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you pass, you're issued a Broker Card and a BRN — quote the BRN on forms and adverts. Trakheesi permit on every single advertisement is non-negotiable. Renew annually. First-year all-in cost is often cited ~AED 10,000–13,000 depending on setup (confirm).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vocabulary checkpoint so nobody is lost later. Don't over-explain — these each get a full slide in Day 2. Just make sure the words land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— don't read every line. Point out the ones people mix up: MOU = Form F; Oqood = the off-plan register; Ejari is for rentals. Full definitions live in the speaker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back in Day 3 (the money) and the AML slide. LTV, DBR, EIBOR drive mortgages; KYC/AML/CFT/FIU/DNFBP are the compliance cluster — preview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serious but simple. Brokers are DNFBPs — legally obliged to do KYC, verify source of funds, monitor cash/high-value deals, register on goAML, and report suspicious transactions to the FIU. Penalties are severe. New agents: never handle a deal that feels off without escalating.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five anchors before the quiz. Ask the room to call them back to you rather than reading them out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3–4 minutes. Let people discuss in pairs — it cements learning. Then reveal the answer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answer and expand with the rationale. If many missed one, re-teach that point briefly before moving to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A2F54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291840" cy="329184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152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Off-Plan Mastery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4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4-Day Agent Training Programme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running an off-plan deal — start to finish.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______________     ·     BARE — Off-Plan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— and why this programme exists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3566160"/>
          </a:xfrm>
          <a:prstGeom prst="roundRect">
            <a:avLst>
              <a:gd name="adj" fmla="val 234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289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9666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train, we don't gatekeep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real estate background. We take you from zero to closing — step by step.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46778" y="1737360"/>
            <a:ext cx="3515258" cy="3566160"/>
          </a:xfrm>
          <a:prstGeom prst="roundRect">
            <a:avLst>
              <a:gd name="adj" fmla="val 234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6818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675" y="232897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1098" y="3154680"/>
            <a:ext cx="29666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rise together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21098" y="388620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shared standards. Your growth is the team's growth. We win as a unit.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4917" y="1737360"/>
            <a:ext cx="3515258" cy="3566160"/>
          </a:xfrm>
          <a:prstGeom prst="roundRect">
            <a:avLst>
              <a:gd name="adj" fmla="val 234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4957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14" y="232897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9237" y="3154680"/>
            <a:ext cx="29666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is rare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19237" y="388620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is one of the world's most active property markets. Learn now, position before the next surge.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“Make a great team that becomes rich — and rises together.”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4 days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builds on the last — and ends with a short quiz.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70734" cy="3291840"/>
          </a:xfrm>
          <a:prstGeom prst="roundRect">
            <a:avLst>
              <a:gd name="adj" fmla="val 308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2527" y="214884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72527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2670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310128"/>
            <a:ext cx="2341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the rules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30497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market, the authorities (DLD · RERA · DREI), and the path to becoming a legal broker.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56534" y="1828800"/>
            <a:ext cx="2670734" cy="3291840"/>
          </a:xfrm>
          <a:prstGeom prst="roundRect">
            <a:avLst>
              <a:gd name="adj" fmla="val 308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80421" y="214884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80421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56534" y="3063240"/>
            <a:ext cx="2670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1126" y="3310128"/>
            <a:ext cx="2341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Off-plan &amp; contracts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39414" y="3977640"/>
            <a:ext cx="230497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off-plan lifecycle, escrow, Oqood, and the RERA forms — A, B, F, 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4428" y="1828800"/>
            <a:ext cx="2670734" cy="3291840"/>
          </a:xfrm>
          <a:prstGeom prst="roundRect">
            <a:avLst>
              <a:gd name="adj" fmla="val 308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8315" y="214884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88315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64428" y="3063240"/>
            <a:ext cx="2670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9020" y="3310128"/>
            <a:ext cx="2341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7308" y="3977640"/>
            <a:ext cx="230497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plans, mortgages &amp; LTV, the fee stack, ROI, and the Golden Visa.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72321" y="1828800"/>
            <a:ext cx="2670734" cy="3291840"/>
          </a:xfrm>
          <a:prstGeom prst="roundRect">
            <a:avLst>
              <a:gd name="adj" fmla="val 308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96208" y="214884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96208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72321" y="3063240"/>
            <a:ext cx="2670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36913" y="3310128"/>
            <a:ext cx="23415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&amp; closing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55201" y="3977640"/>
            <a:ext cx="230497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handling, discovery, objections, closing techniques and follow-up discipline.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ends with a 5-question quiz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questions, then an answer key. Attendance and the quizzes track your readiness.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1A2F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the rules of the game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· the authorities · becoming a legal broker · AML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868680"/>
          </a:xfrm>
          <a:prstGeom prst="roundRect">
            <a:avLst>
              <a:gd name="adj" fmla="val 9474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08117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426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market at a glance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78728" y="1783080"/>
            <a:ext cx="5364328" cy="868680"/>
          </a:xfrm>
          <a:prstGeom prst="roundRect">
            <a:avLst>
              <a:gd name="adj" fmla="val 9474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79896" y="1938528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208117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3128" y="1783080"/>
            <a:ext cx="426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off-plan?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2862072"/>
            <a:ext cx="5364328" cy="868680"/>
          </a:xfrm>
          <a:prstGeom prst="roundRect">
            <a:avLst>
              <a:gd name="adj" fmla="val 9474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301752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1601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862072"/>
            <a:ext cx="426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players: DLD · RERA · DREI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78728" y="2862072"/>
            <a:ext cx="5364328" cy="868680"/>
          </a:xfrm>
          <a:prstGeom prst="roundRect">
            <a:avLst>
              <a:gd name="adj" fmla="val 9474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79896" y="301752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42" y="316016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93128" y="2862072"/>
            <a:ext cx="426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Freehold vs leasehold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3941064"/>
            <a:ext cx="5364328" cy="868680"/>
          </a:xfrm>
          <a:prstGeom prst="roundRect">
            <a:avLst>
              <a:gd name="adj" fmla="val 9474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4096512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" y="4239158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3941064"/>
            <a:ext cx="426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a legal broker (the path)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278728" y="3941064"/>
            <a:ext cx="5364328" cy="868680"/>
          </a:xfrm>
          <a:prstGeom prst="roundRect">
            <a:avLst>
              <a:gd name="adj" fmla="val 9474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79896" y="4096512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542" y="4239158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93128" y="3941064"/>
            <a:ext cx="426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glossary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5020056"/>
            <a:ext cx="5364328" cy="868680"/>
          </a:xfrm>
          <a:prstGeom prst="roundRect">
            <a:avLst>
              <a:gd name="adj" fmla="val 9474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49808" y="5175504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54" y="5318150"/>
            <a:ext cx="263347" cy="26334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63040" y="5020056"/>
            <a:ext cx="426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— what every agent must know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6278728" y="5020056"/>
            <a:ext cx="5364328" cy="868680"/>
          </a:xfrm>
          <a:prstGeom prst="roundRect">
            <a:avLst>
              <a:gd name="adj" fmla="val 9474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479896" y="5175504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2542" y="5318150"/>
            <a:ext cx="263347" cy="263347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193128" y="5020056"/>
            <a:ext cx="426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Day 1 quiz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 market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DLD / Dubai REST weekly reports — verify weekly (figures mid-June 2026).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44236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03120"/>
            <a:ext cx="2143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11.3B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737360" y="2697480"/>
            <a:ext cx="2143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last week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46778" y="1783080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1098" y="224028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181" y="244236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5498" y="2103120"/>
            <a:ext cx="2143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252B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5435498" y="2697480"/>
            <a:ext cx="2143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(+31% YoY)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44917" y="1783080"/>
            <a:ext cx="3515258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19237" y="224028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319" y="244236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33637" y="2103120"/>
            <a:ext cx="2143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682.5B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9133637" y="2697480"/>
            <a:ext cx="2143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sales (record year)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37490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weekly transaction value (AED bn)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4114800"/>
          <a:ext cx="11094415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off-plan?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buying before completion differs from ready / secondary.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64328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031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" y="230520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011680"/>
            <a:ext cx="390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entry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441448"/>
            <a:ext cx="3901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upfront outlay — secure a unit with a booking deposit, not the full price.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783080"/>
            <a:ext cx="5364328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4760" y="21031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42" y="230520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3168" y="2011680"/>
            <a:ext cx="390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plans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513168" y="2441448"/>
            <a:ext cx="3901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in stages through construction, often with post-handover tails (1–5 yrs).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474720"/>
            <a:ext cx="5364328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79476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54" y="399684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3703320"/>
            <a:ext cx="390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Appreciation during build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4133088"/>
            <a:ext cx="3901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can rise between launch and handover as the project completes.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78728" y="3474720"/>
            <a:ext cx="5364328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4760" y="379476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842" y="399684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13168" y="3703320"/>
            <a:ext cx="390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incentives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13168" y="4133088"/>
            <a:ext cx="3901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Waived fees, DLD-fee deals, furnishing packages and launch pricing.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players — who does what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difference; clients will test you on it.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27432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67357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214" y="23289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08960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30580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Land Department — the overarching authority that registers and regulates all property and transactions.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46778" y="1783080"/>
            <a:ext cx="3515258" cy="27432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65496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352" y="232897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6778" y="3108960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475378" y="3611880"/>
            <a:ext cx="30580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Regulatory Agency — the regulatory arm of DLD: licenses brokers, sets conduct, oversees escrow.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44917" y="1783080"/>
            <a:ext cx="3515258" cy="27432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63634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491" y="232897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44917" y="3108960"/>
            <a:ext cx="3515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173517" y="3611880"/>
            <a:ext cx="30580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Real Estate Institute — DLD's training arm; runs the broker certification course.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6429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502920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523128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5029200"/>
            <a:ext cx="95399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Trakheesi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DLD's permit system: every advert carries a Trakheesi permit number.  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REST / Dubai Brokers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official DLD apps where brokers generate forms &amp; access services.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Freehold vs leasehold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foreign buyers can own — and what they own.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64328" cy="4023360"/>
          </a:xfrm>
          <a:prstGeom prst="roundRect">
            <a:avLst>
              <a:gd name="adj" fmla="val 2045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31709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40280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Freehold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7242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of the unit AND the land, in perpetuity.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nationalities in designated freehold zones.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sell, lease, or pass on freely; qualifies for residency visas.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off-plan you'll sell sits in freehold areas.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1783080"/>
            <a:ext cx="5364328" cy="4023360"/>
          </a:xfrm>
          <a:prstGeom prst="roundRect">
            <a:avLst>
              <a:gd name="adj" fmla="val 2045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53048" y="21031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017" y="231709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3168" y="2240280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Leasehold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598768" y="3246120"/>
            <a:ext cx="47242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use the property for a long term (commonly up to 99 years).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stays with the freeholder; reverts at lease end.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select older / non-freehold districts.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common for new off-plan launches.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Becoming a legal broker — the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steps. There is no individual/freelance broker licence in Dubai.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64328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2996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02996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42213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UAE residency visa, sponsored by a licensed brokerage.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783080"/>
            <a:ext cx="5364328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9896" y="202996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9896" y="202996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38848" y="1783080"/>
            <a:ext cx="42213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broker training course at DREI (~4 days / 32 hours).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364328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35584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35584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108960"/>
            <a:ext cx="42213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RERA exam (~100 questions; pass mark ~75% — confirm).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3108960"/>
            <a:ext cx="5364328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9896" y="335584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9896" y="335584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38848" y="3108960"/>
            <a:ext cx="42213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Broker Card + BRN (Broker Registration Number).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364328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68172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46817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434840"/>
            <a:ext cx="42213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the licence annually via DLD.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8728" y="4434840"/>
            <a:ext cx="5364328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79896" y="468172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9896" y="46817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38848" y="4434840"/>
            <a:ext cx="42213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advert must carry a valid Trakheesi permit number.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Residency + brokerage sponsorship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828800"/>
          </a:xfrm>
          <a:prstGeom prst="roundRect">
            <a:avLst>
              <a:gd name="adj" fmla="val 450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011680"/>
            <a:ext cx="92656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freelance / individual broker licence exists in Dubai.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03120" y="2514600"/>
            <a:ext cx="92656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hold a valid UAE residency visa and be employed/sponsored by a RERA-licensed brokerage. That sponsorship is what makes you eligible to be carded.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886200"/>
            <a:ext cx="5364328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43964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420624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sponsor you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37360" y="4709160"/>
            <a:ext cx="39927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your licensed brokerage, BARE provides the sponsorship and visa pathway.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8728" y="3886200"/>
            <a:ext cx="5364328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53048" y="420624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243" y="43964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67448" y="420624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you certify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467448" y="4709160"/>
            <a:ext cx="39927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sponsorship in place, you move to the DREI course and RERA exam.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Broker training at DREI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2103120"/>
          </a:xfrm>
          <a:prstGeom prst="roundRect">
            <a:avLst>
              <a:gd name="adj" fmla="val 391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1005840" cy="10058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50179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057400"/>
            <a:ext cx="9082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broker training course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286000" y="2606040"/>
            <a:ext cx="90827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days · 32 hours of instruction.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English or Arabic.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to be eligible to sit the RERA exam.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3515258" cy="1645920"/>
          </a:xfrm>
          <a:prstGeom prst="roundRect">
            <a:avLst>
              <a:gd name="adj" fmla="val 500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40509" y="443484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704" y="46250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212080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fee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544068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~AED 2,400 (typical)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246778" y="4160520"/>
            <a:ext cx="3515258" cy="1645920"/>
          </a:xfrm>
          <a:prstGeom prst="roundRect">
            <a:avLst>
              <a:gd name="adj" fmla="val 500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38648" y="443484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843" y="46250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46778" y="5212080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246778" y="544068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/ instructor-led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944917" y="4160520"/>
            <a:ext cx="3515258" cy="1645920"/>
          </a:xfrm>
          <a:prstGeom prst="roundRect">
            <a:avLst>
              <a:gd name="adj" fmla="val 500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36786" y="443484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981" y="462503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44917" y="5212080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944917" y="544068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to sit the exam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The RERA exam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shift — confirm current values when you register.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70734" cy="2651760"/>
          </a:xfrm>
          <a:prstGeom prst="roundRect">
            <a:avLst>
              <a:gd name="adj" fmla="val 310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2527" y="21031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6497" y="231709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08960"/>
            <a:ext cx="2670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3383280"/>
            <a:ext cx="245127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multiple-choice questions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56534" y="1783080"/>
            <a:ext cx="2670734" cy="2651760"/>
          </a:xfrm>
          <a:prstGeom prst="roundRect">
            <a:avLst>
              <a:gd name="adj" fmla="val 310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0421" y="21031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390" y="231709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6534" y="3108960"/>
            <a:ext cx="2670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66262" y="3383280"/>
            <a:ext cx="245127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 (cited 70–75%) — confirm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64428" y="1783080"/>
            <a:ext cx="2670734" cy="2651760"/>
          </a:xfrm>
          <a:prstGeom prst="roundRect">
            <a:avLst>
              <a:gd name="adj" fmla="val 310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8315" y="21031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284" y="231709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4428" y="3108960"/>
            <a:ext cx="2670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74156" y="3383280"/>
            <a:ext cx="245127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~AED 785 (incl. add-on fees)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972321" y="1783080"/>
            <a:ext cx="2670734" cy="2651760"/>
          </a:xfrm>
          <a:prstGeom prst="roundRect">
            <a:avLst>
              <a:gd name="adj" fmla="val 310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96208" y="210312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178" y="231709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72321" y="3108960"/>
            <a:ext cx="2670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082049" y="3383280"/>
            <a:ext cx="245127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Eligible for your Broker Card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754880"/>
            <a:ext cx="11094415" cy="1325880"/>
          </a:xfrm>
          <a:prstGeom prst="roundRect">
            <a:avLst>
              <a:gd name="adj" fmla="val 6207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2960" y="498348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42" y="5185562"/>
            <a:ext cx="373075" cy="3730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83080" y="4937760"/>
            <a:ext cx="95399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tip: the exam leans on the regulatory content in this very programme — forms, escrow, fees, and the authorities. Know Days 1–3 cold and you're most of the way there.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Broker Card, BRN &amp; staying licensed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031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" y="23052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39112"/>
            <a:ext cx="390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 Card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468880"/>
            <a:ext cx="3901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official licence to operate as an agent in Dubai.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4760" y="21031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42" y="23052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3168" y="2039112"/>
            <a:ext cx="390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13168" y="2468880"/>
            <a:ext cx="3901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Registration Number — your unique ID on every deal &amp; form.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364328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79476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54" y="39968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30752"/>
            <a:ext cx="390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Trakheesi on every ad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160520"/>
            <a:ext cx="3901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advert goes live without a valid Trakheesi permit number.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8728" y="3474720"/>
            <a:ext cx="5364328" cy="150876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4760" y="379476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842" y="399684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3168" y="3730752"/>
            <a:ext cx="3901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 annually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13168" y="4160520"/>
            <a:ext cx="3901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licence is renewed each year via DLD to stay active.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 — quick primer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deep on these in Days 2–3; lock the meaning now.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76218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2475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94560"/>
            <a:ext cx="2296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Freehold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880360"/>
            <a:ext cx="30641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of unit + land, in designated zones.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7738" y="1783080"/>
            <a:ext cx="3576218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6338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534" y="22475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05018" y="2194560"/>
            <a:ext cx="2296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Off-plan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63770" y="2880360"/>
            <a:ext cx="30641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bought before/under construction, off the plans.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66837" y="1783080"/>
            <a:ext cx="3576218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95437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24759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64117" y="2194560"/>
            <a:ext cx="2296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/ secondary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2869" y="2880360"/>
            <a:ext cx="30641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completed, already-titled property resold on the market.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3576218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6908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425927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206240"/>
            <a:ext cx="2296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04672" y="4892040"/>
            <a:ext cx="30641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ring-fenced bank account that protects buyer payments on off-plan.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07738" y="3794760"/>
            <a:ext cx="3576218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36338" y="406908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534" y="4259275"/>
            <a:ext cx="351130" cy="35113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05018" y="4206240"/>
            <a:ext cx="2296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Oqood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63770" y="4892040"/>
            <a:ext cx="30641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interim off-plan register that converts to a Title Deed at handover.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66837" y="3794760"/>
            <a:ext cx="3576218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95437" y="406908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259275"/>
            <a:ext cx="351130" cy="35113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64117" y="4206240"/>
            <a:ext cx="2296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Deed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22869" y="4892040"/>
            <a:ext cx="30641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proof of ownership, issued by DLD.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1 — authorities &amp;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51760" y="1737360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Land Department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737360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1608" y="17373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1848" y="1737360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Regulatory Agency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63347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1760" y="2633472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Real Estate Institute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2633472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1608" y="263347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1848" y="2633472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Registration Number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295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Trakheesi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51760" y="3529584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advertising-permit system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529584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1608" y="35295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Ejari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81848" y="3529584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contract registration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25696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42569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51760" y="4425696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Objection Certificate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8728" y="4425696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61608" y="442569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81848" y="4425696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&amp; Purchase Agreement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321808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532180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651760" y="5321808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Memorandum of Understanding (Form F)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78728" y="5321808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61608" y="532180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Oqood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81848" y="5321808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off-plan property register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2 — finance &amp; transaction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51760" y="1737360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Loan-to-Value ratio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737360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1608" y="17373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1848" y="1737360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Burden Ratio (max ~50%)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63347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EIBOR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1760" y="2633472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Interbank Offered Rate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2633472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1608" y="263347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1848" y="2633472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295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DEWA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51760" y="3529584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Electricity &amp; Water Authority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529584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1608" y="35295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DNFBP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81848" y="3529584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Non-Financial Business/Profession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25696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42569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51760" y="4425696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Customer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8728" y="4425696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61608" y="4425696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81848" y="4425696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321808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532180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651760" y="5321808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Combating the Financing of Terrorism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78728" y="5321808"/>
            <a:ext cx="5364328" cy="749808"/>
          </a:xfrm>
          <a:prstGeom prst="roundRect">
            <a:avLst>
              <a:gd name="adj" fmla="val 1097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61608" y="532180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FIU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81848" y="5321808"/>
            <a:ext cx="30783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Unit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AML — what every agent must know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Laundering. Brokers are a 'DNFBP' with real legal duties.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037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1874520"/>
            <a:ext cx="91741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broker you are a Designated Non-Financial Business or Profession (DNFBP) with AML/CFT obligations under UAE law.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2670734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499959" y="365760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64" y="3857305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4572000"/>
            <a:ext cx="26707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5800" y="4983480"/>
            <a:ext cx="23964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client identity &amp; source of funds.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6534" y="3383280"/>
            <a:ext cx="2670734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07853" y="365760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558" y="3857305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56534" y="4572000"/>
            <a:ext cx="26707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cash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493694" y="4983480"/>
            <a:ext cx="23964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high-value &amp; cash-heavy deals.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64428" y="3383280"/>
            <a:ext cx="2670734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15747" y="365760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451" y="3857305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64428" y="4572000"/>
            <a:ext cx="26707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goAML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01588" y="4983480"/>
            <a:ext cx="23964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the goAML portal; appoint a compliance officer.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72321" y="3383280"/>
            <a:ext cx="2670734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923640" y="365760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3345" y="3857305"/>
            <a:ext cx="368686" cy="3686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72321" y="4572000"/>
            <a:ext cx="26707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109481" y="4983480"/>
            <a:ext cx="239641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suspicious-transaction reports to the FIU.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carries serious penalties. When in doubt, escalate to your compliance officer.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recap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0195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regulates; RERA licenses &amp; oversees conduct; DREI trains.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7063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65176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freelance licence — you work under a sponsoring brokerage.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63931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path: sponsorship → DREI course → RERA exam → Broker Card + BRN → renew yearly.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50799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507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38912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advert needs a Trakheesi permit; brokers use Dubai REST.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376672"/>
            <a:ext cx="502920" cy="5029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5376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525780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DNFBP — KYC, monitor, and report under AML law.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Quiz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quick questions. Answers on the next slide.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0512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9514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body is the regulatory arm that licenses brokers?  (DREI / RERA / Trakheesi / Ejari)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74320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624328"/>
            <a:ext cx="99514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legally work as an agent as an independent freelancer with no brokerage?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675888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557016"/>
            <a:ext cx="99514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permit number must appear on every property advertisement?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4608576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608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514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BRN stand for?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541264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541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422392"/>
            <a:ext cx="995141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AML stand for — and name one obligation it places on you?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Quiz answer key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637215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768096"/>
          </a:xfrm>
          <a:prstGeom prst="roundRect">
            <a:avLst>
              <a:gd name="adj" fmla="val 1071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385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1013429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RERA is the regulatory arm of DLD that licenses brokers.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633472"/>
            <a:ext cx="11094415" cy="768096"/>
          </a:xfrm>
          <a:prstGeom prst="roundRect">
            <a:avLst>
              <a:gd name="adj" fmla="val 1071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34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633472"/>
            <a:ext cx="1013429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You must be sponsored/employed by a licensed brokerage — no freelance licence exists.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529584"/>
            <a:ext cx="11094415" cy="768096"/>
          </a:xfrm>
          <a:prstGeom prst="roundRect">
            <a:avLst>
              <a:gd name="adj" fmla="val 1071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73075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529584"/>
            <a:ext cx="1013429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Trakheesi permit number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Required on every single advertisement.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425696"/>
            <a:ext cx="11094415" cy="768096"/>
          </a:xfrm>
          <a:prstGeom prst="roundRect">
            <a:avLst>
              <a:gd name="adj" fmla="val 1071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626864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425696"/>
            <a:ext cx="1013429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Registration Number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Your unique broker ID, quoted on deals &amp; forms.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321808"/>
            <a:ext cx="11094415" cy="768096"/>
          </a:xfrm>
          <a:prstGeom prst="roundRect">
            <a:avLst>
              <a:gd name="adj" fmla="val 1071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9AA3B2">
                <a:alpha val="4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522976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5321808"/>
            <a:ext cx="1013429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e.g. perform KYC / verify source of funds, or report suspicious deals via goAML to the FIU.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BARE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BARE</dc:creator>
  <cp:lastModifiedBy>BARE</cp:lastModifiedBy>
  <cp:revision>1</cp:revision>
  <dcterms:created xsi:type="dcterms:W3CDTF">2026-06-16T10:44:21Z</dcterms:created>
  <dcterms:modified xsi:type="dcterms:W3CDTF">2026-06-16T10:44:21Z</dcterms:modified>
</cp:coreProperties>
</file>