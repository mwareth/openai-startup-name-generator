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is the practical engine room. Yesterday was the opportunity; today is exactly how a deal works, the tools you'll live in, and the paperwork. Keep it clear and concrete — lots of new terms, so define as you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Signpost. Tools + WhatsApp first (practical and fun), then the deal mechanics and paperwork after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DLD = parent authority; RERA = its regulatory arm (licenses you, runs escrow rules); DREI = training. Trakheesi permit on every ad is a hard rule. Dubai REST is the app you'll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reassurance: the brokerage sponsors you — no freelancing. Course + exam are very doable, and they map onto this training. Pass mark ~75% (confirm at registration). BRN goes on your deals; renew yearly; Trakheesi on every 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Reelly is the day-to-day off-plan hero — search projects, see live prices/availability/payment plans and the commission on offer. DXBinteract &amp; Property Monitor for data/trends. Property Finder &amp; Bayut are the portals where buyers search and you advertise. Dubai REST is the official DLD app. Encourage them to create accounts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off-plan really works day to day. Each developer runs official broker WhatsApp/Telegram groups: launch announcements, live price lists, real-time availability on launch day, EOI/booking instructions, and a support line for your questions. Reelly and our own brokerage groups add to this. Etiquette matters — professional, no spamming — and SPEED wins, because top units go in minutes. We'll add new joiners to the key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— don't read every line. Call out the confusable ones: Oqood = off-plan register; SPA = the sale contract; Ejari is for rentals; Trakheesi = ad permit.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return in the deal flow and the AML slide. EOI is the early booking step on launches; the DLD fee (4%) comes up in every purchase; the AML cluster (DNFBP/KYC/FIU) is covered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vocabulary checkpoint. Escrow, Oqood and Title Deed each get a full slide next — just plant the meanings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backbone of the whole job. Walk it once end to end. EOI/booking secures the unit on launch; reservation + SPA make it formal; Oqood registers ownership during build; milestone payments fund construction; at handover the Oqood becomes a Title Deed. We zoom into the key steps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hot launch, the EOI gets your client in line before units are even released. Then the reservation form + booking deposit lock the specific unit. Stress: the deposit goes into ESCROW (next), which is what protects the buyer. Amounts vary by developer.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 is the main off-plan contract (developer ↔ buyer). It nails down unit, price, payment plan, handover date. Once signed, the purchase gets registered on the Oqood. (Note: Form F is the separate buyer↔seller contract used on resale — covered in the forms section.)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#1 answer to 'isn't off-plan risky?'. The law forces every dirham into a ring-fenced, project-specific escrow account at an approved bank — the developer cannot just take it. Memorise: Law No. 8 of 2007.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release cycle: pay → build → engineer verifies → RERA signs off → funds released for that stage. Money never gets ahead of the construction. Heavy penalties for escrow misuse. This is the mechanism behind 'your money is protected.'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Oqood = the interim off-plan register (Law 13 of 2008), registered with DLD via Dubai REST after the SPA. It's how a buyer 'owns' a property that doesn't physically exist yet — and it's what enables off-plan resale and Golden Visa eligibility. At handover it becomes the Title Deed.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Deed = the final ownership document from DLD (owner name, property, plot/area). For ready property it transfers at the DLD transfer; for off-plan, the Oqood becomes a Title Deed once the project is handed over. Simple line to remember: Oqood (while building) → Title Deed (when built).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forms: A (list/market), B (represent a buyer), F (the sale contract), I (split with another agent). Detailed next two slides. All generated via Dubai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A = you're allowed to market a seller's property (and it powers the Trakheesi permit); a seller can list with up to 3 brokers. Form B = a buyer formally appoints you to find and negotiate. Get these signed early so your work is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F is the big one — the binding sale contract (replaces old handwritten MOUs); only a licensed broker generates it via Dubai REST. Form I records co-broke splits (usually 50/50). Form U cancels a Form A/B with 7 days' notice. Highlight Form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complete a resale/transfer you need the developer's NOC (confirms no dues; small fee). At handover the buyer inspects and accepts, DLD issues the Title Deed, and you help set up DEWA and Ejari (if rented). Being helpful here earns referrals.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serious but simple. Brokers are DNFBPs: do KYC, verify source of funds, watch cash/high-value deals, use goAML, and report suspicious activity to the FIU. New agents: never push a deal that feels wrong — escalate to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anchors. Make them recall the deal flow out loud. Preview Day 3 (finance).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discuss for a few minutes,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 each answer. Re-teach anything widely missed before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389120" cy="4389120"/>
          </a:xfrm>
          <a:prstGeom prst="ellipse">
            <a:avLst/>
          </a:prstGeom>
          <a:solidFill>
            <a:srgbClr val="1A2F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 · your tools · the deal process · escrow · Oqood &amp; title deed</a:t>
            </a:r>
            <a:endParaRPr lang="en-US" sz="1400" dirty="0"/>
          </a:p>
        </p:txBody>
      </p:sp>
      <p:pic>
        <p:nvPicPr>
          <p:cNvPr id="6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hours, with a break.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93852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086661"/>
            <a:ext cx="252374" cy="2523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783080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regulates the market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278728" y="1783080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79896" y="193852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028" y="2086661"/>
            <a:ext cx="252374" cy="2523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93128" y="1783080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toolkit — finding projects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2862072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841248" y="301752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165653"/>
            <a:ext cx="252374" cy="2523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2862072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WhatsApp groups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278728" y="2862072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79896" y="301752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028" y="3165653"/>
            <a:ext cx="252374" cy="2523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93128" y="2862072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3941064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41248" y="4096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244645"/>
            <a:ext cx="252374" cy="2523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54480" y="3941064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process, step by step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6278728" y="3941064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479896" y="4096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028" y="4244645"/>
            <a:ext cx="252374" cy="25237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93128" y="3941064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— how money is protected</a:t>
            </a:r>
            <a:endParaRPr lang="en-US" sz="1450" dirty="0"/>
          </a:p>
        </p:txBody>
      </p:sp>
      <p:sp>
        <p:nvSpPr>
          <p:cNvPr id="29" name="Shape 20"/>
          <p:cNvSpPr/>
          <p:nvPr/>
        </p:nvSpPr>
        <p:spPr>
          <a:xfrm>
            <a:off x="640080" y="5020056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841248" y="517550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381" y="5323637"/>
            <a:ext cx="252374" cy="25237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554480" y="5020056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Oqood, Title Deed &amp; the forms</a:t>
            </a:r>
            <a:endParaRPr lang="en-US" sz="1450" dirty="0"/>
          </a:p>
        </p:txBody>
      </p:sp>
      <p:sp>
        <p:nvSpPr>
          <p:cNvPr id="33" name="Shape 23"/>
          <p:cNvSpPr/>
          <p:nvPr/>
        </p:nvSpPr>
        <p:spPr>
          <a:xfrm>
            <a:off x="6278728" y="5020056"/>
            <a:ext cx="5272888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479896" y="517550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8028" y="5323637"/>
            <a:ext cx="252374" cy="25237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93128" y="5020056"/>
            <a:ext cx="4175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+ recap &amp; quiz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runs the 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names you must know — clients will test you.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8317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61" y="2337664"/>
            <a:ext cx="399593" cy="399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1089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361188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Dubai Land Department — the top authority that registers all property and deals.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77258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65496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39" y="2337664"/>
            <a:ext cx="399593" cy="3995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77258" y="31089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505858" y="361188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 inside DLD — it licenses brokers, sets the rules, and oversees escrow.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914437" y="1783080"/>
            <a:ext cx="3454298" cy="274320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202674" y="210312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218" y="2337664"/>
            <a:ext cx="399593" cy="3995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14437" y="310896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143037" y="3611880"/>
            <a:ext cx="29970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DLD's training arm — it runs the broker certification course.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80060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14400" y="5010912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255" y="5220767"/>
            <a:ext cx="357530" cy="3575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5010912"/>
            <a:ext cx="93570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Trakheesi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permit system: every advert needs a Trakheesi number.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REST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official DLD app you'll use for forms &amp; services.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a licensed broker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— there is no freelance licence in Dubai.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202996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0299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UAE residency visa, sponsored by a licensed brokerage (that's us).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9896" y="202996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9896" y="202996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38848" y="178308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broker course at DREI (~4 days / 32 hours).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310896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" y="335584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3355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00200" y="310896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RERA exam (~100 questions; pass mark ~75% — confirm).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78728" y="310896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79896" y="335584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79896" y="33558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38848" y="310896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Broker Card + BRN (Broker Registration Number).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43484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41248" y="468172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" y="4681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00200" y="443484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the licence every year via DLD.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78728" y="4434840"/>
            <a:ext cx="5272888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79896" y="4681728"/>
            <a:ext cx="621792" cy="621792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79896" y="468172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238848" y="4434840"/>
            <a:ext cx="41298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valid Trakheesi permit on every advert you post.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toolkit — finding &amp; researching projects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discover inventory, prices and availability.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" y="2254910"/>
            <a:ext cx="336499" cy="336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05740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Reelly (reelly.ai)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283464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1,100+ off-plan projects — prices, payment plans, availability &amp; commissions in one place.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53458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09490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001" y="225491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50738" y="205740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DXBinteract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27778" y="283464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 data — prices per sqft and area trends.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66837" y="178308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22869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379" y="225491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64117" y="205740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Finder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341157" y="283464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leading portal — research listings and advertise your own.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931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96112" y="42062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" y="440375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20624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Bayut / dubizzle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14400" y="498348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portal for listings, demand and leads.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53458" y="3931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09490" y="42062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001" y="4403750"/>
            <a:ext cx="336499" cy="33649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50738" y="420624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Monitor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627778" y="498348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and the PMI price index.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66837" y="3931920"/>
            <a:ext cx="3484778" cy="1920240"/>
          </a:xfrm>
          <a:prstGeom prst="roundRect">
            <a:avLst>
              <a:gd name="adj" fmla="val 476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22869" y="420624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0379" y="4403750"/>
            <a:ext cx="336499" cy="33649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64117" y="4206240"/>
            <a:ext cx="2204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REST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341157" y="4983480"/>
            <a:ext cx="298185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DLD app — verify, generate forms, access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 the loop — developer WhatsApp groups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get answers and hear about launches first.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E9F7EF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64" y="2246224"/>
            <a:ext cx="399593" cy="399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991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each developer's official broker group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(WhatsApp / Telegram). It's where the market actually moves — and we'll add you to the right ones.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291840"/>
            <a:ext cx="5272888" cy="1097280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3520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369326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3291840"/>
            <a:ext cx="403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alerts first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projects, price lists &amp; EOI dates the moment they drop.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78728" y="3291840"/>
            <a:ext cx="5272888" cy="1097280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507328" y="3520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149" y="3693262"/>
            <a:ext cx="294437" cy="2944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30288" y="3291840"/>
            <a:ext cx="403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units are left — updated in real time on launch day.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4572000"/>
            <a:ext cx="5272888" cy="1097280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2" y="4973422"/>
            <a:ext cx="294437" cy="2944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572000"/>
            <a:ext cx="403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developer's broker-support team your questions.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78728" y="4572000"/>
            <a:ext cx="5272888" cy="1097280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07328" y="480060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149" y="4973422"/>
            <a:ext cx="294437" cy="2944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30288" y="4572000"/>
            <a:ext cx="403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incentives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boosts and limited-time launch deals.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Etiquette: stay professional, no spam — and act fast. Hot launches can sell out in minutes.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words you'll hear — part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&amp; process.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34640" y="1691640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Land Department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61608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73288" y="1691640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Regulatory Agency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542032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25420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2542032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Real Estate Institute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78728" y="2542032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61608" y="25420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73288" y="2542032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Registration Number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392424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3392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Trakheesi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834640" y="3392424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advertising-permit system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3392424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61608" y="3392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REST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73288" y="3392424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DLD app for forms &amp; services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242816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2428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Oqood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834640" y="4242816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off-plan property register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78728" y="4242816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61608" y="42428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NOC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73288" y="4242816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Objection Certificate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093208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2960" y="50932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834640" y="5093208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&amp; Purchase Agreement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78728" y="5093208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61608" y="50932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Ejari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473288" y="5093208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(rental) registration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words you'll hear — part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the deal.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34640" y="1691640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of Interest (early booking)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78728" y="1691640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61608" y="16916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73288" y="1691640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 (mortgage size)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542032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25420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2542032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Ratio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78728" y="2542032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61608" y="25420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73288" y="2542032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392424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3392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 fee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834640" y="3392424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transfer fee on a purchase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78728" y="3392424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61608" y="3392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DNFBP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73288" y="3392424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Non-Financial Business/Profession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242816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42428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834640" y="4242816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78728" y="4242816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61608" y="42428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73288" y="4242816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093208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2960" y="50932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FIU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834640" y="5093208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Unit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78728" y="5093208"/>
            <a:ext cx="5272888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61608" y="50932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Deed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473288" y="5093208"/>
            <a:ext cx="2895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proof of ownership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 — quick primer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words behind every off-plan deal.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2254910"/>
            <a:ext cx="336499" cy="336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19456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Freehold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96112" y="288036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home + land, in designated zones.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38218" y="178308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66818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329" y="225491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35498" y="219456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Off-plan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94250" y="288036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bought before/while it's being built.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36357" y="178308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64957" y="205740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467" y="2254910"/>
            <a:ext cx="336499" cy="33649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33637" y="219456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/ secondary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92389" y="288036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 property resold on the market.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79476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426659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37360" y="420624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96112" y="489204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protected bank account holding the buyer's money.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38218" y="379476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66818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329" y="4266590"/>
            <a:ext cx="336499" cy="33649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35498" y="420624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Oqood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594250" y="489204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interim off-plan register, kept by DLD.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036357" y="3794760"/>
            <a:ext cx="351525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64957" y="4069080"/>
            <a:ext cx="731520" cy="73152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467" y="4266590"/>
            <a:ext cx="336499" cy="33649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33637" y="4206240"/>
            <a:ext cx="2235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Deed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292389" y="4892040"/>
            <a:ext cx="300319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proof your client owns the home.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off-plan sale — step by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client's 'yes' to the keys.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2938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783080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chooses a project &amp; unit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608" y="192938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61608" y="1929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38848" y="1783080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EOI / booking (deposit)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2807208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2953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00200" y="2807208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reservation form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78728" y="2807208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61608" y="295351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61608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38848" y="2807208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SPA (sale contract)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3831336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600200" y="3831336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Oqood with DLD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78728" y="3831336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61608" y="397764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61608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238848" y="3831336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pays in milestones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40080" y="4855464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" y="500176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22960" y="5001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600200" y="4855464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completes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278728" y="4855464"/>
            <a:ext cx="5272888" cy="841248"/>
          </a:xfrm>
          <a:prstGeom prst="roundRect">
            <a:avLst>
              <a:gd name="adj" fmla="val 1087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61608" y="500176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461608" y="5001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238848" y="4855464"/>
            <a:ext cx="4129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→ Title Deed issued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unit — EOI &amp; reservation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secure a home on launch day.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5" y="2312975"/>
            <a:ext cx="357530" cy="357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057400"/>
            <a:ext cx="380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EOI (Expression of Interest)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874520" y="251460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refundable pre-booking — often a fixed amount — to get in the queue before a launch sells out.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78728" y="178308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2" y="2312975"/>
            <a:ext cx="357530" cy="3575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13168" y="2057400"/>
            <a:ext cx="380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form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513168" y="251460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chosen unit, price and payment plan once the client commits.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397764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55" y="4187495"/>
            <a:ext cx="357530" cy="3575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3931920"/>
            <a:ext cx="380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deposit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874520" y="438912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payment (commonly ~5–20%) that holds the unit.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78728" y="365760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397764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2" y="4187495"/>
            <a:ext cx="357530" cy="3575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13168" y="3931920"/>
            <a:ext cx="380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escrow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7513168" y="438912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goes into the project's protected account — not the developer's pocket.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 — Sale &amp; Purchase Agreement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that makes the off-plan sale real.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325880"/>
          </a:xfrm>
          <a:prstGeom prst="roundRect">
            <a:avLst>
              <a:gd name="adj" fmla="val 6897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64" y="2246224"/>
            <a:ext cx="399593" cy="399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991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binding contract between your client and the developer. It sets the unit, price, payment plan, and the handover date.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38328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952701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87" y="3864986"/>
            <a:ext cx="353324" cy="3533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457200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locks in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22960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total price, the payment schedule, and the expected completion date.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99178" y="338328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711800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186" y="3864986"/>
            <a:ext cx="353324" cy="353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399178" y="457200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protects everyone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582058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terms for both sides, backed by DLD registration &amp; escrow.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158277" y="338328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70898" y="365760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284" y="3864986"/>
            <a:ext cx="353324" cy="3533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58277" y="457200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to the Oqood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341157" y="5029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SPA, the purchase is registered on the Oqood (next).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— how your client's money is protected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trust point in off-plan.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2585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9912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law (Law No. 8 of 2007),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off-plan payment goes into a protected, project-specific escrow account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the developer's own account.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42900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952701" y="370332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87" y="3910706"/>
            <a:ext cx="353324" cy="3533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45720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 by a licensed bank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22960" y="5120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RERA-approved trustee bank guards the funds.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99178" y="342900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711800" y="370332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186" y="3910706"/>
            <a:ext cx="353324" cy="353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399178" y="45720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Ring-fenced per project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582058" y="5120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has its own separate account.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158277" y="3429000"/>
            <a:ext cx="3393338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70898" y="370332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284" y="3910706"/>
            <a:ext cx="353324" cy="3533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58277" y="457200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to construction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341157" y="5120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only used to build that project.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 in practice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released only as the building rises.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590724" cy="301752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51394" y="224028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1394" y="22402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551394" y="31546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16" y="332750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931920"/>
            <a:ext cx="2499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pays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9808" y="4297680"/>
            <a:ext cx="23712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payment goes into the project escrow account.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13684" y="1920240"/>
            <a:ext cx="2590724" cy="301752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4998" y="224028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324998" y="22402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324998" y="31546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819" y="332750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9404" y="3931920"/>
            <a:ext cx="2499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builds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23412" y="4297680"/>
            <a:ext cx="23712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reaches a construction stage.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7288" y="1920240"/>
            <a:ext cx="2590724" cy="301752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98602" y="224028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098602" y="22402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098602" y="31546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423" y="332750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3008" y="3931920"/>
            <a:ext cx="2499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verifies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297016" y="4297680"/>
            <a:ext cx="23712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certified engineer confirms the progress, with RERA sign-off.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960891" y="1920240"/>
            <a:ext cx="2590724" cy="3017520"/>
          </a:xfrm>
          <a:prstGeom prst="roundRect">
            <a:avLst>
              <a:gd name="adj" fmla="val 353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872205" y="2240280"/>
            <a:ext cx="768096" cy="768096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872205" y="22402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872205" y="315468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027" y="332750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06611" y="3931920"/>
            <a:ext cx="24992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Funds released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070619" y="4297680"/>
            <a:ext cx="23712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is that portion released to the developer.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developer only gets paid for work actually done — that's what keeps buyers safe.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Oqood?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client's proof of ownership while the home is still being built.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2585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9912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Oqood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official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(temporary) registration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off-plan property with DLD — created after the SPA. It records that your client owns that unit during construction.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329184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353872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3716487"/>
            <a:ext cx="302849" cy="3028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29184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Law No. 13 of 2008.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78728" y="329184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507328" y="353872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087" y="3716487"/>
            <a:ext cx="302849" cy="3028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76008" y="329184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done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online via DLD (Dubai REST / Oqood).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461772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68680" y="486460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39" y="5042367"/>
            <a:ext cx="302849" cy="30284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61772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off-plan resale and the Golden Visa.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78728" y="461772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07328" y="486460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087" y="5042367"/>
            <a:ext cx="302849" cy="30284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76008" y="461772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into a Title Deed at handover.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Title Deed?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final, official proof that your client owns the home.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116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2585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74520"/>
            <a:ext cx="89912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Deed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document issued by DLD that proves ownership — the client's name, the property, and its details. It's the 'final word' on who owns what.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0080" y="33375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Oqood to Title Deed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894789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988" y="424555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49377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Oqood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" y="530352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construction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018178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4429658" y="374904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84368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567" y="4245559"/>
            <a:ext cx="378562" cy="3785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29658" y="49377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429658" y="530352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807757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6"/>
          <p:cNvSpPr/>
          <p:nvPr/>
        </p:nvSpPr>
        <p:spPr>
          <a:xfrm>
            <a:off x="8219237" y="374904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473946" y="402336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145" y="4245559"/>
            <a:ext cx="378562" cy="37856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19237" y="49377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Deed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219237" y="5303520"/>
            <a:ext cx="33323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RERA forms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contracts that keep every deal clear and fair.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196596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43" y="2175815"/>
            <a:ext cx="357530" cy="357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874520"/>
            <a:ext cx="93570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uses standard lettered forms for every stage of a deal. They're generated through Dubai REST, so everyone signs the same trusted paperwork — no handwritten contracts.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3246120"/>
            <a:ext cx="5272888" cy="1188720"/>
          </a:xfrm>
          <a:prstGeom prst="roundRect">
            <a:avLst>
              <a:gd name="adj" fmla="val 769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41248" y="3520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45920" y="3246120"/>
            <a:ext cx="4084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↔ broker: permission to market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78728" y="3246120"/>
            <a:ext cx="5272888" cy="1188720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79896" y="35204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79896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284568" y="3246120"/>
            <a:ext cx="4084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↔ broker: appoint you to search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272888" cy="1188720"/>
          </a:xfrm>
          <a:prstGeom prst="roundRect">
            <a:avLst>
              <a:gd name="adj" fmla="val 7692"/>
            </a:avLst>
          </a:prstGeom>
          <a:solidFill>
            <a:srgbClr val="FFF9ED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" y="48920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1248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645920" y="4617720"/>
            <a:ext cx="4084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↔ seller: the binding sale contract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278728" y="4617720"/>
            <a:ext cx="5272888" cy="1188720"/>
          </a:xfrm>
          <a:prstGeom prst="roundRect">
            <a:avLst>
              <a:gd name="adj" fmla="val 7692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79896" y="4892040"/>
            <a:ext cx="640080" cy="6400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479896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284568" y="4617720"/>
            <a:ext cx="4084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↔ agent: the commission split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 &amp; Form 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agreements before a deal.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5272888" cy="4114800"/>
          </a:xfrm>
          <a:prstGeom prst="roundRect">
            <a:avLst>
              <a:gd name="adj" fmla="val 2222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99" y="2279599"/>
            <a:ext cx="378562" cy="37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194560"/>
            <a:ext cx="3809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05840" y="3154680"/>
            <a:ext cx="45413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owner/seller and the broker.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market &amp; advertise the property.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Trakheesi advertising permit.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can appoint up to 3 brokers.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78728" y="1737360"/>
            <a:ext cx="5272888" cy="4114800"/>
          </a:xfrm>
          <a:prstGeom prst="roundRect">
            <a:avLst>
              <a:gd name="adj" fmla="val 222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057400"/>
            <a:ext cx="822960" cy="82296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47" y="2279599"/>
            <a:ext cx="378562" cy="3785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13168" y="2194560"/>
            <a:ext cx="3809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B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644488" y="3154680"/>
            <a:ext cx="454136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buyer and the broker.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Appoints you to search &amp; negotiate for them.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budget and what they're looking for.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you officially their agent.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F, Form I &amp; Form 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sale, the split, and the exit.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3393338" cy="3749040"/>
          </a:xfrm>
          <a:prstGeom prst="roundRect">
            <a:avLst>
              <a:gd name="adj" fmla="val 2695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79549" y="22402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37" y="24871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383280"/>
            <a:ext cx="31190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F — the sale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8680" y="4160520"/>
            <a:ext cx="293613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sale contract between buyer &amp; seller (the MOU). Only a licensed broker can generate it via Dubai REST.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99178" y="1828800"/>
            <a:ext cx="3393338" cy="3749040"/>
          </a:xfrm>
          <a:prstGeom prst="roundRect">
            <a:avLst>
              <a:gd name="adj" fmla="val 269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38648" y="22402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248716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36338" y="3383280"/>
            <a:ext cx="31190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I — the split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27778" y="4160520"/>
            <a:ext cx="293613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two cooperating agents and their commission split — commonly 50/50.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58277" y="1828800"/>
            <a:ext cx="3393338" cy="3749040"/>
          </a:xfrm>
          <a:prstGeom prst="roundRect">
            <a:avLst>
              <a:gd name="adj" fmla="val 269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97746" y="2240280"/>
            <a:ext cx="914400" cy="91440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634" y="248716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95437" y="3383280"/>
            <a:ext cx="31190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U — the exit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86877" y="4160520"/>
            <a:ext cx="293613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 Form A or B with a 7-day written notice.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NOC &amp; handover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paperwork that completes a deal.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55" y="2312975"/>
            <a:ext cx="357530" cy="357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2057400"/>
            <a:ext cx="380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NOC (No Objection Certificate)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874520" y="256032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developer — confirms no money is owed and they don't object to the transfer. Fee ~AED 500–5,000.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78728" y="178308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3048" y="210312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2" y="2312975"/>
            <a:ext cx="357530" cy="3575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13168" y="2057400"/>
            <a:ext cx="380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513168" y="256032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inspects, accepts the unit, and collects the keys.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397764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55" y="4187495"/>
            <a:ext cx="357530" cy="3575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3931920"/>
            <a:ext cx="380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Deed issued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874520" y="443484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issues the Title Deed — ownership is complete.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78728" y="3657600"/>
            <a:ext cx="5272888" cy="1645920"/>
          </a:xfrm>
          <a:prstGeom prst="roundRect">
            <a:avLst>
              <a:gd name="adj" fmla="val 5556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3048" y="3977640"/>
            <a:ext cx="777240" cy="7772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2" y="4187495"/>
            <a:ext cx="357530" cy="3575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13168" y="3931920"/>
            <a:ext cx="3809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 &amp; Ejari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513168" y="4434840"/>
            <a:ext cx="38098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DEWA (power &amp; water); register Ejari if it will be rented.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AML — what every agent must know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Laundering. Brokers have real legal duties.</a:t>
            </a:r>
            <a:endParaRPr lang="en-US" sz="1350" dirty="0"/>
          </a:p>
        </p:txBody>
      </p:sp>
      <p:pic>
        <p:nvPicPr>
          <p:cNvPr id="4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FFF7E6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938528"/>
            <a:ext cx="868680" cy="86868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64" y="2173072"/>
            <a:ext cx="399593" cy="399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40280" y="1828800"/>
            <a:ext cx="8991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broker you're a 'DNFBP' — a business with anti-money-laundering duties under UAE law. In plain terms: know who you're dealing with, and flag anything that looks wrong.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324612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349300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39" y="3670767"/>
            <a:ext cx="302849" cy="3028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24612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(KYC)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client's ID and where the money comes from.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78728" y="324612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507328" y="349300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087" y="3670767"/>
            <a:ext cx="302849" cy="3028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76008" y="324612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cash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unusually large or cash-heavy deals.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457200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68680" y="481888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39" y="4996647"/>
            <a:ext cx="302849" cy="30284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57200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goAML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through the goAML portal; we have a compliance officer.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78728" y="4572000"/>
            <a:ext cx="5272888" cy="114300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07328" y="4818888"/>
            <a:ext cx="658368" cy="65836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087" y="4996647"/>
            <a:ext cx="302849" cy="30284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376008" y="4572000"/>
            <a:ext cx="39927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concerns  —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suspicious-transaction report to the FIU.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off, escalate to your compliance officer. Penalties for ignoring this are serious.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what to remember</a:t>
            </a:r>
            <a:endParaRPr lang="en-US" sz="2700" dirty="0"/>
          </a:p>
        </p:txBody>
      </p:sp>
      <p:pic>
        <p:nvPicPr>
          <p:cNvPr id="3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83080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901952"/>
            <a:ext cx="475488" cy="47548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1901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783080"/>
            <a:ext cx="9768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runs it; RERA regulates; DREI trains.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work under a sponsoring brokerage.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743200"/>
            <a:ext cx="475488" cy="47548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743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00200" y="2624328"/>
            <a:ext cx="9768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your tools.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Reelly for projects; portals for leads; developer WhatsApp groups for launches.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465576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1248" y="3584448"/>
            <a:ext cx="475488" cy="47548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00200" y="3465576"/>
            <a:ext cx="9768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deal flow.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→ SPA → Oqood → milestone payments → handover → Title Deed.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306824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" y="4425696"/>
            <a:ext cx="475488" cy="47548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" y="4425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00200" y="4306824"/>
            <a:ext cx="9768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protects the buyer.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No. 8 of 2007 — money is released only against real construction.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148072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1248" y="5266944"/>
            <a:ext cx="475488" cy="475488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1248" y="5266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00200" y="5148072"/>
            <a:ext cx="97685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Oqood becomes the Title Deed.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register while building → final ownership at handover.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the money in detail — payment plans, mortgages, fees and returns.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Quiz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questions. Answers on the next slide.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01952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976853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 is the binding sale contract between buyer &amp; seller — and who can generate it?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834640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715768"/>
            <a:ext cx="976853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which law does off-plan money go into escrow, and whose account does it avoid?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767328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767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48456"/>
            <a:ext cx="976853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Oqood, and what does it become at handover?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700016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700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581144"/>
            <a:ext cx="976853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platform you'd use to find off-plan projects, prices and availability.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513832"/>
            <a:ext cx="10911535" cy="786384"/>
          </a:xfrm>
          <a:prstGeom prst="roundRect">
            <a:avLst>
              <a:gd name="adj" fmla="val 10465"/>
            </a:avLst>
          </a:prstGeom>
          <a:solidFill>
            <a:srgbClr val="1A2F54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632704"/>
            <a:ext cx="548640" cy="548640"/>
          </a:xfrm>
          <a:prstGeom prst="ellipse">
            <a:avLst/>
          </a:prstGeom>
          <a:solidFill>
            <a:srgbClr val="C9A24B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5632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513832"/>
            <a:ext cx="976853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Title Deed?</a:t>
            </a:r>
            <a:endParaRPr lang="en-US" sz="1300" dirty="0"/>
          </a:p>
        </p:txBody>
      </p:sp>
      <p:pic>
        <p:nvPicPr>
          <p:cNvPr id="24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Quiz answer key</a:t>
            </a:r>
            <a:endParaRPr lang="en-US" sz="2700" dirty="0"/>
          </a:p>
        </p:txBody>
      </p:sp>
      <p:pic>
        <p:nvPicPr>
          <p:cNvPr id="3" name="Image 0" descr="assets/logo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991" y="237744"/>
            <a:ext cx="566928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737360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385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7320" y="1737360"/>
            <a:ext cx="99514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binding buyer–seller sale contract; only a licensed RERA broker generates it via Dubai REST.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640080" y="2633472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8346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17320" y="2633472"/>
            <a:ext cx="99514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No. 8 of 2007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money goes into the project's escrow account — not the developer's own account.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40080" y="3529584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30752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3529584"/>
            <a:ext cx="99514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interim off-plan register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it converts into a Title Deed at handover.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40080" y="4425696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EAF0F8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26864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4425696"/>
            <a:ext cx="99514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Reelly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(also Property Finder, Bayut, DXBinteract or Property Monitor).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40080" y="5321808"/>
            <a:ext cx="10911535" cy="768096"/>
          </a:xfrm>
          <a:prstGeom prst="roundRect">
            <a:avLst>
              <a:gd name="adj" fmla="val 1190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9AA3B2">
                <a:alpha val="40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522976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17320" y="5321808"/>
            <a:ext cx="9951415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proof of ownership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issued by DLD.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Bridges and Allies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Bridges and Allies</dc:creator>
  <cp:lastModifiedBy>Bridges and Allies</cp:lastModifiedBy>
  <cp:revision>1</cp:revision>
  <dcterms:created xsi:type="dcterms:W3CDTF">2026-06-16T13:09:47Z</dcterms:created>
  <dcterms:modified xsi:type="dcterms:W3CDTF">2026-06-16T13:09:47Z</dcterms:modified>
</cp:coreProperties>
</file>