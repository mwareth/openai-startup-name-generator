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~3-hour Day 1. Today is the inspiring part — the opportunity, who you serve, the basics of off-plan, and crucially HOW YOU EARN. The heavy rules/contracts/abbreviations come Day 2. Goal: they leave excited and clear on the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welcome. Reassure career-changers and fresh grads. Lean into team culture and the mentorship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the week. Each day ~3 hours. Today is motivational + earnings; rules and contracts come Day 2, finance Day 3, selling Day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day: belief + clarity on the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signpost. Keep energy up; promise the earnings section before the end so they stay engaged.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Conversational. Expand 'safe &amp; stable': even with regional conflict, markets just CORRECT like stocks — dips are normal and temporary; disciplined 'bulls' buy the dip and win on recovery, while escrow/DLD protect buyers.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Population is the anchor: Dubai passed 4M in 2025, added ~200,000 in one year (fastest ever), targets 5.8M by 2040 — every new resident is a future tenant/buyer. Keep figures round and trend-based.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Help them picture real clients. Most buyers are a mix of these. Knowing the motive lets you recommend the right property — we practise this on Day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of the client story: income, growth, easy payments, residency. Keep honest — yields ~6–8%, Golden Visa at AED 2M. Detail proven on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slowly. The point is the SHAPE: small to start, growth during build, income after. Always label illustrative; never promise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Off-plan is the friendliest entry for a new agent and buyer. Mechanics come Day 2 — today, the appeal. (And it pays you more — coming up.)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simple and visual. The headline for our team: off-plan = easy stages, incentives, and the developer (not the client) pays your commission.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only — the legal detail (escrow, Oqood, forms) is Day 2. Today they just need the shape of the journey so the rest makes sense.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light. Freehold = full ownership for foreigners in designated zones. Name the hot communities; the legal mechanics (title, leasehold, the official zone list) are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resale commission is 2% of the price, paid by the buyer, plus 5% VAT, settled at transfer. You earn your split of it. Off-plan is different (and better)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off-plan team's edge: the developer pays 3–6% (sometimes up to 8%), the buyer pays nothing, so it's easier to sell AND a bigger commission. Rates vary by developer/project — never quote a fixed number to a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Splits typically start ~50/50 and improve to 60/40 or 70/30 for strong performers — set in your agreement. Co-broke (two agents) is usually 50/50. Frame growth as something they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 but honest. ~AED 35k to you per off-plan deal is a mid example (e.g. 5% of 1.5M = 75k, half to you). Close 1–2 a month and the year adds up fast. Always label illustrative — no guarantees.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Goal-setting makes it concrete. Income → deals → weekly activity. Have each person privately pick a number now. We turn activity into a daily routine on Day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mindset that separates earners from the rest — and it's all within their control. Tie back to 'we rise together': the team lifts the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anchors, now including the earnings message. End warm and forward-looking.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Playful, group answers. Confidence not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— everyone should get these. End on energy and a look ahead to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554480"/>
            <a:ext cx="4754880" cy="475488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4297680"/>
            <a:ext cx="3108960" cy="3108960"/>
          </a:xfrm>
          <a:prstGeom prst="ellipse">
            <a:avLst/>
          </a:prstGeom>
          <a:solidFill>
            <a:srgbClr val="13284D"/>
          </a:solidFill>
          <a:ln/>
        </p:spPr>
      </p:sp>
      <p:pic>
        <p:nvPicPr>
          <p:cNvPr id="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256032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Dubai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4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the opportunity, and how you get paid.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800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4-day journey · from your first day to your first deal.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______________     ·     Bridges &amp; Allies — Off-Plan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You're in the right place, at the right time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64" y="2474824"/>
            <a:ext cx="399593" cy="3995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2688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experience needed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32688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train you from zero. Every expert started where you are today.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277258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97298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842" y="2474824"/>
            <a:ext cx="399593" cy="39959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69866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rise together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569866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standard. Your success is the team's success.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7914437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234477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20" y="2474824"/>
            <a:ext cx="399593" cy="39959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07045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is everything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207045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one of the world's most active markets. Grow with it.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build a great team — and we rise together.”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4-day journey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get inspired — and learn how the money works.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41107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541107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49808" y="3456432"/>
            <a:ext cx="24055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 &amp; earnings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4160520"/>
            <a:ext cx="229583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Dubai, the numbers, off-plan basics, and how you get paid.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02254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03281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303281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402254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11982" y="3456432"/>
            <a:ext cx="24055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all works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566846" y="4160520"/>
            <a:ext cx="229583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market, the players, escrow, and the paperwork behind a deal.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64428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65455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65455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164428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274156" y="3456432"/>
            <a:ext cx="24055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in detail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329020" y="4160520"/>
            <a:ext cx="229583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plans, mortgages, returns, fees and residency.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926601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827628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827628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926601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036329" y="3456432"/>
            <a:ext cx="240555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Selling &amp; closing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091193" y="4160520"/>
            <a:ext cx="229583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clients, guiding them, and confidently closing.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5321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runs about 3 hours, with a short break. Today is light — no exams.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931920"/>
            <a:ext cx="4389120" cy="438912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945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 — and your earnings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Dubai · the numbers · off-plan basics · how commissions work</a:t>
            </a:r>
            <a:endParaRPr lang="en-US" sz="1400" dirty="0"/>
          </a:p>
        </p:txBody>
      </p:sp>
      <p:pic>
        <p:nvPicPr>
          <p:cNvPr id="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at a glance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hours, with a break in the middle.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1" y="2086661"/>
            <a:ext cx="252374" cy="25237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783080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&amp; the market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278728" y="1783080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79896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028" y="2086661"/>
            <a:ext cx="252374" cy="25237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93128" y="1783080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your clients are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2862072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41248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3165653"/>
            <a:ext cx="252374" cy="2523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54480" y="2862072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for your clients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278728" y="2862072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79896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028" y="3165653"/>
            <a:ext cx="252374" cy="25237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193128" y="2862072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break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3941064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841248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1" y="4244645"/>
            <a:ext cx="252374" cy="25237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554480" y="3941064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basics &amp; the journey</a:t>
            </a:r>
            <a:endParaRPr lang="en-US" sz="1450" dirty="0"/>
          </a:p>
        </p:txBody>
      </p:sp>
      <p:sp>
        <p:nvSpPr>
          <p:cNvPr id="25" name="Shape 17"/>
          <p:cNvSpPr/>
          <p:nvPr/>
        </p:nvSpPr>
        <p:spPr>
          <a:xfrm>
            <a:off x="6278728" y="3941064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479896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8028" y="4244645"/>
            <a:ext cx="252374" cy="25237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193128" y="3941064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commissions work</a:t>
            </a:r>
            <a:endParaRPr lang="en-US" sz="1450" dirty="0"/>
          </a:p>
        </p:txBody>
      </p:sp>
      <p:sp>
        <p:nvSpPr>
          <p:cNvPr id="29" name="Shape 20"/>
          <p:cNvSpPr/>
          <p:nvPr/>
        </p:nvSpPr>
        <p:spPr>
          <a:xfrm>
            <a:off x="640080" y="5020056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30" name="Shape 21"/>
          <p:cNvSpPr/>
          <p:nvPr/>
        </p:nvSpPr>
        <p:spPr>
          <a:xfrm>
            <a:off x="841248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381" y="5323637"/>
            <a:ext cx="252374" cy="252374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1554480" y="5020056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earning potential &amp; goals</a:t>
            </a:r>
            <a:endParaRPr lang="en-US" sz="1450" dirty="0"/>
          </a:p>
        </p:txBody>
      </p:sp>
      <p:sp>
        <p:nvSpPr>
          <p:cNvPr id="33" name="Shape 23"/>
          <p:cNvSpPr/>
          <p:nvPr/>
        </p:nvSpPr>
        <p:spPr>
          <a:xfrm>
            <a:off x="6278728" y="5020056"/>
            <a:ext cx="5272888" cy="868680"/>
          </a:xfrm>
          <a:prstGeom prst="roundRect">
            <a:avLst>
              <a:gd name="adj" fmla="val 1052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6479896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8028" y="5323637"/>
            <a:ext cx="252374" cy="252374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7193128" y="5020056"/>
            <a:ext cx="41756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warm-up quiz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world buys in Dubai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reasons — with proof you can repeat to clients.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Tax-free income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tax, no annual property tax.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100% of your rent and resale profit.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&amp; stable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world's safest, best-regulated cities.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events cause short dips, then recovery — the patient win.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global hub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hours from most of the world.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nationalities; ~8 hours from two-thirds of the planet.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growth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rising demand and landmark projects.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districts keep rising — Marina, Downtown, Dubai Hills.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size of the opportunity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busiest property markets on earth.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Billions every week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Dirhams in property change hands week after week.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homes find new owners every single week.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world of buyers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come from all over the planet.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next client could be from London, Mumbai or Moscow.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building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communities and towers launch constantly.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launches from Emaar, DAMAC, Sobha &amp; Nakheel.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growing city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arrive every year — future tenants &amp; buyers.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4 million residents · ~200,000 added a year · 5.8M target by 2040.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your clients are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people, different reasons — you'll serve them all.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Investor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returns — rent and resale growth.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me the yield and the upside.”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End-User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home to live in.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me find the right place for my family.”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First-Timer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an affordable, easy entry.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can I start with on a payment plan?”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Visa Seeker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residency through property.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homes get me the Golden Visa?”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you can create for a client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promises behind every conversation.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Rental income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Well-chosen homes can earn ~6–8% a year in rent.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AED 1.5M, that's roughly AED 90k–120k a year.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while they wait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values can rise between launch and completion.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early, gain as the project is built.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 payment plans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comfortable stages during construction.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starts it — not the full price.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path to residency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AED 2,000,000 home can open a 10-year Golden Visa.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+ residency in one move.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one deal can look — illustrative, not a guarantee.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6765152" cy="3931920"/>
          </a:xfrm>
          <a:prstGeom prst="roundRect">
            <a:avLst>
              <a:gd name="adj" fmla="val 23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0120" y="2194560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apartment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119232" y="21945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1,500,000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60120" y="2944368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35808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 (≈20%)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19232" y="303580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300,000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785616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877056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growth during build*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19232" y="3877056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AED 225,000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60120" y="4626864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718304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yearly rent at ~7%*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19232" y="471830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AED 105,000 / yr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679552" y="1874520"/>
            <a:ext cx="3872063" cy="3931920"/>
          </a:xfrm>
          <a:prstGeom prst="roundRect">
            <a:avLst>
              <a:gd name="adj" fmla="val 2362"/>
            </a:avLst>
          </a:prstGeom>
          <a:solidFill>
            <a:srgbClr val="0F1F3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953872" y="21945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071" y="2416759"/>
            <a:ext cx="378562" cy="3785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908152" y="3200400"/>
            <a:ext cx="3323423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story you'll tell.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7908152" y="4069080"/>
            <a:ext cx="3323423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start, growth while it's built, and income after handover.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figures only — actual results vary and are never guaranteed.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off-plan is the easiest place to start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before completion — and why clients love it.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23962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161" y="2553919"/>
            <a:ext cx="378562" cy="378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 start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77240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 home with a deposit, not the full price.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413684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97566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765" y="2553919"/>
            <a:ext cx="378562" cy="3785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05124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in stages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550844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payment plans through construction.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87288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71170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369" y="255391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78728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can grow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324448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can rise between launch and handover.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8960891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844773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6973" y="2553919"/>
            <a:ext cx="378562" cy="3785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052331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incentives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9098051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pricing, fee deals, and developer offers.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vs ready — the simple difference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91640"/>
            <a:ext cx="5272888" cy="4114800"/>
          </a:xfrm>
          <a:prstGeom prst="roundRect">
            <a:avLst>
              <a:gd name="adj" fmla="val 2222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99" y="2233879"/>
            <a:ext cx="378562" cy="37856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74520" y="2148840"/>
            <a:ext cx="3809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005840" y="3108960"/>
            <a:ext cx="45413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before it's built.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easy stages.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prices &amp; incentives.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pays your commission.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wait for handover.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6278728" y="1691640"/>
            <a:ext cx="5272888" cy="4114800"/>
          </a:xfrm>
          <a:prstGeom prst="roundRect">
            <a:avLst>
              <a:gd name="adj" fmla="val 22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53048" y="20116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47" y="2233879"/>
            <a:ext cx="378562" cy="3785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513168" y="2148840"/>
            <a:ext cx="3809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/ secondary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6644488" y="3108960"/>
            <a:ext cx="45413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— move in or rent now.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upfront or with a mortgage.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market pricing.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pays ~2% commission.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starts immediately.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off-plan journey — at a glance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simple steps from launch to keys.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49375" y="2788920"/>
            <a:ext cx="9092946" cy="0"/>
          </a:xfrm>
          <a:prstGeom prst="line">
            <a:avLst/>
          </a:prstGeom>
          <a:noFill/>
          <a:ln w="25400">
            <a:solidFill>
              <a:srgbClr val="E4C77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7895" y="23774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37895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16357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&amp;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956484" y="23774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56484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2550109" y="3383280"/>
            <a:ext cx="16357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Reserve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(deposit)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75073" y="23774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775073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368698" y="3383280"/>
            <a:ext cx="16357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in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93662" y="23774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93662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187288" y="3383280"/>
            <a:ext cx="16357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412251" y="23774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412251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005877" y="3383280"/>
            <a:ext cx="16357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Handover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0230841" y="23774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0230841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824466" y="3383280"/>
            <a:ext cx="16357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Keys &amp;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0080" y="4572000"/>
            <a:ext cx="10911535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05840" y="4709160"/>
            <a:ext cx="101800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 picks a home at launch, pays a small reservation deposit, then pays in comfortable stages while it's built.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handover they collect the keys and the title deed.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your clients can buy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Foreigners get full ownership in Dubai's 'freehold' areas.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37360"/>
            <a:ext cx="10911535" cy="1143000"/>
          </a:xfrm>
          <a:prstGeom prst="roundRect">
            <a:avLst>
              <a:gd name="adj" fmla="val 8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938528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2136038"/>
            <a:ext cx="336499" cy="33649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4520" y="1874520"/>
            <a:ext cx="935705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Freehold = full ownership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the home and the land, for any nationality. Most of what you'll sell sits in these popular freehold communities: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320040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40080" y="320040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Marina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436544" y="320040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436544" y="320040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Downtown Dubai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33008" y="320040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6233008" y="320040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Palm Jumeirah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029471" y="320040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9029471" y="320040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JVC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40080" y="429768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640080" y="429768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Hills Estate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436544" y="429768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3436544" y="429768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Bay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33008" y="429768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233008" y="429768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Creek Harbour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9029471" y="4297680"/>
            <a:ext cx="2522144" cy="868680"/>
          </a:xfrm>
          <a:prstGeom prst="roundRect">
            <a:avLst>
              <a:gd name="adj" fmla="val 105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9029471" y="4297680"/>
            <a:ext cx="25221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Emaar South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full list of freehold zones — and how ownership is registered — comes on Day 2.)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 get paid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— the basics.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28800"/>
            <a:ext cx="4582845" cy="3840480"/>
          </a:xfrm>
          <a:prstGeom prst="roundRect">
            <a:avLst>
              <a:gd name="adj" fmla="val 2381"/>
            </a:avLst>
          </a:prstGeom>
          <a:solidFill>
            <a:srgbClr val="0F1F3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2331720"/>
            <a:ext cx="458284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2%</a:t>
            </a:r>
            <a:endParaRPr lang="en-US" sz="9000" dirty="0"/>
          </a:p>
        </p:txBody>
      </p:sp>
      <p:sp>
        <p:nvSpPr>
          <p:cNvPr id="7" name="Text 4"/>
          <p:cNvSpPr/>
          <p:nvPr/>
        </p:nvSpPr>
        <p:spPr>
          <a:xfrm>
            <a:off x="1005840" y="3703320"/>
            <a:ext cx="385132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agency commission on a resale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05840" y="4754880"/>
            <a:ext cx="385132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4C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2% of AED 1,500,000  =  AED 30,000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588685" y="1828800"/>
            <a:ext cx="5962930" cy="1143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817285" y="2075688"/>
            <a:ext cx="658368" cy="65836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044" y="2253447"/>
            <a:ext cx="302849" cy="3028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85965" y="1993392"/>
            <a:ext cx="468277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 it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685965" y="2377440"/>
            <a:ext cx="468277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resale, the buyer pays the commission (+5% VAT).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588685" y="3154680"/>
            <a:ext cx="5962930" cy="1143000"/>
          </a:xfrm>
          <a:prstGeom prst="roundRect">
            <a:avLst>
              <a:gd name="adj" fmla="val 8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817285" y="3401568"/>
            <a:ext cx="658368" cy="65836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044" y="3579327"/>
            <a:ext cx="302849" cy="30284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85965" y="3319272"/>
            <a:ext cx="468277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you're paid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685965" y="3703320"/>
            <a:ext cx="468277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deal completes and ownership transfers.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588685" y="4480560"/>
            <a:ext cx="5962930" cy="1143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817285" y="4727448"/>
            <a:ext cx="658368" cy="65836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044" y="4905207"/>
            <a:ext cx="302849" cy="30284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685965" y="4645152"/>
            <a:ext cx="468277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take home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685965" y="5029200"/>
            <a:ext cx="468277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earn your share of it — the split is next.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pays you more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off-plan, the developer pays — your client pays nothing.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10911535" cy="1371600"/>
          </a:xfrm>
          <a:prstGeom prst="roundRect">
            <a:avLst>
              <a:gd name="adj" fmla="val 6667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01168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2258568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240280" y="1920240"/>
            <a:ext cx="8991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pays the commission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usually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3–6%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price (sometimes more). Your client often pays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0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3429000"/>
            <a:ext cx="3393338" cy="1463040"/>
          </a:xfrm>
          <a:prstGeom prst="roundRect">
            <a:avLst>
              <a:gd name="adj" fmla="val 6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970989" y="370332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8500" y="3900830"/>
            <a:ext cx="336499" cy="33649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4389120"/>
            <a:ext cx="33933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to sell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731520" y="4727448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fee for the buyer to swallow.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399178" y="3429000"/>
            <a:ext cx="3393338" cy="1463040"/>
          </a:xfrm>
          <a:prstGeom prst="roundRect">
            <a:avLst>
              <a:gd name="adj" fmla="val 6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5730088" y="370332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7598" y="3900830"/>
            <a:ext cx="336499" cy="3364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399178" y="4389120"/>
            <a:ext cx="33933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payday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4490618" y="4727448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higher % on every deal you close.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8158277" y="3429000"/>
            <a:ext cx="3393338" cy="1463040"/>
          </a:xfrm>
          <a:prstGeom prst="roundRect">
            <a:avLst>
              <a:gd name="adj" fmla="val 6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489186" y="370332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696" y="3900830"/>
            <a:ext cx="336499" cy="33649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158277" y="4389120"/>
            <a:ext cx="33933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incentives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249717" y="4727448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Bonuses and rewards on hot launches.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40080" y="50749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0F1F3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5" name="Text 18"/>
          <p:cNvSpPr/>
          <p:nvPr/>
        </p:nvSpPr>
        <p:spPr>
          <a:xfrm>
            <a:off x="1005840" y="507492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 5% of AED 1,500,000  =  </a:t>
            </a:r>
            <a:pPr algn="ctr"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75,000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commission — paid by the developer.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*Commission rates vary by developer and project.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commission is shared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28800"/>
            <a:ext cx="5272888" cy="3657600"/>
          </a:xfrm>
          <a:prstGeom prst="roundRect">
            <a:avLst>
              <a:gd name="adj" fmla="val 2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819324" y="224028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212" y="2487168"/>
            <a:ext cx="420624" cy="4206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3383280"/>
            <a:ext cx="5272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&amp; the brokerage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005840" y="3931920"/>
            <a:ext cx="45413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Commonly a 50/50 split — rising toward 70/30 in your favour as you grow.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005840" y="4892040"/>
            <a:ext cx="4541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Your split improves with performance.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278728" y="1828800"/>
            <a:ext cx="5272888" cy="3657600"/>
          </a:xfrm>
          <a:prstGeom prst="roundRect">
            <a:avLst>
              <a:gd name="adj" fmla="val 25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457971" y="224028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859" y="248716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78728" y="3383280"/>
            <a:ext cx="5272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agents, one deal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644488" y="3931920"/>
            <a:ext cx="45413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another agent brings the buyer, the commission is usually split 50/50.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644488" y="4892040"/>
            <a:ext cx="4541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Team work still pays — half of more is plenty.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earning potential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your effort, your reward.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011680"/>
            <a:ext cx="356616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20116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deals / year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201168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8" name="Text 5"/>
          <p:cNvSpPr/>
          <p:nvPr/>
        </p:nvSpPr>
        <p:spPr>
          <a:xfrm>
            <a:off x="4343400" y="20116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to you / deal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863840" y="2011680"/>
            <a:ext cx="3687775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0" name="Text 7"/>
          <p:cNvSpPr/>
          <p:nvPr/>
        </p:nvSpPr>
        <p:spPr>
          <a:xfrm>
            <a:off x="8001000" y="2011680"/>
            <a:ext cx="34134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year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651760"/>
            <a:ext cx="3566160" cy="91440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6517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4206240" y="2651760"/>
            <a:ext cx="3657600" cy="91440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434340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AED 35,000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863840" y="2651760"/>
            <a:ext cx="3687775" cy="91440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6" name="Text 13"/>
          <p:cNvSpPr/>
          <p:nvPr/>
        </p:nvSpPr>
        <p:spPr>
          <a:xfrm>
            <a:off x="8001000" y="2651760"/>
            <a:ext cx="34134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210,000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3566160"/>
            <a:ext cx="3566160" cy="914400"/>
          </a:xfrm>
          <a:prstGeom prst="rect">
            <a:avLst/>
          </a:prstGeom>
          <a:solidFill>
            <a:srgbClr val="EAF0F8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661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4206240" y="3566160"/>
            <a:ext cx="3657600" cy="914400"/>
          </a:xfrm>
          <a:prstGeom prst="rect">
            <a:avLst/>
          </a:prstGeom>
          <a:solidFill>
            <a:srgbClr val="EAF0F8"/>
          </a:solidFill>
          <a:ln/>
        </p:spPr>
      </p:sp>
      <p:sp>
        <p:nvSpPr>
          <p:cNvPr id="20" name="Text 17"/>
          <p:cNvSpPr/>
          <p:nvPr/>
        </p:nvSpPr>
        <p:spPr>
          <a:xfrm>
            <a:off x="4343400" y="3566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AED 35,000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7863840" y="3566160"/>
            <a:ext cx="3687775" cy="914400"/>
          </a:xfrm>
          <a:prstGeom prst="rect">
            <a:avLst/>
          </a:prstGeom>
          <a:solidFill>
            <a:srgbClr val="EAF0F8"/>
          </a:solidFill>
          <a:ln/>
        </p:spPr>
      </p:sp>
      <p:sp>
        <p:nvSpPr>
          <p:cNvPr id="22" name="Text 19"/>
          <p:cNvSpPr/>
          <p:nvPr/>
        </p:nvSpPr>
        <p:spPr>
          <a:xfrm>
            <a:off x="8001000" y="3566160"/>
            <a:ext cx="34134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420,000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0080" y="4480560"/>
            <a:ext cx="3566160" cy="91440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4" name="Text 21"/>
          <p:cNvSpPr/>
          <p:nvPr/>
        </p:nvSpPr>
        <p:spPr>
          <a:xfrm>
            <a:off x="777240" y="4480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4206240" y="4480560"/>
            <a:ext cx="3657600" cy="91440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6" name="Text 23"/>
          <p:cNvSpPr/>
          <p:nvPr/>
        </p:nvSpPr>
        <p:spPr>
          <a:xfrm>
            <a:off x="4343400" y="44805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AED 35,000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863840" y="4480560"/>
            <a:ext cx="3687775" cy="91440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8" name="Text 25"/>
          <p:cNvSpPr/>
          <p:nvPr/>
        </p:nvSpPr>
        <p:spPr>
          <a:xfrm>
            <a:off x="8001000" y="4480560"/>
            <a:ext cx="34134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840,000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roughly one to two deals a month. *Illustrative only — not a promise of earnings.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your target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number — then work backwards.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3408578" cy="274320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32688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32688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3200400"/>
            <a:ext cx="28599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your number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3749040"/>
            <a:ext cx="285993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income you want this year. Write it down.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77258" y="1920240"/>
            <a:ext cx="3408578" cy="274320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69866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69866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51578" y="3200400"/>
            <a:ext cx="28599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 by your average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51578" y="3749040"/>
            <a:ext cx="285993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it by your commission per deal to get deals needed.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914437" y="1920240"/>
            <a:ext cx="3408578" cy="274320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07045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207045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188757" y="3200400"/>
            <a:ext cx="28599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down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188757" y="3749040"/>
            <a:ext cx="285993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deals into a weekly rhythm of viewings and follow-ups.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" y="489204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05840" y="4892040"/>
            <a:ext cx="101800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AED 500,000?  ≈ 14 deals a year  →  about one a month  →  consistent daily activity.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 great agent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requires experience — only attitude.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Hungry &amp; consistent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up daily and do the work.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beats talent, every time.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learning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projects, areas and numbers.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makes clients trust you.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&amp; client-first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 truthfully — never oversell.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today becomes referrals tomorrow.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to respond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Speed-to-lead wins deals.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to reply often wins the client.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what to remember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783080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901952"/>
            <a:ext cx="475488" cy="47548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" y="190195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00200" y="1783080"/>
            <a:ext cx="9768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picked the right market.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Safe, tax-free, global, and growing past 4 million people.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62432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41248" y="2743200"/>
            <a:ext cx="475488" cy="47548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7432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624328"/>
            <a:ext cx="9768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is huge.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trade every week — room for everyone.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3465576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41248" y="3584448"/>
            <a:ext cx="475488" cy="47548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5844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600200" y="3465576"/>
            <a:ext cx="9768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real value.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growth, easy payments and residency for clients.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306824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41248" y="4425696"/>
            <a:ext cx="475488" cy="47548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41248" y="44256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600200" y="4306824"/>
            <a:ext cx="9768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pays you best.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pays 3–6% — the client pays nothing.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514807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1248" y="5266944"/>
            <a:ext cx="475488" cy="47548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41248" y="52669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600200" y="5148072"/>
            <a:ext cx="9768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income is yours to build.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target, stay consistent, and rise with the team.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how a deal actually works — step by step.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warm-up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pressure — just to lock in today's big ideas.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6654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06654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920240"/>
            <a:ext cx="972281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reasons the world buys property in Dubai.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309067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1248" y="3090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2944368"/>
            <a:ext cx="972281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what yearly rental return can a well-chosen home earn?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3968496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11480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4114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45920" y="3968496"/>
            <a:ext cx="972281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an off-plan deal, who usually pays the commission — the client or the developer?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992624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51389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138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4992624"/>
            <a:ext cx="972281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property value can open a 10-year Golden Visa for a client?</a:t>
            </a:r>
            <a:endParaRPr lang="en-US" sz="1450" dirty="0"/>
          </a:p>
        </p:txBody>
      </p:sp>
      <p:pic>
        <p:nvPicPr>
          <p:cNvPr id="20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answers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2880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9112"/>
            <a:ext cx="402336" cy="4023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08760" y="1828800"/>
            <a:ext cx="98599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two: tax-free income, safety &amp; stability, a global hub, strong growth.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40080" y="278892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99232"/>
            <a:ext cx="402336" cy="4023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08760" y="2788920"/>
            <a:ext cx="98599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6–8% a year (varies by property and area).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640080" y="374904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59352"/>
            <a:ext cx="402336" cy="40233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08760" y="3749040"/>
            <a:ext cx="98599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pays — the client usually pays nothing.</a:t>
            </a:r>
            <a:endParaRPr lang="en-US" sz="1400" dirty="0"/>
          </a:p>
        </p:txBody>
      </p:sp>
      <p:sp>
        <p:nvSpPr>
          <p:cNvPr id="13" name="Shape 7"/>
          <p:cNvSpPr/>
          <p:nvPr/>
        </p:nvSpPr>
        <p:spPr>
          <a:xfrm>
            <a:off x="640080" y="470916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919472"/>
            <a:ext cx="402336" cy="40233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508760" y="4709160"/>
            <a:ext cx="98599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2,000,000 in property value.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work — that's Day 1. Tomorrow we make it real.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Bridges and Allies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Bridges and Allies</dc:creator>
  <cp:lastModifiedBy>Bridges and Allies</cp:lastModifiedBy>
  <cp:revision>1</cp:revision>
  <dcterms:created xsi:type="dcterms:W3CDTF">2026-06-16T12:44:52Z</dcterms:created>
  <dcterms:modified xsi:type="dcterms:W3CDTF">2026-06-16T12:44:52Z</dcterms:modified>
</cp:coreProperties>
</file>