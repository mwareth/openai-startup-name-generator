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AED bn</c:v>
                </c:pt>
              </c:strCache>
            </c:strRef>
          </c:tx>
          <c:spPr>
            <a:solidFill>
              <a:srgbClr val="C9A24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wk-4</c:v>
                  </c:pt>
                  <c:pt idx="1">
                    <c:v>wk-3</c:v>
                  </c:pt>
                  <c:pt idx="2">
                    <c:v>wk-2</c:v>
                  </c:pt>
                  <c:pt idx="3">
                    <c:v>wk-1</c:v>
                  </c:pt>
                  <c:pt idx="4">
                    <c:v>last wk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</c:v>
                </c:pt>
                <c:pt idx="1">
                  <c:v>14.7</c:v>
                </c:pt>
                <c:pt idx="2">
                  <c:v>15.2</c:v>
                </c:pt>
                <c:pt idx="3">
                  <c:v>21</c:v>
                </c:pt>
                <c:pt idx="4">
                  <c:v>11.3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E293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4748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the room warmly. This is a presenter-led, 4-day live programme. Goal: take a complete beginner to confidently running an off-plan deal end to end. Set the tone — professional, high-energy, 'we build a great team and rise together'. Swap BARE logo onto this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Reassure career-changers and fresh grads: no prior experience needed. Emphasise the mentorship model and the team-first culture. The market timing point: Dubai's scale means learning now pays off when the cycle turns. Keep it motivating, not salesy.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room through the arc. Day 1 = rules of the game; Day 2 = the mechanics and paperwork; Day 3 = the numbers; Day 4 = how to actually sell. Quizzes are low-stakes confidence checks, not exams. Encourage questions throughout.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Day 1 sets the foundation every later day depends on. By the end they'll know who regulates what, the legal path to working as an agent, and the core vocabulary.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Preview the day. Keep it brisk — this is a signpost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Anchor them in scale. Weekly transaction values swing roughly AED 10B–21B; Q1 2026 hit AED 252B (+31% YoY); 2025 was a record AED 682.5B in sales. These figures move — re-check the weekly DLD report before quoting. The point: this is a deep, liquid market with constant deal flow.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off-plan as the engine of new-launch sales. The four advantages — entry, payment plans, appreciation, incentives — are also your selling points later in Day 4. Balance: note risks too (construction, market timing) which Day 2 escrow content addresses.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Common confusion: DLD vs RERA. DLD is the parent authority; RERA is its regulatory arm. DREI trains. Trakheesi is the advertising-permit system — no permit, no advert (a hard compliance rule). Dubai REST is the app brokers actually use day to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Buyers care most about freehold — full ownership of unit and land, available to all nationalities in designated zones, and the basis for residency visas. Leasehold = long-term use right, land reverts. Almost all new off-plan you sell is freehold.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single most important takeaway: you cannot freelance — you must be sponsored by a licensed brokerage (that's us). The next four slides detail steps 2–4. Pass mark is commonly cited 75% but has shifted; confirm at registration.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Reassure new joiners: the brokerage handles sponsorship. This removes the biggest barrier people worry about. Visa + sponsorship first, certification second.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DREI is DLD's training arm. The course is ~32 hours over ~4 days, English or Arabic, attendance mandatory. Fee ~AED 2,400 (confirm current pricing). It's the prerequisite to the RERA exam.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 ~100 MCQs, pass mark commonly 75% (some sources 70%), fee ~AED 785 all-in. These move — verify at registration. Encourage them: this training maps directly onto the exam syllabus.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Once you pass, you're issued a Broker Card and a BRN — quote the BRN on forms and adverts. Trakheesi permit on every single advertisement is non-negotiable. Renew annually. First-year all-in cost is often cited ~AED 10,000–13,000 depending on setup (confirm).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vocabulary checkpoint so nobody is lost later. Don't over-explain — these each get a full slide in Day 2. Just make sure the words land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Reference slide — don't read every line. Point out the ones people mix up: MOU = Form F; Oqood = the off-plan register; Ejari is for rentals. Full definitions live in the speaker notes.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come back in Day 3 (the money) and the AML slide. LTV, DBR, EIBOR drive mortgages; KYC/AML/CFT/FIU/DNFBP are the compliance cluster — preview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serious but simple. Brokers are DNFBPs — legally obliged to do KYC, verify source of funds, monitor cash/high-value deals, register on goAML, and report suspicious transactions to the FIU. Penalties are severe. New agents: never handle a deal that feels off without escalating.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the five anchors before the quiz. Ask the room to call them back to you rather than reading them out yourself.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them 3–4 minutes. Let people discuss in pairs — it cements learning. Then reveal the answer key.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answer and expand with the rationale. If many missed one, re-teach that point briefly before moving to Day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chart" Target="/ppt/charts/chart1.xml"/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463040"/>
            <a:ext cx="4572000" cy="4572000"/>
          </a:xfrm>
          <a:prstGeom prst="ellipse">
            <a:avLst/>
          </a:prstGeom>
          <a:solidFill>
            <a:srgbClr val="1A2F54"/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4206240"/>
            <a:ext cx="3291840" cy="3291840"/>
          </a:xfrm>
          <a:prstGeom prst="ellipse">
            <a:avLst/>
          </a:prstGeom>
          <a:solidFill>
            <a:srgbClr val="13284D"/>
          </a:solidFill>
          <a:ln/>
        </p:spPr>
      </p:sp>
      <p:pic>
        <p:nvPicPr>
          <p:cNvPr id="4" name="Image 0" descr="assets/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"/>
            <a:ext cx="1325880" cy="13258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21031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BRIDGES &amp; ALLIES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48640" y="246888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Off-Plan Mastery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548640" y="35204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4C7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4-Day Agent Training Programme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548640" y="41148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E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zero to running an off-plan deal — start to finish.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59893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794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Presenter: ______________     ·     Bridges &amp; Allies — Off-Plan Team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81425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Welcome — and why this programme exists</a:t>
            </a:r>
            <a:endParaRPr lang="en-US" sz="2700" dirty="0"/>
          </a:p>
        </p:txBody>
      </p:sp>
      <p:pic>
        <p:nvPicPr>
          <p:cNvPr id="3" name="Image 0" descr="assets/logo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9279" y="219456"/>
            <a:ext cx="566928" cy="5669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737360"/>
            <a:ext cx="3515258" cy="3566160"/>
          </a:xfrm>
          <a:prstGeom prst="roundRect">
            <a:avLst>
              <a:gd name="adj" fmla="val 2341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68680" y="2103120"/>
            <a:ext cx="868680" cy="86868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537" y="2328977"/>
            <a:ext cx="416966" cy="41696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22960" y="3154680"/>
            <a:ext cx="296661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train, we don't gatekeep</a:t>
            </a:r>
            <a:endParaRPr lang="en-US" sz="1700" dirty="0"/>
          </a:p>
        </p:txBody>
      </p:sp>
      <p:sp>
        <p:nvSpPr>
          <p:cNvPr id="8" name="Text 4"/>
          <p:cNvSpPr/>
          <p:nvPr/>
        </p:nvSpPr>
        <p:spPr>
          <a:xfrm>
            <a:off x="822960" y="3886200"/>
            <a:ext cx="2966618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don't need a real estate background. We take you from zero to closing — step by step.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4246778" y="1737360"/>
            <a:ext cx="3515258" cy="3566160"/>
          </a:xfrm>
          <a:prstGeom prst="roundRect">
            <a:avLst>
              <a:gd name="adj" fmla="val 2341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4566818" y="2103120"/>
            <a:ext cx="868680" cy="86868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2675" y="2328977"/>
            <a:ext cx="416966" cy="41696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4521098" y="3154680"/>
            <a:ext cx="296661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rise together</a:t>
            </a:r>
            <a:endParaRPr lang="en-US" sz="1700" dirty="0"/>
          </a:p>
        </p:txBody>
      </p:sp>
      <p:sp>
        <p:nvSpPr>
          <p:cNvPr id="13" name="Text 8"/>
          <p:cNvSpPr/>
          <p:nvPr/>
        </p:nvSpPr>
        <p:spPr>
          <a:xfrm>
            <a:off x="4521098" y="3886200"/>
            <a:ext cx="2966618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team, shared standards. Your growth is the team's growth. We win as a unit.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7944917" y="1737360"/>
            <a:ext cx="3515258" cy="3566160"/>
          </a:xfrm>
          <a:prstGeom prst="roundRect">
            <a:avLst>
              <a:gd name="adj" fmla="val 2341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8264957" y="2103120"/>
            <a:ext cx="868680" cy="86868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0814" y="2328977"/>
            <a:ext cx="416966" cy="416966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8219237" y="3154680"/>
            <a:ext cx="296661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timing is rare</a:t>
            </a:r>
            <a:endParaRPr lang="en-US" sz="1700" dirty="0"/>
          </a:p>
        </p:txBody>
      </p:sp>
      <p:sp>
        <p:nvSpPr>
          <p:cNvPr id="18" name="Text 12"/>
          <p:cNvSpPr/>
          <p:nvPr/>
        </p:nvSpPr>
        <p:spPr>
          <a:xfrm>
            <a:off x="8219237" y="3886200"/>
            <a:ext cx="2966618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Dubai is one of the world's most active property markets. Learn now, position before the next surge.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“Make a great team that becomes rich — and rises together.”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81425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4 days work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66928" y="1078992"/>
            <a:ext cx="98142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day builds on the last — and ends with a short quiz.</a:t>
            </a:r>
            <a:endParaRPr lang="en-US" sz="1350" dirty="0"/>
          </a:p>
        </p:txBody>
      </p:sp>
      <p:pic>
        <p:nvPicPr>
          <p:cNvPr id="4" name="Image 0" descr="assets/logo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9279" y="219456"/>
            <a:ext cx="566928" cy="5669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828800"/>
            <a:ext cx="2670734" cy="3291840"/>
          </a:xfrm>
          <a:prstGeom prst="roundRect">
            <a:avLst>
              <a:gd name="adj" fmla="val 3081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472527" y="2148840"/>
            <a:ext cx="822960" cy="82296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1472527" y="21488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548640" y="3063240"/>
            <a:ext cx="267073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13232" y="3310128"/>
            <a:ext cx="234155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Foundations &amp; the rules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31520" y="3977640"/>
            <a:ext cx="230497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market, the authorities (DLD · RERA · DREI), and the path to becoming a legal broker.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356534" y="1828800"/>
            <a:ext cx="2670734" cy="3291840"/>
          </a:xfrm>
          <a:prstGeom prst="roundRect">
            <a:avLst>
              <a:gd name="adj" fmla="val 3081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280421" y="2148840"/>
            <a:ext cx="822960" cy="82296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4280421" y="21488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3356534" y="3063240"/>
            <a:ext cx="267073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3521126" y="3310128"/>
            <a:ext cx="234155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Off-plan &amp; contracts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3539414" y="3977640"/>
            <a:ext cx="230497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off-plan lifecycle, escrow, Oqood, and the RERA forms — A, B, F, I.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164428" y="1828800"/>
            <a:ext cx="2670734" cy="3291840"/>
          </a:xfrm>
          <a:prstGeom prst="roundRect">
            <a:avLst>
              <a:gd name="adj" fmla="val 3081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088315" y="2148840"/>
            <a:ext cx="822960" cy="82296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7088315" y="21488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6164428" y="3063240"/>
            <a:ext cx="267073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329020" y="3310128"/>
            <a:ext cx="234155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money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347308" y="3977640"/>
            <a:ext cx="230497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plans, mortgages &amp; LTV, the fee stack, ROI, and the Golden Visa.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972321" y="1828800"/>
            <a:ext cx="2670734" cy="3291840"/>
          </a:xfrm>
          <a:prstGeom prst="roundRect">
            <a:avLst>
              <a:gd name="adj" fmla="val 3081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896208" y="2148840"/>
            <a:ext cx="822960" cy="82296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9896208" y="21488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8972321" y="3063240"/>
            <a:ext cx="267073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9136913" y="3310128"/>
            <a:ext cx="234155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Selling &amp; closing</a:t>
            </a:r>
            <a:endParaRPr lang="en-US" sz="1500" dirty="0"/>
          </a:p>
        </p:txBody>
      </p:sp>
      <p:sp>
        <p:nvSpPr>
          <p:cNvPr id="28" name="Text 25"/>
          <p:cNvSpPr/>
          <p:nvPr/>
        </p:nvSpPr>
        <p:spPr>
          <a:xfrm>
            <a:off x="9155201" y="3977640"/>
            <a:ext cx="230497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handling, discovery, objections, closing techniques and follow-up discipline.</a:t>
            </a:r>
            <a:endParaRPr lang="en-US" sz="1150" dirty="0"/>
          </a:p>
        </p:txBody>
      </p:sp>
      <p:sp>
        <p:nvSpPr>
          <p:cNvPr id="29" name="Text 26"/>
          <p:cNvSpPr/>
          <p:nvPr/>
        </p:nvSpPr>
        <p:spPr>
          <a:xfrm>
            <a:off x="548640" y="5486400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day ends with a 5-question quiz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questions, then an answer key. Attendance and the quizzes track your readiness.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4023360"/>
            <a:ext cx="4206240" cy="4206240"/>
          </a:xfrm>
          <a:prstGeom prst="ellipse">
            <a:avLst/>
          </a:prstGeom>
          <a:solidFill>
            <a:srgbClr val="1A2F5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DAY 1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Foundations &amp; the rules of the game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40690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E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 · the authorities · becoming a legal broker · AML</a:t>
            </a:r>
            <a:endParaRPr lang="en-US" sz="1500" dirty="0"/>
          </a:p>
        </p:txBody>
      </p:sp>
      <p:pic>
        <p:nvPicPr>
          <p:cNvPr id="6" name="Image 0" descr="assets/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9279" y="219456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81425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Day 1 — agenda</a:t>
            </a:r>
            <a:endParaRPr lang="en-US" sz="2700" dirty="0"/>
          </a:p>
        </p:txBody>
      </p:sp>
      <p:pic>
        <p:nvPicPr>
          <p:cNvPr id="3" name="Image 0" descr="assets/logo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9279" y="219456"/>
            <a:ext cx="566928" cy="5669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783080"/>
            <a:ext cx="5364328" cy="868680"/>
          </a:xfrm>
          <a:prstGeom prst="roundRect">
            <a:avLst>
              <a:gd name="adj" fmla="val 9474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49808" y="1938528"/>
            <a:ext cx="548640" cy="5486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454" y="2081174"/>
            <a:ext cx="263347" cy="263347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463040" y="1783080"/>
            <a:ext cx="426704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Dubai market at a glance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6278728" y="1783080"/>
            <a:ext cx="5364328" cy="868680"/>
          </a:xfrm>
          <a:prstGeom prst="roundRect">
            <a:avLst>
              <a:gd name="adj" fmla="val 9474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479896" y="1938528"/>
            <a:ext cx="548640" cy="5486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2542" y="2081174"/>
            <a:ext cx="263347" cy="263347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193128" y="1783080"/>
            <a:ext cx="426704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off-plan?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548640" y="2862072"/>
            <a:ext cx="5364328" cy="868680"/>
          </a:xfrm>
          <a:prstGeom prst="roundRect">
            <a:avLst>
              <a:gd name="adj" fmla="val 9474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749808" y="3017520"/>
            <a:ext cx="548640" cy="5486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2454" y="3160166"/>
            <a:ext cx="263347" cy="263347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463040" y="2862072"/>
            <a:ext cx="426704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players: DLD · RERA · DREI</a:t>
            </a:r>
            <a:endParaRPr lang="en-US" sz="1500" dirty="0"/>
          </a:p>
        </p:txBody>
      </p:sp>
      <p:sp>
        <p:nvSpPr>
          <p:cNvPr id="16" name="Shape 10"/>
          <p:cNvSpPr/>
          <p:nvPr/>
        </p:nvSpPr>
        <p:spPr>
          <a:xfrm>
            <a:off x="6278728" y="2862072"/>
            <a:ext cx="5364328" cy="868680"/>
          </a:xfrm>
          <a:prstGeom prst="roundRect">
            <a:avLst>
              <a:gd name="adj" fmla="val 9474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6479896" y="3017520"/>
            <a:ext cx="548640" cy="5486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2542" y="3160166"/>
            <a:ext cx="263347" cy="263347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7193128" y="2862072"/>
            <a:ext cx="426704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Freehold vs leasehold</a:t>
            </a:r>
            <a:endParaRPr lang="en-US" sz="1500" dirty="0"/>
          </a:p>
        </p:txBody>
      </p:sp>
      <p:sp>
        <p:nvSpPr>
          <p:cNvPr id="20" name="Shape 13"/>
          <p:cNvSpPr/>
          <p:nvPr/>
        </p:nvSpPr>
        <p:spPr>
          <a:xfrm>
            <a:off x="548640" y="3941064"/>
            <a:ext cx="5364328" cy="868680"/>
          </a:xfrm>
          <a:prstGeom prst="roundRect">
            <a:avLst>
              <a:gd name="adj" fmla="val 9474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1" name="Shape 14"/>
          <p:cNvSpPr/>
          <p:nvPr/>
        </p:nvSpPr>
        <p:spPr>
          <a:xfrm>
            <a:off x="749808" y="4096512"/>
            <a:ext cx="548640" cy="5486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2454" y="4239158"/>
            <a:ext cx="263347" cy="263347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1463040" y="3941064"/>
            <a:ext cx="426704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Becoming a legal broker (the path)</a:t>
            </a:r>
            <a:endParaRPr lang="en-US" sz="1500" dirty="0"/>
          </a:p>
        </p:txBody>
      </p:sp>
      <p:sp>
        <p:nvSpPr>
          <p:cNvPr id="24" name="Shape 16"/>
          <p:cNvSpPr/>
          <p:nvPr/>
        </p:nvSpPr>
        <p:spPr>
          <a:xfrm>
            <a:off x="6278728" y="3941064"/>
            <a:ext cx="5364328" cy="868680"/>
          </a:xfrm>
          <a:prstGeom prst="roundRect">
            <a:avLst>
              <a:gd name="adj" fmla="val 9474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5" name="Shape 17"/>
          <p:cNvSpPr/>
          <p:nvPr/>
        </p:nvSpPr>
        <p:spPr>
          <a:xfrm>
            <a:off x="6479896" y="4096512"/>
            <a:ext cx="548640" cy="5486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2542" y="4239158"/>
            <a:ext cx="263347" cy="263347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7193128" y="3941064"/>
            <a:ext cx="426704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concepts &amp; glossary</a:t>
            </a:r>
            <a:endParaRPr lang="en-US" sz="1500" dirty="0"/>
          </a:p>
        </p:txBody>
      </p:sp>
      <p:sp>
        <p:nvSpPr>
          <p:cNvPr id="28" name="Shape 19"/>
          <p:cNvSpPr/>
          <p:nvPr/>
        </p:nvSpPr>
        <p:spPr>
          <a:xfrm>
            <a:off x="548640" y="5020056"/>
            <a:ext cx="5364328" cy="868680"/>
          </a:xfrm>
          <a:prstGeom prst="roundRect">
            <a:avLst>
              <a:gd name="adj" fmla="val 9474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9" name="Shape 20"/>
          <p:cNvSpPr/>
          <p:nvPr/>
        </p:nvSpPr>
        <p:spPr>
          <a:xfrm>
            <a:off x="749808" y="5175504"/>
            <a:ext cx="548640" cy="5486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3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2454" y="5318150"/>
            <a:ext cx="263347" cy="263347"/>
          </a:xfrm>
          <a:prstGeom prst="rect">
            <a:avLst/>
          </a:prstGeom>
        </p:spPr>
      </p:pic>
      <p:sp>
        <p:nvSpPr>
          <p:cNvPr id="31" name="Text 21"/>
          <p:cNvSpPr/>
          <p:nvPr/>
        </p:nvSpPr>
        <p:spPr>
          <a:xfrm>
            <a:off x="1463040" y="5020056"/>
            <a:ext cx="426704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 — what every agent must know</a:t>
            </a:r>
            <a:endParaRPr lang="en-US" sz="1500" dirty="0"/>
          </a:p>
        </p:txBody>
      </p:sp>
      <p:sp>
        <p:nvSpPr>
          <p:cNvPr id="32" name="Shape 22"/>
          <p:cNvSpPr/>
          <p:nvPr/>
        </p:nvSpPr>
        <p:spPr>
          <a:xfrm>
            <a:off x="6278728" y="5020056"/>
            <a:ext cx="5364328" cy="868680"/>
          </a:xfrm>
          <a:prstGeom prst="roundRect">
            <a:avLst>
              <a:gd name="adj" fmla="val 9474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33" name="Shape 23"/>
          <p:cNvSpPr/>
          <p:nvPr/>
        </p:nvSpPr>
        <p:spPr>
          <a:xfrm>
            <a:off x="6479896" y="5175504"/>
            <a:ext cx="548640" cy="5486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3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22542" y="5318150"/>
            <a:ext cx="263347" cy="263347"/>
          </a:xfrm>
          <a:prstGeom prst="rect">
            <a:avLst/>
          </a:prstGeom>
        </p:spPr>
      </p:pic>
      <p:sp>
        <p:nvSpPr>
          <p:cNvPr id="35" name="Text 24"/>
          <p:cNvSpPr/>
          <p:nvPr/>
        </p:nvSpPr>
        <p:spPr>
          <a:xfrm>
            <a:off x="7193128" y="5020056"/>
            <a:ext cx="426704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 &amp; Day 1 quiz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81425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Dubai market at a glance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66928" y="1078992"/>
            <a:ext cx="98142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DLD / Dubai REST weekly reports — verify weekly (figures mid-June 2026).</a:t>
            </a:r>
            <a:endParaRPr lang="en-US" sz="1350" dirty="0"/>
          </a:p>
        </p:txBody>
      </p:sp>
      <p:pic>
        <p:nvPicPr>
          <p:cNvPr id="4" name="Image 0" descr="assets/logo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9279" y="219456"/>
            <a:ext cx="566928" cy="5669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783080"/>
            <a:ext cx="3515258" cy="1737360"/>
          </a:xfrm>
          <a:prstGeom prst="roundRect">
            <a:avLst>
              <a:gd name="adj" fmla="val 4737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22960" y="2240280"/>
            <a:ext cx="777240" cy="7772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42" y="2442362"/>
            <a:ext cx="373075" cy="37307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737360" y="2103120"/>
            <a:ext cx="214365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AED 11.3B</a:t>
            </a:r>
            <a:endParaRPr lang="en-US" sz="2300" dirty="0"/>
          </a:p>
        </p:txBody>
      </p:sp>
      <p:sp>
        <p:nvSpPr>
          <p:cNvPr id="9" name="Text 5"/>
          <p:cNvSpPr/>
          <p:nvPr/>
        </p:nvSpPr>
        <p:spPr>
          <a:xfrm>
            <a:off x="1737360" y="2697480"/>
            <a:ext cx="214365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 last week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4246778" y="1783080"/>
            <a:ext cx="3515258" cy="1737360"/>
          </a:xfrm>
          <a:prstGeom prst="roundRect">
            <a:avLst>
              <a:gd name="adj" fmla="val 4737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21098" y="2240280"/>
            <a:ext cx="777240" cy="7772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3181" y="2442362"/>
            <a:ext cx="373075" cy="373075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435498" y="2103120"/>
            <a:ext cx="214365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AED 252B</a:t>
            </a:r>
            <a:endParaRPr lang="en-US" sz="2300" dirty="0"/>
          </a:p>
        </p:txBody>
      </p:sp>
      <p:sp>
        <p:nvSpPr>
          <p:cNvPr id="14" name="Text 9"/>
          <p:cNvSpPr/>
          <p:nvPr/>
        </p:nvSpPr>
        <p:spPr>
          <a:xfrm>
            <a:off x="5435498" y="2697480"/>
            <a:ext cx="214365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2026 (+31% YoY)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7944917" y="1783080"/>
            <a:ext cx="3515258" cy="1737360"/>
          </a:xfrm>
          <a:prstGeom prst="roundRect">
            <a:avLst>
              <a:gd name="adj" fmla="val 4737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219237" y="2240280"/>
            <a:ext cx="777240" cy="7772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21319" y="2442362"/>
            <a:ext cx="373075" cy="373075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133637" y="2103120"/>
            <a:ext cx="214365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AED 682.5B</a:t>
            </a:r>
            <a:endParaRPr lang="en-US" sz="2300" dirty="0"/>
          </a:p>
        </p:txBody>
      </p:sp>
      <p:sp>
        <p:nvSpPr>
          <p:cNvPr id="19" name="Text 13"/>
          <p:cNvSpPr/>
          <p:nvPr/>
        </p:nvSpPr>
        <p:spPr>
          <a:xfrm>
            <a:off x="9133637" y="2697480"/>
            <a:ext cx="214365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 sales (record year)</a:t>
            </a:r>
            <a:endParaRPr lang="en-US" sz="1250" dirty="0"/>
          </a:p>
        </p:txBody>
      </p:sp>
      <p:sp>
        <p:nvSpPr>
          <p:cNvPr id="20" name="Text 14"/>
          <p:cNvSpPr/>
          <p:nvPr/>
        </p:nvSpPr>
        <p:spPr>
          <a:xfrm>
            <a:off x="548640" y="374904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 weekly transaction value (AED bn)</a:t>
            </a:r>
            <a:endParaRPr lang="en-US" sz="13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548640" y="4114800"/>
          <a:ext cx="11094415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81425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off-plan?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66928" y="1078992"/>
            <a:ext cx="98142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buying before completion differs from ready / secondary.</a:t>
            </a:r>
            <a:endParaRPr lang="en-US" sz="1350" dirty="0"/>
          </a:p>
        </p:txBody>
      </p:sp>
      <p:pic>
        <p:nvPicPr>
          <p:cNvPr id="4" name="Image 0" descr="assets/logo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9279" y="219456"/>
            <a:ext cx="566928" cy="5669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783080"/>
            <a:ext cx="5364328" cy="1508760"/>
          </a:xfrm>
          <a:prstGeom prst="roundRect">
            <a:avLst>
              <a:gd name="adj" fmla="val 5455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4672" y="2103120"/>
            <a:ext cx="777240" cy="7772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754" y="2305202"/>
            <a:ext cx="373075" cy="37307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783080" y="2011680"/>
            <a:ext cx="39012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entry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1783080" y="2441448"/>
            <a:ext cx="3901288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upfront outlay — secure a unit with a booking deposit, not the full price.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278728" y="1783080"/>
            <a:ext cx="5364328" cy="1508760"/>
          </a:xfrm>
          <a:prstGeom prst="roundRect">
            <a:avLst>
              <a:gd name="adj" fmla="val 5455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534760" y="2103120"/>
            <a:ext cx="777240" cy="7772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6842" y="2305202"/>
            <a:ext cx="373075" cy="373075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7513168" y="2011680"/>
            <a:ext cx="39012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Payment plans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7513168" y="2441448"/>
            <a:ext cx="3901288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in stages through construction, often with post-handover tails (1–5 yrs).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548640" y="3474720"/>
            <a:ext cx="5364328" cy="1508760"/>
          </a:xfrm>
          <a:prstGeom prst="roundRect">
            <a:avLst>
              <a:gd name="adj" fmla="val 5455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04672" y="3794760"/>
            <a:ext cx="777240" cy="7772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6754" y="3996842"/>
            <a:ext cx="373075" cy="373075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783080" y="3703320"/>
            <a:ext cx="39012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Appreciation during build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1783080" y="4133088"/>
            <a:ext cx="3901288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can rise between launch and handover as the project completes.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6278728" y="3474720"/>
            <a:ext cx="5364328" cy="1508760"/>
          </a:xfrm>
          <a:prstGeom prst="roundRect">
            <a:avLst>
              <a:gd name="adj" fmla="val 5455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534760" y="3794760"/>
            <a:ext cx="777240" cy="7772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6842" y="3996842"/>
            <a:ext cx="373075" cy="373075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7513168" y="3703320"/>
            <a:ext cx="39012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Developer incentives</a:t>
            </a:r>
            <a:endParaRPr lang="en-US" sz="1600" dirty="0"/>
          </a:p>
        </p:txBody>
      </p:sp>
      <p:sp>
        <p:nvSpPr>
          <p:cNvPr id="24" name="Text 17"/>
          <p:cNvSpPr/>
          <p:nvPr/>
        </p:nvSpPr>
        <p:spPr>
          <a:xfrm>
            <a:off x="7513168" y="4133088"/>
            <a:ext cx="3901288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Waived fees, DLD-fee deals, furnishing packages and launch pricing.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81425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players — who does what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66928" y="1078992"/>
            <a:ext cx="98142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the difference; clients will test you on it.</a:t>
            </a:r>
            <a:endParaRPr lang="en-US" sz="1350" dirty="0"/>
          </a:p>
        </p:txBody>
      </p:sp>
      <p:pic>
        <p:nvPicPr>
          <p:cNvPr id="4" name="Image 0" descr="assets/logo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9279" y="219456"/>
            <a:ext cx="566928" cy="5669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783080"/>
            <a:ext cx="3515258" cy="2743200"/>
          </a:xfrm>
          <a:prstGeom prst="roundRect">
            <a:avLst>
              <a:gd name="adj" fmla="val 300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867357" y="2103120"/>
            <a:ext cx="868680" cy="86868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3214" y="2328977"/>
            <a:ext cx="416966" cy="41696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48640" y="3108960"/>
            <a:ext cx="351525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DLD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777240" y="3611880"/>
            <a:ext cx="305805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Dubai Land Department — the overarching authority that registers and regulates all property and transactions.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4246778" y="1783080"/>
            <a:ext cx="3515258" cy="2743200"/>
          </a:xfrm>
          <a:prstGeom prst="roundRect">
            <a:avLst>
              <a:gd name="adj" fmla="val 300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565496" y="2103120"/>
            <a:ext cx="868680" cy="86868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1352" y="2328977"/>
            <a:ext cx="416966" cy="416966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246778" y="3108960"/>
            <a:ext cx="351525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RERA</a:t>
            </a:r>
            <a:endParaRPr lang="en-US" sz="2200" dirty="0"/>
          </a:p>
        </p:txBody>
      </p:sp>
      <p:sp>
        <p:nvSpPr>
          <p:cNvPr id="14" name="Text 9"/>
          <p:cNvSpPr/>
          <p:nvPr/>
        </p:nvSpPr>
        <p:spPr>
          <a:xfrm>
            <a:off x="4475378" y="3611880"/>
            <a:ext cx="305805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Estate Regulatory Agency — the regulatory arm of DLD: licenses brokers, sets conduct, oversees escrow.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7944917" y="1783080"/>
            <a:ext cx="3515258" cy="2743200"/>
          </a:xfrm>
          <a:prstGeom prst="roundRect">
            <a:avLst>
              <a:gd name="adj" fmla="val 300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9263634" y="2103120"/>
            <a:ext cx="868680" cy="86868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9491" y="2328977"/>
            <a:ext cx="416966" cy="416966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7944917" y="3108960"/>
            <a:ext cx="351525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DREI</a:t>
            </a:r>
            <a:endParaRPr lang="en-US" sz="2200" dirty="0"/>
          </a:p>
        </p:txBody>
      </p:sp>
      <p:sp>
        <p:nvSpPr>
          <p:cNvPr id="19" name="Text 13"/>
          <p:cNvSpPr/>
          <p:nvPr/>
        </p:nvSpPr>
        <p:spPr>
          <a:xfrm>
            <a:off x="8173517" y="3611880"/>
            <a:ext cx="305805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Dubai Real Estate Institute — DLD's training arm; runs the broker certification course.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548640" y="4800600"/>
            <a:ext cx="11094415" cy="1280160"/>
          </a:xfrm>
          <a:prstGeom prst="roundRect">
            <a:avLst>
              <a:gd name="adj" fmla="val 6429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822960" y="5029200"/>
            <a:ext cx="777240" cy="7772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5042" y="5231282"/>
            <a:ext cx="373075" cy="373075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783080" y="5029200"/>
            <a:ext cx="95399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Trakheesi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DLD's permit system: every advert carries a Trakheesi permit number.    </a:t>
            </a:r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Dubai REST / Dubai Brokers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official DLD apps where brokers generate forms &amp; access services.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81425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Freehold vs leasehold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66928" y="1078992"/>
            <a:ext cx="98142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foreign buyers can own — and what they own.</a:t>
            </a:r>
            <a:endParaRPr lang="en-US" sz="1350" dirty="0"/>
          </a:p>
        </p:txBody>
      </p:sp>
      <p:pic>
        <p:nvPicPr>
          <p:cNvPr id="4" name="Image 0" descr="assets/logo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9279" y="219456"/>
            <a:ext cx="566928" cy="5669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783080"/>
            <a:ext cx="5364328" cy="4023360"/>
          </a:xfrm>
          <a:prstGeom prst="roundRect">
            <a:avLst>
              <a:gd name="adj" fmla="val 2045"/>
            </a:avLst>
          </a:prstGeom>
          <a:solidFill>
            <a:srgbClr val="FFF7E6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22960" y="2103120"/>
            <a:ext cx="822960" cy="82296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930" y="2317090"/>
            <a:ext cx="395021" cy="395021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783080" y="2240280"/>
            <a:ext cx="39012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Freehold</a:t>
            </a:r>
            <a:endParaRPr lang="en-US" sz="2100" dirty="0"/>
          </a:p>
        </p:txBody>
      </p:sp>
      <p:sp>
        <p:nvSpPr>
          <p:cNvPr id="9" name="Text 5"/>
          <p:cNvSpPr/>
          <p:nvPr/>
        </p:nvSpPr>
        <p:spPr>
          <a:xfrm>
            <a:off x="868680" y="3246120"/>
            <a:ext cx="4724248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12000"/>
              </a:lnSpc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ownership of the unit AND the land, in perpetuity.</a:t>
            </a:r>
            <a:endParaRPr lang="en-US" sz="1300" dirty="0"/>
          </a:p>
          <a:p>
            <a:pPr marL="177800" indent="-177800">
              <a:lnSpc>
                <a:spcPct val="112000"/>
              </a:lnSpc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to all nationalities in designated freehold zones.</a:t>
            </a:r>
            <a:endParaRPr lang="en-US" sz="1300" dirty="0"/>
          </a:p>
          <a:p>
            <a:pPr marL="177800" indent="-177800">
              <a:lnSpc>
                <a:spcPct val="112000"/>
              </a:lnSpc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sell, lease, or pass on freely; qualifies for residency visas.</a:t>
            </a:r>
            <a:endParaRPr lang="en-US" sz="1300" dirty="0"/>
          </a:p>
          <a:p>
            <a:pPr marL="177800" indent="-177800">
              <a:lnSpc>
                <a:spcPct val="112000"/>
              </a:lnSpc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off-plan you'll sell sits in freehold areas.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6278728" y="1783080"/>
            <a:ext cx="5364328" cy="4023360"/>
          </a:xfrm>
          <a:prstGeom prst="roundRect">
            <a:avLst>
              <a:gd name="adj" fmla="val 2045"/>
            </a:avLst>
          </a:prstGeom>
          <a:solidFill>
            <a:srgbClr val="EEF3F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553048" y="2103120"/>
            <a:ext cx="822960" cy="82296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7017" y="2317090"/>
            <a:ext cx="395021" cy="395021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7513168" y="2240280"/>
            <a:ext cx="39012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Leasehold</a:t>
            </a:r>
            <a:endParaRPr lang="en-US" sz="2100" dirty="0"/>
          </a:p>
        </p:txBody>
      </p:sp>
      <p:sp>
        <p:nvSpPr>
          <p:cNvPr id="14" name="Text 9"/>
          <p:cNvSpPr/>
          <p:nvPr/>
        </p:nvSpPr>
        <p:spPr>
          <a:xfrm>
            <a:off x="6598768" y="3246120"/>
            <a:ext cx="4724248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12000"/>
              </a:lnSpc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to use the property for a long term (commonly up to 99 years).</a:t>
            </a:r>
            <a:endParaRPr lang="en-US" sz="1300" dirty="0"/>
          </a:p>
          <a:p>
            <a:pPr marL="177800" indent="-177800">
              <a:lnSpc>
                <a:spcPct val="112000"/>
              </a:lnSpc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stays with the freeholder; reverts at lease end.</a:t>
            </a:r>
            <a:endParaRPr lang="en-US" sz="1300" dirty="0"/>
          </a:p>
          <a:p>
            <a:pPr marL="177800" indent="-177800">
              <a:lnSpc>
                <a:spcPct val="112000"/>
              </a:lnSpc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in select older / non-freehold districts.</a:t>
            </a:r>
            <a:endParaRPr lang="en-US" sz="1300" dirty="0"/>
          </a:p>
          <a:p>
            <a:pPr marL="177800" indent="-177800">
              <a:lnSpc>
                <a:spcPct val="112000"/>
              </a:lnSpc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common for new off-plan launches.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81425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Becoming a legal broker — the path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66928" y="1078992"/>
            <a:ext cx="98142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steps. There is no individual/freelance broker licence in Dubai.</a:t>
            </a:r>
            <a:endParaRPr lang="en-US" sz="1350" dirty="0"/>
          </a:p>
        </p:txBody>
      </p:sp>
      <p:pic>
        <p:nvPicPr>
          <p:cNvPr id="4" name="Image 0" descr="assets/logo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9279" y="219456"/>
            <a:ext cx="566928" cy="5669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783080"/>
            <a:ext cx="5364328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49808" y="2029968"/>
            <a:ext cx="621792" cy="621792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49808" y="2029968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508760" y="1783080"/>
            <a:ext cx="4221328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a UAE residency visa, sponsored by a licensed brokerage.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78728" y="1783080"/>
            <a:ext cx="5364328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79896" y="2029968"/>
            <a:ext cx="621792" cy="621792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479896" y="2029968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238848" y="1783080"/>
            <a:ext cx="4221328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broker training course at DREI (~4 days / 32 hours).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48640" y="3108960"/>
            <a:ext cx="5364328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749808" y="3355848"/>
            <a:ext cx="621792" cy="621792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749808" y="3355848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508760" y="3108960"/>
            <a:ext cx="4221328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the RERA exam (~100 questions; pass mark ~75% — confirm).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6278728" y="3108960"/>
            <a:ext cx="5364328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79896" y="3355848"/>
            <a:ext cx="621792" cy="621792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6479896" y="3355848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7238848" y="3108960"/>
            <a:ext cx="4221328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 your Broker Card + BRN (Broker Registration Number).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548640" y="4434840"/>
            <a:ext cx="5364328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49808" y="4681728"/>
            <a:ext cx="621792" cy="621792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749808" y="4681728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1508760" y="4434840"/>
            <a:ext cx="4221328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 the licence annually via DLD.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6278728" y="4434840"/>
            <a:ext cx="5364328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479896" y="4681728"/>
            <a:ext cx="621792" cy="621792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6479896" y="4681728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28" name="Text 25"/>
          <p:cNvSpPr/>
          <p:nvPr/>
        </p:nvSpPr>
        <p:spPr>
          <a:xfrm>
            <a:off x="7238848" y="4434840"/>
            <a:ext cx="4221328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advert must carry a valid Trakheesi permit number.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81425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 — Residency + brokerage sponsorship</a:t>
            </a:r>
            <a:endParaRPr lang="en-US" sz="2700" dirty="0"/>
          </a:p>
        </p:txBody>
      </p:sp>
      <p:pic>
        <p:nvPicPr>
          <p:cNvPr id="3" name="Image 0" descr="assets/logo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9279" y="219456"/>
            <a:ext cx="566928" cy="5669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783080"/>
            <a:ext cx="11094415" cy="1828800"/>
          </a:xfrm>
          <a:prstGeom prst="roundRect">
            <a:avLst>
              <a:gd name="adj" fmla="val 4500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68680" y="2057400"/>
            <a:ext cx="914400" cy="91440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" y="2295144"/>
            <a:ext cx="438912" cy="43891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2103120" y="2011680"/>
            <a:ext cx="92656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freelance / individual broker licence exists in Dubai.</a:t>
            </a:r>
            <a:endParaRPr lang="en-US" sz="1800" dirty="0"/>
          </a:p>
        </p:txBody>
      </p:sp>
      <p:sp>
        <p:nvSpPr>
          <p:cNvPr id="8" name="Text 4"/>
          <p:cNvSpPr/>
          <p:nvPr/>
        </p:nvSpPr>
        <p:spPr>
          <a:xfrm>
            <a:off x="2103120" y="2514600"/>
            <a:ext cx="926561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must hold a valid UAE residency visa and be employed/sponsored by a RERA-licensed brokerage. That sponsorship is what makes you eligible to be carded.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548640" y="3886200"/>
            <a:ext cx="5364328" cy="1828800"/>
          </a:xfrm>
          <a:prstGeom prst="roundRect">
            <a:avLst>
              <a:gd name="adj" fmla="val 450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822960" y="4206240"/>
            <a:ext cx="731520" cy="73152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155" y="4396435"/>
            <a:ext cx="351130" cy="35113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737360" y="4206240"/>
            <a:ext cx="39927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sponsor you</a:t>
            </a:r>
            <a:endParaRPr lang="en-US" sz="1600" dirty="0"/>
          </a:p>
        </p:txBody>
      </p:sp>
      <p:sp>
        <p:nvSpPr>
          <p:cNvPr id="13" name="Text 8"/>
          <p:cNvSpPr/>
          <p:nvPr/>
        </p:nvSpPr>
        <p:spPr>
          <a:xfrm>
            <a:off x="1737360" y="4709160"/>
            <a:ext cx="399272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your licensed brokerage, Bridges &amp; Allies provides the sponsorship and visa pathway.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6278728" y="3886200"/>
            <a:ext cx="5364328" cy="1828800"/>
          </a:xfrm>
          <a:prstGeom prst="roundRect">
            <a:avLst>
              <a:gd name="adj" fmla="val 450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6553048" y="4206240"/>
            <a:ext cx="731520" cy="73152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3243" y="4396435"/>
            <a:ext cx="351130" cy="35113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7467448" y="4206240"/>
            <a:ext cx="39927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Then you certify</a:t>
            </a:r>
            <a:endParaRPr lang="en-US" sz="1600" dirty="0"/>
          </a:p>
        </p:txBody>
      </p:sp>
      <p:sp>
        <p:nvSpPr>
          <p:cNvPr id="18" name="Text 12"/>
          <p:cNvSpPr/>
          <p:nvPr/>
        </p:nvSpPr>
        <p:spPr>
          <a:xfrm>
            <a:off x="7467448" y="4709160"/>
            <a:ext cx="399272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sponsorship in place, you move to the DREI course and RERA exam.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81425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 — Broker training at DREI</a:t>
            </a:r>
            <a:endParaRPr lang="en-US" sz="2700" dirty="0"/>
          </a:p>
        </p:txBody>
      </p:sp>
      <p:pic>
        <p:nvPicPr>
          <p:cNvPr id="3" name="Image 0" descr="assets/logo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9279" y="219456"/>
            <a:ext cx="566928" cy="5669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783080"/>
            <a:ext cx="11094415" cy="2103120"/>
          </a:xfrm>
          <a:prstGeom prst="roundRect">
            <a:avLst>
              <a:gd name="adj" fmla="val 3913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14400" y="2240280"/>
            <a:ext cx="1005840" cy="10058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5918" y="2501798"/>
            <a:ext cx="482803" cy="48280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2286000" y="2057400"/>
            <a:ext cx="908273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Certified broker training course</a:t>
            </a:r>
            <a:endParaRPr lang="en-US" sz="2000" dirty="0"/>
          </a:p>
        </p:txBody>
      </p:sp>
      <p:sp>
        <p:nvSpPr>
          <p:cNvPr id="8" name="Text 4"/>
          <p:cNvSpPr/>
          <p:nvPr/>
        </p:nvSpPr>
        <p:spPr>
          <a:xfrm>
            <a:off x="2286000" y="2606040"/>
            <a:ext cx="908273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lnSpc>
                <a:spcPct val="1120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 days · 32 hours of instruction.</a:t>
            </a:r>
            <a:endParaRPr lang="en-US" sz="1350" dirty="0"/>
          </a:p>
          <a:p>
            <a:pPr marL="177800" indent="-177800">
              <a:lnSpc>
                <a:spcPct val="1120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in English or Arabic.</a:t>
            </a:r>
            <a:endParaRPr lang="en-US" sz="1350" dirty="0"/>
          </a:p>
          <a:p>
            <a:pPr marL="177800" indent="-177800">
              <a:lnSpc>
                <a:spcPct val="1120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is mandatory to be eligible to sit the RERA exam.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548640" y="4160520"/>
            <a:ext cx="3515258" cy="1645920"/>
          </a:xfrm>
          <a:prstGeom prst="roundRect">
            <a:avLst>
              <a:gd name="adj" fmla="val 5000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1940509" y="4434840"/>
            <a:ext cx="731520" cy="73152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0704" y="4625035"/>
            <a:ext cx="351130" cy="35113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548640" y="5212080"/>
            <a:ext cx="35152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fee</a:t>
            </a:r>
            <a:endParaRPr lang="en-US" sz="1150" dirty="0"/>
          </a:p>
        </p:txBody>
      </p:sp>
      <p:sp>
        <p:nvSpPr>
          <p:cNvPr id="13" name="Text 8"/>
          <p:cNvSpPr/>
          <p:nvPr/>
        </p:nvSpPr>
        <p:spPr>
          <a:xfrm>
            <a:off x="548640" y="5440680"/>
            <a:ext cx="351525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~AED 2,400 (typical)</a:t>
            </a:r>
            <a:endParaRPr lang="en-US" sz="1350" dirty="0"/>
          </a:p>
        </p:txBody>
      </p:sp>
      <p:sp>
        <p:nvSpPr>
          <p:cNvPr id="14" name="Shape 9"/>
          <p:cNvSpPr/>
          <p:nvPr/>
        </p:nvSpPr>
        <p:spPr>
          <a:xfrm>
            <a:off x="4246778" y="4160520"/>
            <a:ext cx="3515258" cy="1645920"/>
          </a:xfrm>
          <a:prstGeom prst="roundRect">
            <a:avLst>
              <a:gd name="adj" fmla="val 5000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5638648" y="4434840"/>
            <a:ext cx="731520" cy="73152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8843" y="4625035"/>
            <a:ext cx="351130" cy="35113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246778" y="5212080"/>
            <a:ext cx="35152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</a:t>
            </a:r>
            <a:endParaRPr lang="en-US" sz="1150" dirty="0"/>
          </a:p>
        </p:txBody>
      </p:sp>
      <p:sp>
        <p:nvSpPr>
          <p:cNvPr id="18" name="Text 12"/>
          <p:cNvSpPr/>
          <p:nvPr/>
        </p:nvSpPr>
        <p:spPr>
          <a:xfrm>
            <a:off x="4246778" y="5440680"/>
            <a:ext cx="351525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Classroom / instructor-led</a:t>
            </a:r>
            <a:endParaRPr lang="en-US" sz="1350" dirty="0"/>
          </a:p>
        </p:txBody>
      </p:sp>
      <p:sp>
        <p:nvSpPr>
          <p:cNvPr id="19" name="Shape 13"/>
          <p:cNvSpPr/>
          <p:nvPr/>
        </p:nvSpPr>
        <p:spPr>
          <a:xfrm>
            <a:off x="7944917" y="4160520"/>
            <a:ext cx="3515258" cy="1645920"/>
          </a:xfrm>
          <a:prstGeom prst="roundRect">
            <a:avLst>
              <a:gd name="adj" fmla="val 5000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0" name="Shape 14"/>
          <p:cNvSpPr/>
          <p:nvPr/>
        </p:nvSpPr>
        <p:spPr>
          <a:xfrm>
            <a:off x="9336786" y="4434840"/>
            <a:ext cx="731520" cy="73152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6981" y="4625035"/>
            <a:ext cx="351130" cy="35113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7944917" y="5212080"/>
            <a:ext cx="35152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</a:t>
            </a:r>
            <a:endParaRPr lang="en-US" sz="1150" dirty="0"/>
          </a:p>
        </p:txBody>
      </p:sp>
      <p:sp>
        <p:nvSpPr>
          <p:cNvPr id="23" name="Text 16"/>
          <p:cNvSpPr/>
          <p:nvPr/>
        </p:nvSpPr>
        <p:spPr>
          <a:xfrm>
            <a:off x="7944917" y="5440680"/>
            <a:ext cx="351525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Eligibility to sit the exam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81425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3 — The RERA exam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66928" y="1078992"/>
            <a:ext cx="98142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shift — confirm current values when you register.</a:t>
            </a:r>
            <a:endParaRPr lang="en-US" sz="1350" dirty="0"/>
          </a:p>
        </p:txBody>
      </p:sp>
      <p:pic>
        <p:nvPicPr>
          <p:cNvPr id="4" name="Image 0" descr="assets/logo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9279" y="219456"/>
            <a:ext cx="566928" cy="5669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783080"/>
            <a:ext cx="2670734" cy="2651760"/>
          </a:xfrm>
          <a:prstGeom prst="roundRect">
            <a:avLst>
              <a:gd name="adj" fmla="val 3103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472527" y="2103120"/>
            <a:ext cx="822960" cy="82296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6497" y="2317090"/>
            <a:ext cx="395021" cy="395021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48640" y="3108960"/>
            <a:ext cx="267073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</a:t>
            </a:r>
            <a:endParaRPr lang="en-US" sz="1150" dirty="0"/>
          </a:p>
        </p:txBody>
      </p:sp>
      <p:sp>
        <p:nvSpPr>
          <p:cNvPr id="9" name="Text 5"/>
          <p:cNvSpPr/>
          <p:nvPr/>
        </p:nvSpPr>
        <p:spPr>
          <a:xfrm>
            <a:off x="658368" y="3383280"/>
            <a:ext cx="245127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~100 multiple-choice questions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3356534" y="1783080"/>
            <a:ext cx="2670734" cy="2651760"/>
          </a:xfrm>
          <a:prstGeom prst="roundRect">
            <a:avLst>
              <a:gd name="adj" fmla="val 3103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280421" y="2103120"/>
            <a:ext cx="822960" cy="82296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4390" y="2317090"/>
            <a:ext cx="395021" cy="395021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356534" y="3108960"/>
            <a:ext cx="267073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mark</a:t>
            </a:r>
            <a:endParaRPr lang="en-US" sz="1150" dirty="0"/>
          </a:p>
        </p:txBody>
      </p:sp>
      <p:sp>
        <p:nvSpPr>
          <p:cNvPr id="14" name="Text 9"/>
          <p:cNvSpPr/>
          <p:nvPr/>
        </p:nvSpPr>
        <p:spPr>
          <a:xfrm>
            <a:off x="3466262" y="3383280"/>
            <a:ext cx="245127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~75% (cited 70–75%) — confirm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6164428" y="1783080"/>
            <a:ext cx="2670734" cy="2651760"/>
          </a:xfrm>
          <a:prstGeom prst="roundRect">
            <a:avLst>
              <a:gd name="adj" fmla="val 3103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7088315" y="2103120"/>
            <a:ext cx="822960" cy="82296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02284" y="2317090"/>
            <a:ext cx="395021" cy="395021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164428" y="3108960"/>
            <a:ext cx="267073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fee</a:t>
            </a:r>
            <a:endParaRPr lang="en-US" sz="1150" dirty="0"/>
          </a:p>
        </p:txBody>
      </p:sp>
      <p:sp>
        <p:nvSpPr>
          <p:cNvPr id="19" name="Text 13"/>
          <p:cNvSpPr/>
          <p:nvPr/>
        </p:nvSpPr>
        <p:spPr>
          <a:xfrm>
            <a:off x="6274156" y="3383280"/>
            <a:ext cx="245127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~AED 785 (incl. add-on fees)</a:t>
            </a:r>
            <a:endParaRPr lang="en-US" sz="1400" dirty="0"/>
          </a:p>
        </p:txBody>
      </p:sp>
      <p:sp>
        <p:nvSpPr>
          <p:cNvPr id="20" name="Shape 14"/>
          <p:cNvSpPr/>
          <p:nvPr/>
        </p:nvSpPr>
        <p:spPr>
          <a:xfrm>
            <a:off x="8972321" y="1783080"/>
            <a:ext cx="2670734" cy="2651760"/>
          </a:xfrm>
          <a:prstGeom prst="roundRect">
            <a:avLst>
              <a:gd name="adj" fmla="val 3103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9896208" y="2103120"/>
            <a:ext cx="822960" cy="82296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10178" y="2317090"/>
            <a:ext cx="395021" cy="395021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8972321" y="3108960"/>
            <a:ext cx="267073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150" dirty="0"/>
          </a:p>
        </p:txBody>
      </p:sp>
      <p:sp>
        <p:nvSpPr>
          <p:cNvPr id="24" name="Text 17"/>
          <p:cNvSpPr/>
          <p:nvPr/>
        </p:nvSpPr>
        <p:spPr>
          <a:xfrm>
            <a:off x="9082049" y="3383280"/>
            <a:ext cx="245127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Eligible for your Broker Card</a:t>
            </a:r>
            <a:endParaRPr lang="en-US" sz="1400" dirty="0"/>
          </a:p>
        </p:txBody>
      </p:sp>
      <p:sp>
        <p:nvSpPr>
          <p:cNvPr id="25" name="Shape 18"/>
          <p:cNvSpPr/>
          <p:nvPr/>
        </p:nvSpPr>
        <p:spPr>
          <a:xfrm>
            <a:off x="548640" y="4754880"/>
            <a:ext cx="11094415" cy="1325880"/>
          </a:xfrm>
          <a:prstGeom prst="roundRect">
            <a:avLst>
              <a:gd name="adj" fmla="val 6207"/>
            </a:avLst>
          </a:prstGeom>
          <a:solidFill>
            <a:srgbClr val="FFF7E6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822960" y="4983480"/>
            <a:ext cx="777240" cy="7772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5042" y="5185562"/>
            <a:ext cx="373075" cy="373075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1783080" y="4937760"/>
            <a:ext cx="953993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tip: the exam leans on the regulatory content in this very programme — forms, escrow, fees, and the authorities. Know Days 1–3 cold and you're most of the way there.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81425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4 — Broker Card, BRN &amp; staying licensed</a:t>
            </a:r>
            <a:endParaRPr lang="en-US" sz="2700" dirty="0"/>
          </a:p>
        </p:txBody>
      </p:sp>
      <p:pic>
        <p:nvPicPr>
          <p:cNvPr id="3" name="Image 0" descr="assets/logo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9279" y="219456"/>
            <a:ext cx="566928" cy="5669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783080"/>
            <a:ext cx="5364328" cy="1508760"/>
          </a:xfrm>
          <a:prstGeom prst="roundRect">
            <a:avLst>
              <a:gd name="adj" fmla="val 5455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04672" y="2103120"/>
            <a:ext cx="777240" cy="7772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754" y="2305202"/>
            <a:ext cx="373075" cy="373075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783080" y="2039112"/>
            <a:ext cx="39012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Broker Card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1783080" y="2468880"/>
            <a:ext cx="3901288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official licence to operate as an agent in Dubai.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6278728" y="1783080"/>
            <a:ext cx="5364328" cy="1508760"/>
          </a:xfrm>
          <a:prstGeom prst="roundRect">
            <a:avLst>
              <a:gd name="adj" fmla="val 5455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6534760" y="2103120"/>
            <a:ext cx="777240" cy="7772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6842" y="2305202"/>
            <a:ext cx="373075" cy="373075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7513168" y="2039112"/>
            <a:ext cx="39012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BRN</a:t>
            </a:r>
            <a:endParaRPr lang="en-US" sz="1600" dirty="0"/>
          </a:p>
        </p:txBody>
      </p:sp>
      <p:sp>
        <p:nvSpPr>
          <p:cNvPr id="13" name="Text 8"/>
          <p:cNvSpPr/>
          <p:nvPr/>
        </p:nvSpPr>
        <p:spPr>
          <a:xfrm>
            <a:off x="7513168" y="2468880"/>
            <a:ext cx="3901288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Broker Registration Number — your unique ID on every deal &amp; form.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548640" y="3474720"/>
            <a:ext cx="5364328" cy="1508760"/>
          </a:xfrm>
          <a:prstGeom prst="roundRect">
            <a:avLst>
              <a:gd name="adj" fmla="val 5455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804672" y="3794760"/>
            <a:ext cx="777240" cy="7772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6754" y="3996842"/>
            <a:ext cx="373075" cy="373075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783080" y="3730752"/>
            <a:ext cx="39012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Trakheesi on every ad</a:t>
            </a:r>
            <a:endParaRPr lang="en-US" sz="1600" dirty="0"/>
          </a:p>
        </p:txBody>
      </p:sp>
      <p:sp>
        <p:nvSpPr>
          <p:cNvPr id="18" name="Text 12"/>
          <p:cNvSpPr/>
          <p:nvPr/>
        </p:nvSpPr>
        <p:spPr>
          <a:xfrm>
            <a:off x="1783080" y="4160520"/>
            <a:ext cx="3901288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advert goes live without a valid Trakheesi permit number.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6278728" y="3474720"/>
            <a:ext cx="5364328" cy="1508760"/>
          </a:xfrm>
          <a:prstGeom prst="roundRect">
            <a:avLst>
              <a:gd name="adj" fmla="val 5455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0" name="Shape 14"/>
          <p:cNvSpPr/>
          <p:nvPr/>
        </p:nvSpPr>
        <p:spPr>
          <a:xfrm>
            <a:off x="6534760" y="3794760"/>
            <a:ext cx="777240" cy="7772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6842" y="3996842"/>
            <a:ext cx="373075" cy="373075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7513168" y="3730752"/>
            <a:ext cx="39012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Renew annually</a:t>
            </a:r>
            <a:endParaRPr lang="en-US" sz="1600" dirty="0"/>
          </a:p>
        </p:txBody>
      </p:sp>
      <p:sp>
        <p:nvSpPr>
          <p:cNvPr id="23" name="Text 16"/>
          <p:cNvSpPr/>
          <p:nvPr/>
        </p:nvSpPr>
        <p:spPr>
          <a:xfrm>
            <a:off x="7513168" y="4160520"/>
            <a:ext cx="3901288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licence is renewed each year via DLD to stay active.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81425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concepts — quick primer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66928" y="1078992"/>
            <a:ext cx="98142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go deep on these in Days 2–3; lock the meaning now.</a:t>
            </a:r>
            <a:endParaRPr lang="en-US" sz="1350" dirty="0"/>
          </a:p>
        </p:txBody>
      </p:sp>
      <p:pic>
        <p:nvPicPr>
          <p:cNvPr id="4" name="Image 0" descr="assets/logo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9279" y="219456"/>
            <a:ext cx="566928" cy="5669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783080"/>
            <a:ext cx="3576218" cy="1828800"/>
          </a:xfrm>
          <a:prstGeom prst="roundRect">
            <a:avLst>
              <a:gd name="adj" fmla="val 450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77240" y="2057400"/>
            <a:ext cx="731520" cy="73152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435" y="2247595"/>
            <a:ext cx="351130" cy="35113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645920" y="2194560"/>
            <a:ext cx="229605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Freehold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804672" y="2880360"/>
            <a:ext cx="306415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ownership of unit + land, in designated zones.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4307738" y="1783080"/>
            <a:ext cx="3576218" cy="1828800"/>
          </a:xfrm>
          <a:prstGeom prst="roundRect">
            <a:avLst>
              <a:gd name="adj" fmla="val 450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36338" y="2057400"/>
            <a:ext cx="731520" cy="73152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6534" y="2247595"/>
            <a:ext cx="351130" cy="35113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405018" y="2194560"/>
            <a:ext cx="229605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Off-plan</a:t>
            </a:r>
            <a:endParaRPr lang="en-US" sz="1500" dirty="0"/>
          </a:p>
        </p:txBody>
      </p:sp>
      <p:sp>
        <p:nvSpPr>
          <p:cNvPr id="14" name="Text 9"/>
          <p:cNvSpPr/>
          <p:nvPr/>
        </p:nvSpPr>
        <p:spPr>
          <a:xfrm>
            <a:off x="4563770" y="2880360"/>
            <a:ext cx="306415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property bought before/under construction, off the plans.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8066837" y="1783080"/>
            <a:ext cx="3576218" cy="1828800"/>
          </a:xfrm>
          <a:prstGeom prst="roundRect">
            <a:avLst>
              <a:gd name="adj" fmla="val 450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295437" y="2057400"/>
            <a:ext cx="731520" cy="73152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2247595"/>
            <a:ext cx="351130" cy="35113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164117" y="2194560"/>
            <a:ext cx="229605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Ready / secondary</a:t>
            </a:r>
            <a:endParaRPr lang="en-US" sz="1500" dirty="0"/>
          </a:p>
        </p:txBody>
      </p:sp>
      <p:sp>
        <p:nvSpPr>
          <p:cNvPr id="19" name="Text 13"/>
          <p:cNvSpPr/>
          <p:nvPr/>
        </p:nvSpPr>
        <p:spPr>
          <a:xfrm>
            <a:off x="8322869" y="2880360"/>
            <a:ext cx="306415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completed, already-titled property resold on the market.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548640" y="3794760"/>
            <a:ext cx="3576218" cy="1828800"/>
          </a:xfrm>
          <a:prstGeom prst="roundRect">
            <a:avLst>
              <a:gd name="adj" fmla="val 450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777240" y="4069080"/>
            <a:ext cx="731520" cy="73152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7435" y="4259275"/>
            <a:ext cx="351130" cy="35113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645920" y="4206240"/>
            <a:ext cx="229605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Escrow</a:t>
            </a:r>
            <a:endParaRPr lang="en-US" sz="1500" dirty="0"/>
          </a:p>
        </p:txBody>
      </p:sp>
      <p:sp>
        <p:nvSpPr>
          <p:cNvPr id="24" name="Text 17"/>
          <p:cNvSpPr/>
          <p:nvPr/>
        </p:nvSpPr>
        <p:spPr>
          <a:xfrm>
            <a:off x="804672" y="4892040"/>
            <a:ext cx="306415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ring-fenced bank account that protects buyer payments on off-plan.</a:t>
            </a:r>
            <a:endParaRPr lang="en-US" sz="1150" dirty="0"/>
          </a:p>
        </p:txBody>
      </p:sp>
      <p:sp>
        <p:nvSpPr>
          <p:cNvPr id="25" name="Shape 18"/>
          <p:cNvSpPr/>
          <p:nvPr/>
        </p:nvSpPr>
        <p:spPr>
          <a:xfrm>
            <a:off x="4307738" y="3794760"/>
            <a:ext cx="3576218" cy="1828800"/>
          </a:xfrm>
          <a:prstGeom prst="roundRect">
            <a:avLst>
              <a:gd name="adj" fmla="val 450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4536338" y="4069080"/>
            <a:ext cx="731520" cy="73152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6534" y="4259275"/>
            <a:ext cx="351130" cy="35113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5405018" y="4206240"/>
            <a:ext cx="229605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Oqood</a:t>
            </a:r>
            <a:endParaRPr lang="en-US" sz="1500" dirty="0"/>
          </a:p>
        </p:txBody>
      </p:sp>
      <p:sp>
        <p:nvSpPr>
          <p:cNvPr id="29" name="Text 21"/>
          <p:cNvSpPr/>
          <p:nvPr/>
        </p:nvSpPr>
        <p:spPr>
          <a:xfrm>
            <a:off x="4563770" y="4892040"/>
            <a:ext cx="306415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interim off-plan register that converts to a Title Deed at handover.</a:t>
            </a:r>
            <a:endParaRPr lang="en-US" sz="1150" dirty="0"/>
          </a:p>
        </p:txBody>
      </p:sp>
      <p:sp>
        <p:nvSpPr>
          <p:cNvPr id="30" name="Shape 22"/>
          <p:cNvSpPr/>
          <p:nvPr/>
        </p:nvSpPr>
        <p:spPr>
          <a:xfrm>
            <a:off x="8066837" y="3794760"/>
            <a:ext cx="3576218" cy="1828800"/>
          </a:xfrm>
          <a:prstGeom prst="roundRect">
            <a:avLst>
              <a:gd name="adj" fmla="val 450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31" name="Shape 23"/>
          <p:cNvSpPr/>
          <p:nvPr/>
        </p:nvSpPr>
        <p:spPr>
          <a:xfrm>
            <a:off x="8295437" y="4069080"/>
            <a:ext cx="731520" cy="73152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85632" y="4259275"/>
            <a:ext cx="351130" cy="351130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9164117" y="4206240"/>
            <a:ext cx="229605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Title Deed</a:t>
            </a:r>
            <a:endParaRPr lang="en-US" sz="1500" dirty="0"/>
          </a:p>
        </p:txBody>
      </p:sp>
      <p:sp>
        <p:nvSpPr>
          <p:cNvPr id="34" name="Text 25"/>
          <p:cNvSpPr/>
          <p:nvPr/>
        </p:nvSpPr>
        <p:spPr>
          <a:xfrm>
            <a:off x="8322869" y="4892040"/>
            <a:ext cx="306415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final proof of ownership, issued by DLD.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81425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Glossary 1 — authorities &amp; process</a:t>
            </a:r>
            <a:endParaRPr lang="en-US" sz="2700" dirty="0"/>
          </a:p>
        </p:txBody>
      </p:sp>
      <p:pic>
        <p:nvPicPr>
          <p:cNvPr id="3" name="Image 0" descr="assets/logo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9279" y="219456"/>
            <a:ext cx="566928" cy="5669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737360"/>
            <a:ext cx="5364328" cy="749808"/>
          </a:xfrm>
          <a:prstGeom prst="roundRect">
            <a:avLst>
              <a:gd name="adj" fmla="val 10976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5" name="Text 2"/>
          <p:cNvSpPr/>
          <p:nvPr/>
        </p:nvSpPr>
        <p:spPr>
          <a:xfrm>
            <a:off x="731520" y="1737360"/>
            <a:ext cx="1920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DLD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2651760" y="1737360"/>
            <a:ext cx="30783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Dubai Land Department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278728" y="1737360"/>
            <a:ext cx="5364328" cy="749808"/>
          </a:xfrm>
          <a:prstGeom prst="roundRect">
            <a:avLst>
              <a:gd name="adj" fmla="val 10976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461608" y="1737360"/>
            <a:ext cx="1920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RERA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381848" y="1737360"/>
            <a:ext cx="30783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Estate Regulatory Agency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48640" y="2633472"/>
            <a:ext cx="5364328" cy="749808"/>
          </a:xfrm>
          <a:prstGeom prst="roundRect">
            <a:avLst>
              <a:gd name="adj" fmla="val 10976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731520" y="2633472"/>
            <a:ext cx="1920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DREI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2651760" y="2633472"/>
            <a:ext cx="30783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Dubai Real Estate Institute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278728" y="2633472"/>
            <a:ext cx="5364328" cy="749808"/>
          </a:xfrm>
          <a:prstGeom prst="roundRect">
            <a:avLst>
              <a:gd name="adj" fmla="val 10976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6461608" y="2633472"/>
            <a:ext cx="1920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BRN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381848" y="2633472"/>
            <a:ext cx="30783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Broker Registration Number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48640" y="3529584"/>
            <a:ext cx="5364328" cy="749808"/>
          </a:xfrm>
          <a:prstGeom prst="roundRect">
            <a:avLst>
              <a:gd name="adj" fmla="val 10976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731520" y="3529584"/>
            <a:ext cx="1920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Trakheesi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2651760" y="3529584"/>
            <a:ext cx="30783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DLD advertising-permit system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278728" y="3529584"/>
            <a:ext cx="5364328" cy="749808"/>
          </a:xfrm>
          <a:prstGeom prst="roundRect">
            <a:avLst>
              <a:gd name="adj" fmla="val 10976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6461608" y="3529584"/>
            <a:ext cx="1920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Ejari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8381848" y="3529584"/>
            <a:ext cx="30783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Tenancy contract registration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548640" y="4425696"/>
            <a:ext cx="5364328" cy="749808"/>
          </a:xfrm>
          <a:prstGeom prst="roundRect">
            <a:avLst>
              <a:gd name="adj" fmla="val 10976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731520" y="4425696"/>
            <a:ext cx="1920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NOC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2651760" y="4425696"/>
            <a:ext cx="30783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Objection Certificate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6278728" y="4425696"/>
            <a:ext cx="5364328" cy="749808"/>
          </a:xfrm>
          <a:prstGeom prst="roundRect">
            <a:avLst>
              <a:gd name="adj" fmla="val 10976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6461608" y="4425696"/>
            <a:ext cx="1920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8381848" y="4425696"/>
            <a:ext cx="30783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 &amp; Purchase Agreement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548640" y="5321808"/>
            <a:ext cx="5364328" cy="749808"/>
          </a:xfrm>
          <a:prstGeom prst="roundRect">
            <a:avLst>
              <a:gd name="adj" fmla="val 10976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9" name="Text 26"/>
          <p:cNvSpPr/>
          <p:nvPr/>
        </p:nvSpPr>
        <p:spPr>
          <a:xfrm>
            <a:off x="731520" y="5321808"/>
            <a:ext cx="1920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MOU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2651760" y="5321808"/>
            <a:ext cx="30783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Memorandum of Understanding (Form F)</a:t>
            </a:r>
            <a:endParaRPr lang="en-US" sz="1250" dirty="0"/>
          </a:p>
        </p:txBody>
      </p:sp>
      <p:sp>
        <p:nvSpPr>
          <p:cNvPr id="31" name="Shape 28"/>
          <p:cNvSpPr/>
          <p:nvPr/>
        </p:nvSpPr>
        <p:spPr>
          <a:xfrm>
            <a:off x="6278728" y="5321808"/>
            <a:ext cx="5364328" cy="749808"/>
          </a:xfrm>
          <a:prstGeom prst="roundRect">
            <a:avLst>
              <a:gd name="adj" fmla="val 10976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32" name="Text 29"/>
          <p:cNvSpPr/>
          <p:nvPr/>
        </p:nvSpPr>
        <p:spPr>
          <a:xfrm>
            <a:off x="6461608" y="5321808"/>
            <a:ext cx="1920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Oqood</a:t>
            </a:r>
            <a:endParaRPr lang="en-US" sz="1500" dirty="0"/>
          </a:p>
        </p:txBody>
      </p:sp>
      <p:sp>
        <p:nvSpPr>
          <p:cNvPr id="33" name="Text 30"/>
          <p:cNvSpPr/>
          <p:nvPr/>
        </p:nvSpPr>
        <p:spPr>
          <a:xfrm>
            <a:off x="8381848" y="5321808"/>
            <a:ext cx="30783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Interim off-plan property register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81425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Glossary 2 — finance &amp; transaction</a:t>
            </a:r>
            <a:endParaRPr lang="en-US" sz="2700" dirty="0"/>
          </a:p>
        </p:txBody>
      </p:sp>
      <p:pic>
        <p:nvPicPr>
          <p:cNvPr id="3" name="Image 0" descr="assets/logo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9279" y="219456"/>
            <a:ext cx="566928" cy="5669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737360"/>
            <a:ext cx="5364328" cy="749808"/>
          </a:xfrm>
          <a:prstGeom prst="roundRect">
            <a:avLst>
              <a:gd name="adj" fmla="val 10976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5" name="Text 2"/>
          <p:cNvSpPr/>
          <p:nvPr/>
        </p:nvSpPr>
        <p:spPr>
          <a:xfrm>
            <a:off x="731520" y="1737360"/>
            <a:ext cx="1920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LTV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2651760" y="1737360"/>
            <a:ext cx="30783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Loan-to-Value ratio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278728" y="1737360"/>
            <a:ext cx="5364328" cy="749808"/>
          </a:xfrm>
          <a:prstGeom prst="roundRect">
            <a:avLst>
              <a:gd name="adj" fmla="val 10976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461608" y="1737360"/>
            <a:ext cx="1920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DBR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381848" y="1737360"/>
            <a:ext cx="30783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Burden Ratio (max ~50%)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48640" y="2633472"/>
            <a:ext cx="5364328" cy="749808"/>
          </a:xfrm>
          <a:prstGeom prst="roundRect">
            <a:avLst>
              <a:gd name="adj" fmla="val 10976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731520" y="2633472"/>
            <a:ext cx="1920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EIBOR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2651760" y="2633472"/>
            <a:ext cx="30783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Emirates Interbank Offered Rate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278728" y="2633472"/>
            <a:ext cx="5364328" cy="749808"/>
          </a:xfrm>
          <a:prstGeom prst="roundRect">
            <a:avLst>
              <a:gd name="adj" fmla="val 10976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6461608" y="2633472"/>
            <a:ext cx="1920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ROI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381848" y="2633472"/>
            <a:ext cx="30783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on Investment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48640" y="3529584"/>
            <a:ext cx="5364328" cy="749808"/>
          </a:xfrm>
          <a:prstGeom prst="roundRect">
            <a:avLst>
              <a:gd name="adj" fmla="val 10976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731520" y="3529584"/>
            <a:ext cx="1920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DEWA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2651760" y="3529584"/>
            <a:ext cx="30783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Dubai Electricity &amp; Water Authority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278728" y="3529584"/>
            <a:ext cx="5364328" cy="749808"/>
          </a:xfrm>
          <a:prstGeom prst="roundRect">
            <a:avLst>
              <a:gd name="adj" fmla="val 10976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6461608" y="3529584"/>
            <a:ext cx="1920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DNFBP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8381848" y="3529584"/>
            <a:ext cx="30783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Designated Non-Financial Business/Profession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548640" y="4425696"/>
            <a:ext cx="5364328" cy="749808"/>
          </a:xfrm>
          <a:prstGeom prst="roundRect">
            <a:avLst>
              <a:gd name="adj" fmla="val 10976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731520" y="4425696"/>
            <a:ext cx="1920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KYC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2651760" y="4425696"/>
            <a:ext cx="30783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Your Customer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6278728" y="4425696"/>
            <a:ext cx="5364328" cy="749808"/>
          </a:xfrm>
          <a:prstGeom prst="roundRect">
            <a:avLst>
              <a:gd name="adj" fmla="val 10976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6461608" y="4425696"/>
            <a:ext cx="1920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AML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8381848" y="4425696"/>
            <a:ext cx="30783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Anti-Money Laundering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548640" y="5321808"/>
            <a:ext cx="5364328" cy="749808"/>
          </a:xfrm>
          <a:prstGeom prst="roundRect">
            <a:avLst>
              <a:gd name="adj" fmla="val 10976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9" name="Text 26"/>
          <p:cNvSpPr/>
          <p:nvPr/>
        </p:nvSpPr>
        <p:spPr>
          <a:xfrm>
            <a:off x="731520" y="5321808"/>
            <a:ext cx="1920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CFT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2651760" y="5321808"/>
            <a:ext cx="30783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Combating the Financing of Terrorism</a:t>
            </a:r>
            <a:endParaRPr lang="en-US" sz="1250" dirty="0"/>
          </a:p>
        </p:txBody>
      </p:sp>
      <p:sp>
        <p:nvSpPr>
          <p:cNvPr id="31" name="Shape 28"/>
          <p:cNvSpPr/>
          <p:nvPr/>
        </p:nvSpPr>
        <p:spPr>
          <a:xfrm>
            <a:off x="6278728" y="5321808"/>
            <a:ext cx="5364328" cy="749808"/>
          </a:xfrm>
          <a:prstGeom prst="roundRect">
            <a:avLst>
              <a:gd name="adj" fmla="val 10976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32" name="Text 29"/>
          <p:cNvSpPr/>
          <p:nvPr/>
        </p:nvSpPr>
        <p:spPr>
          <a:xfrm>
            <a:off x="6461608" y="5321808"/>
            <a:ext cx="1920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FIU</a:t>
            </a:r>
            <a:endParaRPr lang="en-US" sz="1500" dirty="0"/>
          </a:p>
        </p:txBody>
      </p:sp>
      <p:sp>
        <p:nvSpPr>
          <p:cNvPr id="33" name="Text 30"/>
          <p:cNvSpPr/>
          <p:nvPr/>
        </p:nvSpPr>
        <p:spPr>
          <a:xfrm>
            <a:off x="8381848" y="5321808"/>
            <a:ext cx="30783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Intelligence Unit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81425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AML — what every agent must know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66928" y="1078992"/>
            <a:ext cx="98142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Anti-Money Laundering. Brokers are a 'DNFBP' with real legal duties.</a:t>
            </a:r>
            <a:endParaRPr lang="en-US" sz="1350" dirty="0"/>
          </a:p>
        </p:txBody>
      </p:sp>
      <p:pic>
        <p:nvPicPr>
          <p:cNvPr id="4" name="Image 0" descr="assets/logo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9279" y="219456"/>
            <a:ext cx="566928" cy="5669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737360"/>
            <a:ext cx="11094415" cy="1371600"/>
          </a:xfrm>
          <a:prstGeom prst="roundRect">
            <a:avLst>
              <a:gd name="adj" fmla="val 6000"/>
            </a:avLst>
          </a:prstGeom>
          <a:solidFill>
            <a:srgbClr val="FFF7E6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68680" y="1965960"/>
            <a:ext cx="914400" cy="91440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" y="2203704"/>
            <a:ext cx="438912" cy="43891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2148840" y="1874520"/>
            <a:ext cx="917417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a broker you are a Designated Non-Financial Business or Profession (DNFBP) with AML/CFT obligations under UAE law.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548640" y="3383280"/>
            <a:ext cx="2670734" cy="2286000"/>
          </a:xfrm>
          <a:prstGeom prst="roundRect">
            <a:avLst>
              <a:gd name="adj" fmla="val 360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1499959" y="3657600"/>
            <a:ext cx="768096" cy="768096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9664" y="3857305"/>
            <a:ext cx="368686" cy="36868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548640" y="4572000"/>
            <a:ext cx="267073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KYC</a:t>
            </a:r>
            <a:endParaRPr lang="en-US" sz="1500" dirty="0"/>
          </a:p>
        </p:txBody>
      </p:sp>
      <p:sp>
        <p:nvSpPr>
          <p:cNvPr id="13" name="Text 8"/>
          <p:cNvSpPr/>
          <p:nvPr/>
        </p:nvSpPr>
        <p:spPr>
          <a:xfrm>
            <a:off x="685800" y="4983480"/>
            <a:ext cx="2396414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client identity &amp; source of funds.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3356534" y="3383280"/>
            <a:ext cx="2670734" cy="2286000"/>
          </a:xfrm>
          <a:prstGeom prst="roundRect">
            <a:avLst>
              <a:gd name="adj" fmla="val 360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4307853" y="3657600"/>
            <a:ext cx="768096" cy="768096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7558" y="3857305"/>
            <a:ext cx="368686" cy="368686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356534" y="4572000"/>
            <a:ext cx="267073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Watch cash</a:t>
            </a:r>
            <a:endParaRPr lang="en-US" sz="1500" dirty="0"/>
          </a:p>
        </p:txBody>
      </p:sp>
      <p:sp>
        <p:nvSpPr>
          <p:cNvPr id="18" name="Text 12"/>
          <p:cNvSpPr/>
          <p:nvPr/>
        </p:nvSpPr>
        <p:spPr>
          <a:xfrm>
            <a:off x="3493694" y="4983480"/>
            <a:ext cx="2396414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high-value &amp; cash-heavy deals.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6164428" y="3383280"/>
            <a:ext cx="2670734" cy="2286000"/>
          </a:xfrm>
          <a:prstGeom prst="roundRect">
            <a:avLst>
              <a:gd name="adj" fmla="val 360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0" name="Shape 14"/>
          <p:cNvSpPr/>
          <p:nvPr/>
        </p:nvSpPr>
        <p:spPr>
          <a:xfrm>
            <a:off x="7115747" y="3657600"/>
            <a:ext cx="768096" cy="768096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451" y="3857305"/>
            <a:ext cx="368686" cy="368686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164428" y="4572000"/>
            <a:ext cx="267073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goAML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6301588" y="4983480"/>
            <a:ext cx="2396414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on the goAML portal; appoint a compliance officer.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8972321" y="3383280"/>
            <a:ext cx="2670734" cy="2286000"/>
          </a:xfrm>
          <a:prstGeom prst="roundRect">
            <a:avLst>
              <a:gd name="adj" fmla="val 360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5" name="Shape 18"/>
          <p:cNvSpPr/>
          <p:nvPr/>
        </p:nvSpPr>
        <p:spPr>
          <a:xfrm>
            <a:off x="9923640" y="3657600"/>
            <a:ext cx="768096" cy="768096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23345" y="3857305"/>
            <a:ext cx="368686" cy="368686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8972321" y="4572000"/>
            <a:ext cx="267073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</a:t>
            </a:r>
            <a:endParaRPr lang="en-US" sz="1500" dirty="0"/>
          </a:p>
        </p:txBody>
      </p:sp>
      <p:sp>
        <p:nvSpPr>
          <p:cNvPr id="28" name="Text 20"/>
          <p:cNvSpPr/>
          <p:nvPr/>
        </p:nvSpPr>
        <p:spPr>
          <a:xfrm>
            <a:off x="9109481" y="4983480"/>
            <a:ext cx="2396414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suspicious-transaction reports to the FIU.</a:t>
            </a:r>
            <a:endParaRPr lang="en-US" sz="1100" dirty="0"/>
          </a:p>
        </p:txBody>
      </p:sp>
      <p:sp>
        <p:nvSpPr>
          <p:cNvPr id="29" name="Text 21"/>
          <p:cNvSpPr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Non-compliance carries serious penalties. When in doubt, escalate to your compliance officer.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81425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Day 1 — recap</a:t>
            </a:r>
            <a:endParaRPr lang="en-US" sz="2700" dirty="0"/>
          </a:p>
        </p:txBody>
      </p:sp>
      <p:pic>
        <p:nvPicPr>
          <p:cNvPr id="3" name="Image 0" descr="assets/logo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9279" y="219456"/>
            <a:ext cx="566928" cy="5669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783080"/>
            <a:ext cx="11094415" cy="731520"/>
          </a:xfrm>
          <a:prstGeom prst="roundRect">
            <a:avLst>
              <a:gd name="adj" fmla="val 1125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31520" y="1901952"/>
            <a:ext cx="502920" cy="50292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9019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463040" y="1783080"/>
            <a:ext cx="99971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DLD regulates; RERA licenses &amp; oversees conduct; DREI trains.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48640" y="2651760"/>
            <a:ext cx="11094415" cy="731520"/>
          </a:xfrm>
          <a:prstGeom prst="roundRect">
            <a:avLst>
              <a:gd name="adj" fmla="val 11250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31520" y="2770632"/>
            <a:ext cx="502920" cy="50292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31520" y="277063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463040" y="2651760"/>
            <a:ext cx="99971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freelance licence — you work under a sponsoring brokerage.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48640" y="3520440"/>
            <a:ext cx="11094415" cy="731520"/>
          </a:xfrm>
          <a:prstGeom prst="roundRect">
            <a:avLst>
              <a:gd name="adj" fmla="val 1125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731520" y="3639312"/>
            <a:ext cx="502920" cy="50292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31520" y="363931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1463040" y="3520440"/>
            <a:ext cx="99971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path: sponsorship → DREI course → RERA exam → Broker Card + BRN → renew yearly.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48640" y="4389120"/>
            <a:ext cx="11094415" cy="731520"/>
          </a:xfrm>
          <a:prstGeom prst="roundRect">
            <a:avLst>
              <a:gd name="adj" fmla="val 11250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731520" y="4507992"/>
            <a:ext cx="502920" cy="50292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731520" y="450799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1463040" y="4389120"/>
            <a:ext cx="99971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advert needs a Trakheesi permit; brokers use Dubai REST.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548640" y="5257800"/>
            <a:ext cx="11094415" cy="731520"/>
          </a:xfrm>
          <a:prstGeom prst="roundRect">
            <a:avLst>
              <a:gd name="adj" fmla="val 1125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31520" y="5376672"/>
            <a:ext cx="502920" cy="50292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731520" y="537667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1463040" y="5257800"/>
            <a:ext cx="99971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a DNFBP — KYC, monitor, and report under AML law.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Day 1 — Quiz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E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quick questions. Answers on the next slide.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786384"/>
          </a:xfrm>
          <a:prstGeom prst="roundRect">
            <a:avLst>
              <a:gd name="adj" fmla="val 9302"/>
            </a:avLst>
          </a:prstGeom>
          <a:solidFill>
            <a:srgbClr val="1A2F54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810512"/>
            <a:ext cx="548640" cy="5486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8105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508760" y="1691640"/>
            <a:ext cx="9951415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body is the regulatory arm that licenses brokers?  (DREI / RERA / Trakheesi / Ejari)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624328"/>
            <a:ext cx="11094415" cy="786384"/>
          </a:xfrm>
          <a:prstGeom prst="roundRect">
            <a:avLst>
              <a:gd name="adj" fmla="val 9302"/>
            </a:avLst>
          </a:prstGeom>
          <a:solidFill>
            <a:srgbClr val="1A2F54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49808" y="2743200"/>
            <a:ext cx="548640" cy="5486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743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508760" y="2624328"/>
            <a:ext cx="9951415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legally work as an agent as an independent freelancer with no brokerage?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557016"/>
            <a:ext cx="11094415" cy="786384"/>
          </a:xfrm>
          <a:prstGeom prst="roundRect">
            <a:avLst>
              <a:gd name="adj" fmla="val 9302"/>
            </a:avLst>
          </a:prstGeom>
          <a:solidFill>
            <a:srgbClr val="1A2F54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49808" y="3675888"/>
            <a:ext cx="548640" cy="5486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6758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508760" y="3557016"/>
            <a:ext cx="9951415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permit number must appear on every property advertisement?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489704"/>
            <a:ext cx="11094415" cy="786384"/>
          </a:xfrm>
          <a:prstGeom prst="roundRect">
            <a:avLst>
              <a:gd name="adj" fmla="val 9302"/>
            </a:avLst>
          </a:prstGeom>
          <a:solidFill>
            <a:srgbClr val="1A2F54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49808" y="4608576"/>
            <a:ext cx="548640" cy="5486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60857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508760" y="4489704"/>
            <a:ext cx="9951415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BRN stand for?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5422392"/>
            <a:ext cx="11094415" cy="786384"/>
          </a:xfrm>
          <a:prstGeom prst="roundRect">
            <a:avLst>
              <a:gd name="adj" fmla="val 9302"/>
            </a:avLst>
          </a:prstGeom>
          <a:solidFill>
            <a:srgbClr val="1A2F54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49808" y="5541264"/>
            <a:ext cx="548640" cy="5486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54126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508760" y="5422392"/>
            <a:ext cx="9951415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AML stand for — and name one obligation it places on you?</a:t>
            </a:r>
            <a:endParaRPr lang="en-US" sz="1300" dirty="0"/>
          </a:p>
        </p:txBody>
      </p:sp>
      <p:pic>
        <p:nvPicPr>
          <p:cNvPr id="24" name="Image 0" descr="assets/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9279" y="219456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81425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Day 1 — Quiz answer key</a:t>
            </a:r>
            <a:endParaRPr lang="en-US" sz="2700" dirty="0"/>
          </a:p>
        </p:txBody>
      </p:sp>
      <p:pic>
        <p:nvPicPr>
          <p:cNvPr id="3" name="Image 0" descr="assets/logo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9279" y="219456"/>
            <a:ext cx="566928" cy="5669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737360"/>
            <a:ext cx="11094415" cy="768096"/>
          </a:xfrm>
          <a:prstGeom prst="roundRect">
            <a:avLst>
              <a:gd name="adj" fmla="val 10714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938528"/>
            <a:ext cx="365760" cy="36576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325880" y="1737360"/>
            <a:ext cx="10134295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RERA is the regulatory arm of DLD that licenses brokers.</a:t>
            </a:r>
            <a:endParaRPr lang="en-US" sz="1250" dirty="0"/>
          </a:p>
        </p:txBody>
      </p:sp>
      <p:sp>
        <p:nvSpPr>
          <p:cNvPr id="7" name="Shape 3"/>
          <p:cNvSpPr/>
          <p:nvPr/>
        </p:nvSpPr>
        <p:spPr>
          <a:xfrm>
            <a:off x="548640" y="2633472"/>
            <a:ext cx="11094415" cy="768096"/>
          </a:xfrm>
          <a:prstGeom prst="roundRect">
            <a:avLst>
              <a:gd name="adj" fmla="val 10714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2834640"/>
            <a:ext cx="365760" cy="36576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325880" y="2633472"/>
            <a:ext cx="10134295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You must be sponsored/employed by a licensed brokerage — no freelance licence exists.</a:t>
            </a:r>
            <a:endParaRPr lang="en-US" sz="1250" dirty="0"/>
          </a:p>
        </p:txBody>
      </p:sp>
      <p:sp>
        <p:nvSpPr>
          <p:cNvPr id="10" name="Shape 5"/>
          <p:cNvSpPr/>
          <p:nvPr/>
        </p:nvSpPr>
        <p:spPr>
          <a:xfrm>
            <a:off x="548640" y="3529584"/>
            <a:ext cx="11094415" cy="768096"/>
          </a:xfrm>
          <a:prstGeom prst="roundRect">
            <a:avLst>
              <a:gd name="adj" fmla="val 10714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3730752"/>
            <a:ext cx="365760" cy="36576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325880" y="3529584"/>
            <a:ext cx="10134295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Trakheesi permit number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Required on every single advertisement.</a:t>
            </a:r>
            <a:endParaRPr lang="en-US" sz="1250" dirty="0"/>
          </a:p>
        </p:txBody>
      </p:sp>
      <p:sp>
        <p:nvSpPr>
          <p:cNvPr id="13" name="Shape 7"/>
          <p:cNvSpPr/>
          <p:nvPr/>
        </p:nvSpPr>
        <p:spPr>
          <a:xfrm>
            <a:off x="548640" y="4425696"/>
            <a:ext cx="11094415" cy="768096"/>
          </a:xfrm>
          <a:prstGeom prst="roundRect">
            <a:avLst>
              <a:gd name="adj" fmla="val 10714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8" y="4626864"/>
            <a:ext cx="365760" cy="365760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1325880" y="4425696"/>
            <a:ext cx="10134295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Broker Registration Number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Your unique broker ID, quoted on deals &amp; forms.</a:t>
            </a:r>
            <a:endParaRPr lang="en-US" sz="1250" dirty="0"/>
          </a:p>
        </p:txBody>
      </p:sp>
      <p:sp>
        <p:nvSpPr>
          <p:cNvPr id="16" name="Shape 9"/>
          <p:cNvSpPr/>
          <p:nvPr/>
        </p:nvSpPr>
        <p:spPr>
          <a:xfrm>
            <a:off x="548640" y="5321808"/>
            <a:ext cx="11094415" cy="768096"/>
          </a:xfrm>
          <a:prstGeom prst="roundRect">
            <a:avLst>
              <a:gd name="adj" fmla="val 10714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1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808" y="5522976"/>
            <a:ext cx="365760" cy="365760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1325880" y="5321808"/>
            <a:ext cx="10134295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Anti-Money Laundering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e.g. perform KYC / verify source of funds, or report suspicious deals via goAML to the FIU.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 standalone="yes"?>
<Properties xmlns="http://schemas.openxmlformats.org/officeDocument/2006/extended-properties" xmlns:vt="http://schemas.openxmlformats.org/officeDocument/2006/docPropsVTypes">
	<TotalTime>0</TotalTime>
	<Words>0</Words>
	<Application>Microsoft Office PowerPoint</Application>
	<PresentationFormat>On-screen Show (16:9)</PresentationFormat>
	<Paragraphs>0</Paragraphs>
	<Slides>21</Slides>
	<Notes>21</Notes>
	<HiddenSlides>0</HiddenSlides>
	<MMClips>0</MMClips>
	<ScaleCrop>false</ScaleCrop>
	<HeadingPairs>
		<vt:vector size="6" baseType="variant">
			<vt:variant><vt:lpstr>Fonts Used</vt:lpstr></vt:variant>
			<vt:variant><vt:i4>2</vt:i4></vt:variant>
			<vt:variant><vt:lpstr>Theme</vt:lpstr></vt:variant>
			<vt:variant><vt:i4>1</vt:i4></vt:variant>
			<vt:variant><vt:lpstr>Slide Titles</vt:lpstr></vt:variant>
			<vt:variant><vt:i4>21</vt:i4></vt:variant>
		</vt:vector>
	</HeadingPairs>
	<TitlesOfParts>
		<vt:vector size="24" baseType="lpstr">
			<vt:lpstr>Arial</vt:lpstr>
			<vt:lpstr>Calibri</vt:lpstr>
			<vt:lpstr>Office Theme</vt:lpstr>
			<vt:lpstr>Slide 1</vt:lpstr><vt:lpstr>Slide 2</vt:lpstr><vt:lpstr>Slide 3</vt:lpstr><vt:lpstr>Slide 4</vt:lpstr><vt:lpstr>Slide 5</vt:lpstr><vt:lpstr>Slide 6</vt:lpstr><vt:lpstr>Slide 7</vt:lpstr><vt:lpstr>Slide 8</vt:lpstr><vt:lpstr>Slide 9</vt:lpstr><vt:lpstr>Slide 10</vt:lpstr><vt:lpstr>Slide 11</vt:lpstr><vt:lpstr>Slide 12</vt:lpstr><vt:lpstr>Slide 13</vt:lpstr><vt:lpstr>Slide 14</vt:lpstr><vt:lpstr>Slide 15</vt:lpstr><vt:lpstr>Slide 16</vt:lpstr><vt:lpstr>Slide 17</vt:lpstr><vt:lpstr>Slide 18</vt:lpstr><vt:lpstr>Slide 19</vt:lpstr><vt:lpstr>Slide 20</vt:lpstr><vt:lpstr>Slide 21</vt:lpstr>
		</vt:vector>
	</TitlesOfParts>
	<Company>Bridges & Allies</Company>
	<LinksUpToDate>false</LinksUpToDate>
	<SharedDoc>false</SharedDoc>
	<HyperlinksChanged>false</HyperlinksChanged>
	<AppVersion>16.0000</AppVersion>
	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Bridges &amp; Allies</dc:creator>
  <cp:lastModifiedBy>Bridges &amp; Allies</cp:lastModifiedBy>
  <cp:revision>1</cp:revision>
  <dcterms:created xsi:type="dcterms:W3CDTF">2026-06-16T11:55:12Z</dcterms:created>
  <dcterms:modified xsi:type="dcterms:W3CDTF">2026-06-16T11:55:12Z</dcterms:modified>
</cp:coreProperties>
</file>