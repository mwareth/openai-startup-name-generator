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AED bn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wk-4</c:v>
                  </c:pt>
                  <c:pt idx="1">
                    <c:v>wk-3</c:v>
                  </c:pt>
                  <c:pt idx="2">
                    <c:v>wk-2</c:v>
                  </c:pt>
                  <c:pt idx="3">
                    <c:v>wk-1</c:v>
                  </c:pt>
                  <c:pt idx="4">
                    <c:v>last wk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14.7</c:v>
                </c:pt>
                <c:pt idx="2">
                  <c:v>15.2</c:v>
                </c:pt>
                <c:pt idx="3">
                  <c:v>21</c:v>
                </c:pt>
                <c:pt idx="4">
                  <c:v>11.3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room warmly. This is a presenter-led, 4-day live programme. Goal: take a complete beginner to confidently running an off-plan deal end to end. Set the tone — professional, high-energy, 'we build a great team and rise together'. Swap BARE logo onto this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career-changers and fresh grads: no prior experience needed. Emphasise the mentorship model and the team-first culture. The market timing point: Dubai's scale means learning now pays off when the cycle turns. Keep it motivating, not salesy.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 through the arc. Day 1 = rules of the game; Day 2 = the mechanics and paperwork; Day 3 = the numbers; Day 4 = how to actually sell. Quizzes are low-stakes confidence checks, not exams. Encourage questions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1 sets the foundation every later day depends on. By the end they'll know who regulates what, the legal path to working as an agent, and the core vocabulary.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day. Keep it brisk — this is a signpost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them in scale. Weekly transaction values swing roughly AED 10B–21B; Q1 2026 hit AED 252B (+31% YoY); 2025 was a record AED 682.5B in sales. These figures move — re-check the weekly DLD report before quoting. The point: this is a deep, liquid market with constant deal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off-plan as the engine of new-launch sales. The four advantages — entry, payment plans, appreciation, incentives — are also your selling points later in Day 4. Balance: note risks too (construction, market timing) which Day 2 escrow content addresses.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confusion: DLD vs RERA. DLD is the parent authority; RERA is its regulatory arm. DREI trains. Trakheesi is the advertising-permit system — no permit, no advert (a hard compliance rule). Dubai REST is the app brokers actually use day to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Buyers care most about freehold — full ownership of unit and land, available to all nationalities in designated zones, and the basis for residency visas. Leasehold = long-term use right, land reverts. Almost all new off-plan you sell is freehold.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takeaway: you cannot freelance — you must be sponsored by a licensed brokerage (that's us). The next four slides detail steps 2–4. Pass mark is commonly cited 75% but has shifted; confirm at registration.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new joiners: the brokerage handles sponsorship. This removes the biggest barrier people worry about. Visa + sponsorship first, certification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is DLD's training arm. The course is ~32 hours over ~4 days, English or Arabic, attendance mandatory. Fee ~AED 2,400 (confirm current pricing). It's the prerequisite to the RERA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 ~100 MCQs, pass mark commonly 75% (some sources 70%), fee ~AED 785 all-in. These move — verify at registration. Encourage them: this training maps directly onto the exam syllabus.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you pass, you're issued a Broker Card and a BRN — quote the BRN on forms and adverts. Trakheesi permit on every single advertisement is non-negotiable. Renew annually. First-year all-in cost is often cited ~AED 10,000–13,000 depending on setup (confirm).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vocabulary checkpoint so nobody is lost later. Don't over-explain — these each get a full slide in Day 2. Just make sure the words land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— don't read every line. Point out the ones people mix up: MOU = Form F; Oqood = the off-plan register; Ejari is for rentals. Full definitions live in the speaker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come back in Day 3 (the money) and the AML slide. LTV, DBR, EIBOR drive mortgages; KYC/AML/CFT/FIU/DNFBP are the compliance cluster — preview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serious but simple. Brokers are DNFBPs — legally obliged to do KYC, verify source of funds, monitor cash/high-value deals, register on goAML, and report suspicious transactions to the FIU. Penalties are severe. New agents: never handle a deal that feels off without escalating.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five anchors before the quiz. Ask the room to call them back to you rather than reading them out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them 3–4 minutes. Let people discuss in pairs — it cements learning. Then reveal the answer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answer and expand with the rationale. If many missed one, re-teach that point briefly before moving to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572000" cy="457200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206240"/>
            <a:ext cx="3291840" cy="3291840"/>
          </a:xfrm>
          <a:prstGeom prst="ellipse">
            <a:avLst/>
          </a:prstGeom>
          <a:solidFill>
            <a:srgbClr val="13284D"/>
          </a:solidFill>
          <a:ln/>
        </p:spPr>
      </p:sp>
      <p:pic>
        <p:nvPicPr>
          <p:cNvPr id="4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1325880" cy="1325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24688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 Mastery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548640" y="3520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4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4-Day Agent Training Programme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4114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running an off-plan deal — start to finish.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______________     ·     Bridges &amp; Allies — Off-Plan Team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— and why this programme exists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537" y="2328977"/>
            <a:ext cx="416966" cy="41696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3154680"/>
            <a:ext cx="296661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train, we don't gatekeep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822960" y="388620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real estate background. We take you from zero to closing — step by step.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246778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566818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675" y="2328977"/>
            <a:ext cx="416966" cy="41696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521098" y="3154680"/>
            <a:ext cx="296661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rise together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521098" y="388620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shared standards. Your growth is the team's growth. We win as a unit.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7944917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264957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814" y="2328977"/>
            <a:ext cx="416966" cy="41696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19237" y="3154680"/>
            <a:ext cx="296661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timing is rare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219237" y="388620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is one of the world's most active property markets. Learn now, position before the next surge.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“Make a great team that becomes rich — and rises together.”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4 days work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day builds on the last — and ends with a short quiz.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72527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472527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the rules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market, the authorities (DLD · RERA · DREI), and the path to becoming a legal broker.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56534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80421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280421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356534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521126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 &amp; contracts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539414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off-plan lifecycle, escrow, Oqood, and the RERA forms — A, B, F, I.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164428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088315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88315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164428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29020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347308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plans, mortgages &amp; LTV, the fee stack, ROI, and the Golden Visa.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972321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896208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89620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972321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136913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Selling &amp; closing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9155201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handling, discovery, objections, closing techniques and follow-up discipline.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ends with a 5-question quiz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questions, then an answer key. Attendance and the quizzes track your readiness.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023360"/>
            <a:ext cx="4206240" cy="420624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the rules of the game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· the authorities · becoming a legal broker · AML</a:t>
            </a:r>
            <a:endParaRPr lang="en-US" sz="1500" dirty="0"/>
          </a:p>
        </p:txBody>
      </p:sp>
      <p:pic>
        <p:nvPicPr>
          <p:cNvPr id="6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agenda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83080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49808" y="193852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081174"/>
            <a:ext cx="263347" cy="26334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63040" y="1783080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market at a glance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278728" y="1783080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479896" y="193852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542" y="2081174"/>
            <a:ext cx="263347" cy="2633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93128" y="1783080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off-plan?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862072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49808" y="301752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3160166"/>
            <a:ext cx="263347" cy="26334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63040" y="2862072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players: DLD · RERA · DREI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6278728" y="2862072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6479896" y="301752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2542" y="316016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193128" y="2862072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Freehold vs leasehold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548640" y="3941064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749808" y="4096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454" y="4239158"/>
            <a:ext cx="263347" cy="26334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463040" y="3941064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Becoming a legal broker (the path)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6278728" y="3941064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Shape 17"/>
          <p:cNvSpPr/>
          <p:nvPr/>
        </p:nvSpPr>
        <p:spPr>
          <a:xfrm>
            <a:off x="6479896" y="4096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542" y="4239158"/>
            <a:ext cx="263347" cy="263347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193128" y="3941064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 &amp; glossary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548640" y="5020056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9" name="Shape 20"/>
          <p:cNvSpPr/>
          <p:nvPr/>
        </p:nvSpPr>
        <p:spPr>
          <a:xfrm>
            <a:off x="749808" y="517550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454" y="5318150"/>
            <a:ext cx="263347" cy="263347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1463040" y="5020056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— what every agent must know</a:t>
            </a:r>
            <a:endParaRPr lang="en-US" sz="1500" dirty="0"/>
          </a:p>
        </p:txBody>
      </p:sp>
      <p:sp>
        <p:nvSpPr>
          <p:cNvPr id="32" name="Shape 22"/>
          <p:cNvSpPr/>
          <p:nvPr/>
        </p:nvSpPr>
        <p:spPr>
          <a:xfrm>
            <a:off x="6278728" y="5020056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6479896" y="517550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2542" y="5318150"/>
            <a:ext cx="263347" cy="263347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7193128" y="5020056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&amp; Day 1 quiz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market at a glance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DLD / Dubai REST weekly reports — verify weekly (figures mid-June 2026).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1525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42" y="2442362"/>
            <a:ext cx="373075" cy="3730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37360" y="210312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11.3B</a:t>
            </a:r>
            <a:endParaRPr lang="en-US" sz="2300" dirty="0"/>
          </a:p>
        </p:txBody>
      </p:sp>
      <p:sp>
        <p:nvSpPr>
          <p:cNvPr id="9" name="Text 5"/>
          <p:cNvSpPr/>
          <p:nvPr/>
        </p:nvSpPr>
        <p:spPr>
          <a:xfrm>
            <a:off x="1737360" y="269748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last week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246778" y="1783080"/>
            <a:ext cx="351525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21098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3181" y="2442362"/>
            <a:ext cx="373075" cy="37307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35498" y="210312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252B</a:t>
            </a:r>
            <a:endParaRPr lang="en-US" sz="2300" dirty="0"/>
          </a:p>
        </p:txBody>
      </p:sp>
      <p:sp>
        <p:nvSpPr>
          <p:cNvPr id="14" name="Text 9"/>
          <p:cNvSpPr/>
          <p:nvPr/>
        </p:nvSpPr>
        <p:spPr>
          <a:xfrm>
            <a:off x="5435498" y="269748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 (+31% YoY)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7944917" y="1783080"/>
            <a:ext cx="351525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19237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319" y="2442362"/>
            <a:ext cx="373075" cy="37307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33637" y="210312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682.5B</a:t>
            </a:r>
            <a:endParaRPr lang="en-US" sz="2300" dirty="0"/>
          </a:p>
        </p:txBody>
      </p:sp>
      <p:sp>
        <p:nvSpPr>
          <p:cNvPr id="19" name="Text 13"/>
          <p:cNvSpPr/>
          <p:nvPr/>
        </p:nvSpPr>
        <p:spPr>
          <a:xfrm>
            <a:off x="9133637" y="269748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sales (record year)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37490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weekly transaction value (AED bn)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48640" y="4114800"/>
          <a:ext cx="11094415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off-plan?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buying before completion differs from ready / secondary.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54" y="2305202"/>
            <a:ext cx="373075" cy="3730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83080" y="201168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entry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783080" y="244144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upfront outlay — secure a unit with a booking deposit, not the full price.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78728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34760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842" y="2305202"/>
            <a:ext cx="373075" cy="37307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513168" y="201168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plans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7513168" y="244144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stages through construction, often with post-handover tails (1–5 yrs).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754" y="3996842"/>
            <a:ext cx="373075" cy="37307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783080" y="370332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Appreciation during build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783080" y="413308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can rise between launch and handover as the project completes.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78728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534760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6842" y="3996842"/>
            <a:ext cx="373075" cy="37307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513168" y="370332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incentives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7513168" y="413308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Waived fees, DLD-fee deals, furnishing packages and launch pricing.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players — who does what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difference; clients will test you on it.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67357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14" y="2328977"/>
            <a:ext cx="416966" cy="41696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3108960"/>
            <a:ext cx="35152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DLD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77240" y="3611880"/>
            <a:ext cx="30580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Land Department — the overarching authority that registers and regulates all property and transactions.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46778" y="178308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565496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352" y="2328977"/>
            <a:ext cx="416966" cy="41696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246778" y="3108960"/>
            <a:ext cx="35152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RERA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4475378" y="3611880"/>
            <a:ext cx="30580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Regulatory Agency — the regulatory arm of DLD: licenses brokers, sets conduct, oversees escrow.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7944917" y="178308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263634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491" y="2328977"/>
            <a:ext cx="416966" cy="41696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944917" y="3108960"/>
            <a:ext cx="35152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8173517" y="3611880"/>
            <a:ext cx="30580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Real Estate Institute — DLD's training arm; runs the broker certification course.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48640" y="4800600"/>
            <a:ext cx="11094415" cy="1280160"/>
          </a:xfrm>
          <a:prstGeom prst="roundRect">
            <a:avLst>
              <a:gd name="adj" fmla="val 6429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2960" y="502920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042" y="5231282"/>
            <a:ext cx="373075" cy="37307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783080" y="5029200"/>
            <a:ext cx="95399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Trakheesi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DLD's permit system: every advert carries a Trakheesi permit number.   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REST / Dubai Brokers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official DLD apps where brokers generate forms &amp; access services.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Freehold vs leasehold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foreign buyers can own — and what they own.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5364328" cy="4023360"/>
          </a:xfrm>
          <a:prstGeom prst="roundRect">
            <a:avLst>
              <a:gd name="adj" fmla="val 2045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930" y="2317090"/>
            <a:ext cx="395021" cy="3950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83080" y="2240280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Freehold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868680" y="3246120"/>
            <a:ext cx="472424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 of the unit AND the land, in perpetuity.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all nationalities in designated freehold zones.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sell, lease, or pass on freely; qualifies for residency visas.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off-plan you'll sell sits in freehold areas.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78728" y="1783080"/>
            <a:ext cx="5364328" cy="4023360"/>
          </a:xfrm>
          <a:prstGeom prst="roundRect">
            <a:avLst>
              <a:gd name="adj" fmla="val 2045"/>
            </a:avLst>
          </a:prstGeom>
          <a:solidFill>
            <a:srgbClr val="EEF3F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53048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017" y="2317090"/>
            <a:ext cx="395021" cy="3950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513168" y="2240280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Leasehold</a:t>
            </a:r>
            <a:endParaRPr lang="en-US" sz="2100" dirty="0"/>
          </a:p>
        </p:txBody>
      </p:sp>
      <p:sp>
        <p:nvSpPr>
          <p:cNvPr id="14" name="Text 9"/>
          <p:cNvSpPr/>
          <p:nvPr/>
        </p:nvSpPr>
        <p:spPr>
          <a:xfrm>
            <a:off x="6598768" y="3246120"/>
            <a:ext cx="472424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use the property for a long term (commonly up to 99 years).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stays with the freeholder; reverts at lease end.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select older / non-freehold districts.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common for new off-plan launches.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Becoming a legal broker — the path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steps. There is no individual/freelance broker licence in Dubai.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49808" y="202996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49808" y="202996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08760" y="178308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UAE residency visa, sponsored by a licensed brokerage.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178308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9896" y="202996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79896" y="202996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238848" y="178308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broker training course at DREI (~4 days / 32 hours).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310896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9808" y="335584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49808" y="335584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508760" y="310896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RERA exam (~100 questions; pass mark ~75% — confirm).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278728" y="310896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79896" y="335584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79896" y="335584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238848" y="310896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your Broker Card + BRN (Broker Registration Number).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443484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49808" y="468172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49808" y="468172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508760" y="443484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 the licence annually via DLD.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278728" y="443484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79896" y="468172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79896" y="468172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238848" y="443484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advert must carry a valid Trakheesi permit number.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Residency + brokerage sponsorship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83080"/>
            <a:ext cx="11094415" cy="1828800"/>
          </a:xfrm>
          <a:prstGeom prst="roundRect">
            <a:avLst>
              <a:gd name="adj" fmla="val 45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295144"/>
            <a:ext cx="438912" cy="4389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03120" y="2011680"/>
            <a:ext cx="92656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freelance / individual broker licence exists in Dubai.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2103120" y="2514600"/>
            <a:ext cx="92656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hold a valid UAE residency visa and be employed/sponsored by a RERA-licensed brokerage. That sponsorship is what makes you eligible to be carded.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48640" y="388620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22960" y="42062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" y="4396435"/>
            <a:ext cx="351130" cy="3511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4206240"/>
            <a:ext cx="39927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sponsor you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1737360" y="4709160"/>
            <a:ext cx="39927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your licensed brokerage, Bridges &amp; Allies provides the sponsorship and visa pathway.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278728" y="388620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553048" y="42062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243" y="4396435"/>
            <a:ext cx="351130" cy="35113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467448" y="4206240"/>
            <a:ext cx="39927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you certify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7467448" y="4709160"/>
            <a:ext cx="39927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sponsorship in place, you move to the DREI course and RERA exam.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Broker training at DREI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83080"/>
            <a:ext cx="11094415" cy="2103120"/>
          </a:xfrm>
          <a:prstGeom prst="roundRect">
            <a:avLst>
              <a:gd name="adj" fmla="val 391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918" y="2501798"/>
            <a:ext cx="482803" cy="48280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286000" y="2057400"/>
            <a:ext cx="90827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Certified broker training course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2286000" y="2606040"/>
            <a:ext cx="90827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days · 32 hours of instruction.</a:t>
            </a:r>
            <a:endParaRPr lang="en-US" sz="135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in English or Arabic.</a:t>
            </a:r>
            <a:endParaRPr lang="en-US" sz="135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mandatory to be eligible to sit the RERA exam.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48640" y="4160520"/>
            <a:ext cx="3515258" cy="164592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940509" y="44348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704" y="4625035"/>
            <a:ext cx="351130" cy="3511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8640" y="521208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fee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548640" y="544068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~AED 2,400 (typical)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4246778" y="4160520"/>
            <a:ext cx="3515258" cy="164592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5638648" y="44348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8843" y="4625035"/>
            <a:ext cx="351130" cy="35113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46778" y="521208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4246778" y="544068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Classroom / instructor-led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944917" y="4160520"/>
            <a:ext cx="3515258" cy="164592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9336786" y="44348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6981" y="4625035"/>
            <a:ext cx="351130" cy="35113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944917" y="521208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7944917" y="544068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Eligibility to sit the exam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The RERA exam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shift — confirm current values when you register.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72527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497" y="2317090"/>
            <a:ext cx="395021" cy="3950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658368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 multiple-choice questions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56534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80421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390" y="2317090"/>
            <a:ext cx="395021" cy="3950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56534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mark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3466262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~75% (cited 70–75%) — confirm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64428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088315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284" y="2317090"/>
            <a:ext cx="395021" cy="3950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64428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fee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6274156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~AED 785 (incl. add-on fees)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8972321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896208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0178" y="2317090"/>
            <a:ext cx="395021" cy="39502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72321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9082049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Eligible for your Broker Card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8640" y="4754880"/>
            <a:ext cx="11094415" cy="1325880"/>
          </a:xfrm>
          <a:prstGeom prst="roundRect">
            <a:avLst>
              <a:gd name="adj" fmla="val 6207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22960" y="49834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042" y="5185562"/>
            <a:ext cx="373075" cy="373075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783080" y="4937760"/>
            <a:ext cx="95399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tip: the exam leans on the regulatory content in this very programme — forms, escrow, fees, and the authorities. Know Days 1–3 cold and you're most of the way there.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— Broker Card, BRN &amp; staying licensed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04672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54" y="23052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83080" y="203911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Broker Card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783080" y="246888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official licence to operate as an agent in Dubai.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78728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34760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842" y="2305202"/>
            <a:ext cx="373075" cy="3730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513168" y="203911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BRN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7513168" y="246888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Registration Number — your unique ID on every deal &amp; form.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48640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04672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754" y="3996842"/>
            <a:ext cx="373075" cy="37307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783080" y="373075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Trakheesi on every ad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783080" y="416052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advert goes live without a valid Trakheesi permit number.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6278728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6534760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6842" y="3996842"/>
            <a:ext cx="373075" cy="37307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513168" y="373075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 annually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7513168" y="416052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licence is renewed each year via DLD to stay active.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concepts — quick primer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go deep on these in Days 2–3; lock the meaning now.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" y="2247595"/>
            <a:ext cx="351130" cy="3511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45920" y="219456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Freehold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804672" y="288036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 of unit + land, in designated zones.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307738" y="178308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36338" y="205740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534" y="2247595"/>
            <a:ext cx="351130" cy="35113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05018" y="219456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4563770" y="288036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property bought before/under construction, off the plans.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066837" y="178308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95437" y="205740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2247595"/>
            <a:ext cx="351130" cy="35113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64117" y="219456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/ secondary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8322869" y="288036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completed, already-titled property resold on the market.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48640" y="379476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77240" y="406908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435" y="4259275"/>
            <a:ext cx="351130" cy="35113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45920" y="420624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Escrow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804672" y="489204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ring-fenced bank account that protects buyer payments on off-plan.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4307738" y="379476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36338" y="406908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534" y="4259275"/>
            <a:ext cx="351130" cy="35113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405018" y="420624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Oqood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4563770" y="489204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interim off-plan register that converts to a Title Deed at handover.</a:t>
            </a:r>
            <a:endParaRPr lang="en-US" sz="1150" dirty="0"/>
          </a:p>
        </p:txBody>
      </p:sp>
      <p:sp>
        <p:nvSpPr>
          <p:cNvPr id="30" name="Shape 22"/>
          <p:cNvSpPr/>
          <p:nvPr/>
        </p:nvSpPr>
        <p:spPr>
          <a:xfrm>
            <a:off x="8066837" y="379476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295437" y="406908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5632" y="4259275"/>
            <a:ext cx="351130" cy="35113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164117" y="420624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Deed</a:t>
            </a:r>
            <a:endParaRPr lang="en-US" sz="1500" dirty="0"/>
          </a:p>
        </p:txBody>
      </p:sp>
      <p:sp>
        <p:nvSpPr>
          <p:cNvPr id="34" name="Text 25"/>
          <p:cNvSpPr/>
          <p:nvPr/>
        </p:nvSpPr>
        <p:spPr>
          <a:xfrm>
            <a:off x="8322869" y="489204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proof of ownership, issued by DLD.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1 — authorities &amp; process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31520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DLD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2651760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Land Department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78728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61608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RERA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381848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Regulatory Agency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651760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Real Estate Institute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278728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61608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381848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Registration Number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Trakheesi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651760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DLD advertising-permit system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78728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61608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Ejari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381848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Tenancy contract registration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31520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NOC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2651760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Objection Certificate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278728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461608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8381848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&amp; Purchase Agreement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MOU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2651760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Memorandum of Understanding (Form F)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278728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6461608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Oqood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8381848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off-plan property register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2 — finance &amp; transaction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31520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LTV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2651760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Loan-to-Value ratio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78728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61608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381848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Burden Ratio (max ~50%)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EIBOR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651760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Emirates Interbank Offered Rate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278728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61608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381848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Investment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DEWA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651760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Electricity &amp; Water Authority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78728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61608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DNFBP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381848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Designated Non-Financial Business/Profession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31520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2651760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Customer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278728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461608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AML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8381848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CFT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2651760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Combating the Financing of Terrorism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278728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6461608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8381848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Intelligence Unit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AML — what every agent must know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Laundering. Brokers are a 'DNFBP' with real legal duties.</a:t>
            </a:r>
            <a:endParaRPr lang="en-US" sz="135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3736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65960"/>
            <a:ext cx="914400" cy="91440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203704"/>
            <a:ext cx="438912" cy="438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148840" y="1874520"/>
            <a:ext cx="9174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broker you are a Designated Non-Financial Business or Profession (DNFBP) with AML/CFT obligations under UAE law.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499959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664" y="3857305"/>
            <a:ext cx="368686" cy="36868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8640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685800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client identity &amp; source of funds.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356534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307853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558" y="3857305"/>
            <a:ext cx="368686" cy="36868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356534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cash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3493694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high-value &amp; cash-heavy deals.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164428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115747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451" y="3857305"/>
            <a:ext cx="368686" cy="36868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164428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goAML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301588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on the goAML portal; appoint a compliance officer.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972321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9923640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3345" y="3857305"/>
            <a:ext cx="368686" cy="36868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972321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500" dirty="0"/>
          </a:p>
        </p:txBody>
      </p:sp>
      <p:sp>
        <p:nvSpPr>
          <p:cNvPr id="28" name="Text 20"/>
          <p:cNvSpPr/>
          <p:nvPr/>
        </p:nvSpPr>
        <p:spPr>
          <a:xfrm>
            <a:off x="9109481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suspicious-transaction reports to the FIU.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Non-compliance carries serious penalties. When in doubt, escalate to your compliance officer.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recap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8308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90195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63040" y="178308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DLD regulates; RERA licenses &amp; oversees conduct; DREI trains.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77063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1520" y="27706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463040" y="265176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freelance licence — you work under a sponsoring brokerage.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52044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363931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1520" y="3639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463040" y="352044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path: sponsorship → DREI course → RERA exam → Broker Card + BRN → renew yearly.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438912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31520" y="450799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31520" y="4507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463040" y="438912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advert needs a Trakheesi permit; brokers use Dubai REST.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525780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31520" y="537667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31520" y="5376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463040" y="525780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 DNFBP — KYC, monitor, and report under AML law.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Quiz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quick questions. Answers on the next slide.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0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1691640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body is the regulatory arm that licenses brokers?  (DREI / RERA / Trakheesi / Ejari)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74320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08760" y="2624328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legally work as an agent as an independent freelancer with no brokerage?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557016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67588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6758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08760" y="3557016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permit number must appear on every property advertisement?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489704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4608576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60857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4489704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BRN stand for?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422392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54126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54126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508760" y="5422392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AML stand for — and name one obligation it places on you?</a:t>
            </a:r>
            <a:endParaRPr lang="en-US" sz="1300" dirty="0"/>
          </a:p>
        </p:txBody>
      </p:sp>
      <p:pic>
        <p:nvPicPr>
          <p:cNvPr id="24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Quiz answer key</a:t>
            </a:r>
            <a:endParaRPr lang="en-US" sz="27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219456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737360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938528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325880" y="1737360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RERA is the regulatory arm of DLD that licenses brokers.</a:t>
            </a:r>
            <a:endParaRPr lang="en-US" sz="1250" dirty="0"/>
          </a:p>
        </p:txBody>
      </p:sp>
      <p:sp>
        <p:nvSpPr>
          <p:cNvPr id="7" name="Shape 3"/>
          <p:cNvSpPr/>
          <p:nvPr/>
        </p:nvSpPr>
        <p:spPr>
          <a:xfrm>
            <a:off x="548640" y="2633472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834640"/>
            <a:ext cx="365760" cy="3657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25880" y="2633472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 must be sponsored/employed by a licensed brokerage — no freelance licence exists.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548640" y="3529584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730752"/>
            <a:ext cx="365760" cy="36576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325880" y="3529584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Trakheesi permit number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Required on every single advertisement.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548640" y="4425696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626864"/>
            <a:ext cx="365760" cy="3657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325880" y="4425696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Registration Number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unique broker ID, quoted on deals &amp; forms.</a:t>
            </a:r>
            <a:endParaRPr lang="en-US" sz="1250" dirty="0"/>
          </a:p>
        </p:txBody>
      </p:sp>
      <p:sp>
        <p:nvSpPr>
          <p:cNvPr id="16" name="Shape 9"/>
          <p:cNvSpPr/>
          <p:nvPr/>
        </p:nvSpPr>
        <p:spPr>
          <a:xfrm>
            <a:off x="548640" y="5321808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522976"/>
            <a:ext cx="365760" cy="36576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325880" y="5321808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e.g. perform KYC / verify source of funds, or report suspicious deals via goAML to the FIU.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Bridges and Allies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Bridges and Allies</dc:creator>
  <cp:lastModifiedBy>Bridges and Allies</cp:lastModifiedBy>
  <cp:revision>1</cp:revision>
  <dcterms:created xsi:type="dcterms:W3CDTF">2026-06-16T12:08:05Z</dcterms:created>
  <dcterms:modified xsi:type="dcterms:W3CDTF">2026-06-16T12:08:05Z</dcterms:modified>
</cp:coreProperties>
</file>