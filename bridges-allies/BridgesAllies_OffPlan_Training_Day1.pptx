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 and high-energy. Today is NOT about rules or paperwork — it's about the opportunity: why Dubai, how big the market is, and the kind of numbers you can create for your clients (and yourself). The technical detail starts tomorrow. Goal of Day 1: they leave excited and proud to be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 room — especially career-changers and fresh grads. No background required. Lean into the team culture and the mentorship promise. Keep it personal and warm.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Signpost the week. Stress that today is light and motivational; the rules, contracts and finance come on Days 2–3, and selling on Day 4. This lowers anxiety for nervous beginners.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today is about belief and opportunity. By the end they should feel 'this is real, and I can do this.'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conversational. These are the everyday reasons buyers from around the world choose Dubai — tax-free returns, safety, connectivity, and momentum. You'll repeat these to clients constantly.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Convey scale without dated stats (this deck is reused for every new joiner). The message: the market is enormous, global, always producing new inventory, and growing long-term — there is more than enough business for everyone. If a trainer wants live figures, they can mention the latest weekly DLD number verbally, but keep the slides timeless.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Day 1. Every client buys for some mix of: income, growth, easy payments, and residency. Keep figures soft and honest — yields ~6–8%, Golden Visa at AED 2M. We back these with detail on Day 3; today it's about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it slowly and warmly. The point isn't the exact numbers — it's the SHAPE of the deal: small to start, growth during construction, income after. Always label it illustrative; never promise returns. This builds their confidence to have the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honestly. Commission is uncapped (~2% agency side; the agent's share depends on the plan). No income guarantees — but with training and effort the ceiling is high. Tie it back to 'we rise together.'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Off-plan is the friendliest entry point for a new agent and a new buyer: low to start, staged payments, upside during build, and strong launch incentives. We go deep on the mechanics on Day 2 — today, just the appeal.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warm. Four feelings to leave with: right market, big opportunity, you create value, and it rewards you. Preview Day 2 lightly so they're curious, not anxious.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playful. Let people call out answers together. The goal is confidence, not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Celebrate. Everyone should get these — that's the point. End on energy and a look ahead to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4754880" cy="4754880"/>
          </a:xfrm>
          <a:prstGeom prst="ellipse">
            <a:avLst/>
          </a:prstGeom>
          <a:solidFill>
            <a:srgbClr val="1A2F54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297680"/>
            <a:ext cx="3108960" cy="3108960"/>
          </a:xfrm>
          <a:prstGeom prst="ellipse">
            <a:avLst/>
          </a:prstGeom>
          <a:solidFill>
            <a:srgbClr val="13284D"/>
          </a:solidFill>
          <a:ln/>
        </p:spPr>
      </p:sp>
      <p:pic>
        <p:nvPicPr>
          <p:cNvPr id="4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BRIDGES &amp; ALLIES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Dubai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The opportunity in front of you.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4800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4-day journey · from your first day to your first deal.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______________     ·     Bridges &amp; Allies — Off-Plan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in the right place, at the right time</a:t>
            </a:r>
            <a:endParaRPr lang="en-US" sz="2800" dirty="0"/>
          </a:p>
        </p:txBody>
      </p:sp>
      <p:pic>
        <p:nvPicPr>
          <p:cNvPr id="3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874520"/>
            <a:ext cx="3408578" cy="3383280"/>
          </a:xfrm>
          <a:prstGeom prst="roundRect">
            <a:avLst>
              <a:gd name="adj" fmla="val 270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224028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664" y="2474824"/>
            <a:ext cx="399593" cy="3995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688" y="3291840"/>
            <a:ext cx="28599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experience needed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32688" y="3931920"/>
            <a:ext cx="28599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you from zero. Every expert started exactly where you are today.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277258" y="1874520"/>
            <a:ext cx="3408578" cy="3383280"/>
          </a:xfrm>
          <a:prstGeom prst="roundRect">
            <a:avLst>
              <a:gd name="adj" fmla="val 270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97298" y="224028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842" y="2474824"/>
            <a:ext cx="399593" cy="3995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69866" y="3291840"/>
            <a:ext cx="28599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rise together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569866" y="3931920"/>
            <a:ext cx="28599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team, one standard. Your success is the team's success — we win together.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914437" y="1874520"/>
            <a:ext cx="3408578" cy="3383280"/>
          </a:xfrm>
          <a:prstGeom prst="roundRect">
            <a:avLst>
              <a:gd name="adj" fmla="val 270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34477" y="224028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020" y="2474824"/>
            <a:ext cx="399593" cy="3995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07045" y="3291840"/>
            <a:ext cx="28599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is everything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207045" y="3931920"/>
            <a:ext cx="28599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is one of the world's most active markets. Learn now, and grow with it.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build a great team — and we rise together.”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4-day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get inspired. Then we get practical.</a:t>
            </a:r>
            <a:endParaRPr lang="en-US" sz="140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2625014" cy="3200400"/>
          </a:xfrm>
          <a:prstGeom prst="roundRect">
            <a:avLst>
              <a:gd name="adj" fmla="val 3483"/>
            </a:avLst>
          </a:prstGeom>
          <a:solidFill>
            <a:srgbClr val="FFF7E6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41107" y="228600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541107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2625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456432"/>
            <a:ext cx="235069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069080"/>
            <a:ext cx="225925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Dubai, the numbers, and what they mean for your clients.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02254" y="1920240"/>
            <a:ext cx="2625014" cy="3200400"/>
          </a:xfrm>
          <a:prstGeom prst="roundRect">
            <a:avLst>
              <a:gd name="adj" fmla="val 348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3281" y="228600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303281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402254" y="3200400"/>
            <a:ext cx="2625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39414" y="3456432"/>
            <a:ext cx="235069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works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585134" y="4069080"/>
            <a:ext cx="225925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market, the players, and the simple paperwork behind a deal.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64428" y="1920240"/>
            <a:ext cx="2625014" cy="3200400"/>
          </a:xfrm>
          <a:prstGeom prst="roundRect">
            <a:avLst>
              <a:gd name="adj" fmla="val 348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065455" y="228600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065455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164428" y="3200400"/>
            <a:ext cx="2625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1588" y="3456432"/>
            <a:ext cx="235069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money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347308" y="4069080"/>
            <a:ext cx="225925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plans, returns, residency, and how clients fund a purchase.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926601" y="1920240"/>
            <a:ext cx="2625014" cy="3200400"/>
          </a:xfrm>
          <a:prstGeom prst="roundRect">
            <a:avLst>
              <a:gd name="adj" fmla="val 348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827628" y="228600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827628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926601" y="3200400"/>
            <a:ext cx="26250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063761" y="3456432"/>
            <a:ext cx="235069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&amp; closing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109481" y="4069080"/>
            <a:ext cx="225925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clients, guiding them, and confidently closing.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5532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(Day 1) is the inspiring part — no jargon, no exams. Just the opportunity.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389120" cy="4389120"/>
          </a:xfrm>
          <a:prstGeom prst="ellipse">
            <a:avLst/>
          </a:prstGeom>
          <a:solidFill>
            <a:srgbClr val="1A2F5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40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Dubai · the numbers · what they mean for your clients</a:t>
            </a:r>
            <a:endParaRPr lang="en-US" sz="1500" dirty="0"/>
          </a:p>
        </p:txBody>
      </p:sp>
      <p:pic>
        <p:nvPicPr>
          <p:cNvPr id="6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world buys in Dubai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reasons your clients already love.</a:t>
            </a:r>
            <a:endParaRPr lang="en-US" sz="140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5272888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24028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99" y="2462479"/>
            <a:ext cx="378562" cy="3785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167128"/>
            <a:ext cx="376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Tax-free income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920240" y="2651760"/>
            <a:ext cx="3764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income tax and no annual property tax on what they earn.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78728" y="1874520"/>
            <a:ext cx="5272888" cy="155448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53048" y="224028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247" y="2462479"/>
            <a:ext cx="378562" cy="3785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58888" y="2167128"/>
            <a:ext cx="376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&amp; stable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7558888" y="2651760"/>
            <a:ext cx="3764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world's safest cities, with a trusted, regulated market.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5272888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402336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599" y="4245559"/>
            <a:ext cx="378562" cy="3785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20240" y="3950208"/>
            <a:ext cx="376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 hub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920240" y="4434840"/>
            <a:ext cx="3764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hours from most of the world — business, lifestyle, and travel.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78728" y="3657600"/>
            <a:ext cx="5272888" cy="155448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53048" y="402336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247" y="4245559"/>
            <a:ext cx="378562" cy="3785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58888" y="3950208"/>
            <a:ext cx="376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growth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7558888" y="4434840"/>
            <a:ext cx="3764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rising demand, world-class developments, and new communities.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size of the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busiest property markets on earth.</a:t>
            </a:r>
            <a:endParaRPr lang="en-US" sz="140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5272888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24028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99" y="2462479"/>
            <a:ext cx="378562" cy="3785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167128"/>
            <a:ext cx="376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Billions every week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920240" y="2651760"/>
            <a:ext cx="3764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worth billions of dirhams changes hands across Dubai — week after week.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78728" y="1874520"/>
            <a:ext cx="5272888" cy="155448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53048" y="224028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247" y="2462479"/>
            <a:ext cx="378562" cy="3785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58888" y="2167128"/>
            <a:ext cx="376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world of buyers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7558888" y="2651760"/>
            <a:ext cx="3764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from 200+ nationalities live here. Your clients can come from anywhere.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5272888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402336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599" y="4245559"/>
            <a:ext cx="378562" cy="3785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20240" y="3950208"/>
            <a:ext cx="376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building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920240" y="4434840"/>
            <a:ext cx="3764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communities and landmark towers launch constantly — fresh homes to sell.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78728" y="3657600"/>
            <a:ext cx="5272888" cy="155448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53048" y="402336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247" y="4245559"/>
            <a:ext cx="378562" cy="3785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58888" y="3950208"/>
            <a:ext cx="376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demand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7558888" y="4434840"/>
            <a:ext cx="3764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and investment keep climbing, year after year.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you can create for a client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promises behind every conversation.</a:t>
            </a:r>
            <a:endParaRPr lang="en-US" sz="140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5272888" cy="1554480"/>
          </a:xfrm>
          <a:prstGeom prst="roundRect">
            <a:avLst>
              <a:gd name="adj" fmla="val 5882"/>
            </a:avLst>
          </a:prstGeom>
          <a:solidFill>
            <a:srgbClr val="FFF9ED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24028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99" y="2462479"/>
            <a:ext cx="378562" cy="3785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167128"/>
            <a:ext cx="376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Rental income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920240" y="2651760"/>
            <a:ext cx="3764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Well-chosen homes can earn roughly 6–8% a year in rent.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78728" y="1874520"/>
            <a:ext cx="5272888" cy="1554480"/>
          </a:xfrm>
          <a:prstGeom prst="roundRect">
            <a:avLst>
              <a:gd name="adj" fmla="val 5882"/>
            </a:avLst>
          </a:prstGeom>
          <a:solidFill>
            <a:srgbClr val="FFF9ED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53048" y="224028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247" y="2462479"/>
            <a:ext cx="378562" cy="3785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58888" y="2167128"/>
            <a:ext cx="376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while they wait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7558888" y="2651760"/>
            <a:ext cx="3764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Off-plan values can rise between launch and completion.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5272888" cy="1554480"/>
          </a:xfrm>
          <a:prstGeom prst="roundRect">
            <a:avLst>
              <a:gd name="adj" fmla="val 5882"/>
            </a:avLst>
          </a:prstGeom>
          <a:solidFill>
            <a:srgbClr val="FFF9ED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402336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599" y="4245559"/>
            <a:ext cx="378562" cy="3785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20240" y="3950208"/>
            <a:ext cx="376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payment plans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920240" y="4434840"/>
            <a:ext cx="3764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in comfortable stages during construction — not all at once.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78728" y="3657600"/>
            <a:ext cx="5272888" cy="1554480"/>
          </a:xfrm>
          <a:prstGeom prst="roundRect">
            <a:avLst>
              <a:gd name="adj" fmla="val 5882"/>
            </a:avLst>
          </a:prstGeom>
          <a:solidFill>
            <a:srgbClr val="FFF9ED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53048" y="402336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247" y="4245559"/>
            <a:ext cx="378562" cy="3785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58888" y="3950208"/>
            <a:ext cx="376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path to residency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7558888" y="4434840"/>
            <a:ext cx="3764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AED 2,000,000 property can open a 10-year Golden Visa.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four reasons clients say yes. We'll prove each one on Day 3.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deal can look — illustrative, not a guarantee.</a:t>
            </a:r>
            <a:endParaRPr lang="en-US" sz="140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6765152" cy="3931920"/>
          </a:xfrm>
          <a:prstGeom prst="roundRect">
            <a:avLst>
              <a:gd name="adj" fmla="val 232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2194560"/>
            <a:ext cx="429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Off-plan apartment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19232" y="2194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1,500,000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0120" y="2944368"/>
            <a:ext cx="61250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3035808"/>
            <a:ext cx="429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started (≈20%)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19232" y="303580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300,000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60120" y="3785616"/>
            <a:ext cx="61250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877056"/>
            <a:ext cx="429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growth during build*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19232" y="387705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AED 225,000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60120" y="4626864"/>
            <a:ext cx="61250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4718304"/>
            <a:ext cx="429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yearly rent at ~7%*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19232" y="471830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AED 105,000 / yr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679552" y="1874520"/>
            <a:ext cx="3872063" cy="3931920"/>
          </a:xfrm>
          <a:prstGeom prst="roundRect">
            <a:avLst>
              <a:gd name="adj" fmla="val 2362"/>
            </a:avLst>
          </a:prstGeom>
          <a:solidFill>
            <a:srgbClr val="0F1F3D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953872" y="219456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071" y="2416759"/>
            <a:ext cx="378562" cy="37856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908152" y="3200400"/>
            <a:ext cx="33234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story you'll tell.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7908152" y="4069080"/>
            <a:ext cx="332342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start, growth while it's built, and income after handover.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*Illustrative figures only — actual results vary and are never guaranteed.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what's in it for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effort, your reward.</a:t>
            </a:r>
            <a:endParaRPr lang="en-US" sz="140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3408578" cy="3291840"/>
          </a:xfrm>
          <a:prstGeom prst="roundRect">
            <a:avLst>
              <a:gd name="adj" fmla="val 277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664" y="2520544"/>
            <a:ext cx="399593" cy="3995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3291840"/>
            <a:ext cx="28599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Uncapped earning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32688" y="3931920"/>
            <a:ext cx="28599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earn about 2% — that's AED 30,000 on a 1.5M sale. No ceiling.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77258" y="1920240"/>
            <a:ext cx="3408578" cy="3291840"/>
          </a:xfrm>
          <a:prstGeom prst="roundRect">
            <a:avLst>
              <a:gd name="adj" fmla="val 277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97298" y="228600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842" y="2520544"/>
            <a:ext cx="399593" cy="3995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69866" y="3291840"/>
            <a:ext cx="28599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train you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569866" y="3931920"/>
            <a:ext cx="28599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first day to your first deal — step by step, with support.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914437" y="1920240"/>
            <a:ext cx="3408578" cy="3291840"/>
          </a:xfrm>
          <a:prstGeom prst="roundRect">
            <a:avLst>
              <a:gd name="adj" fmla="val 277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4477" y="228600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020" y="2520544"/>
            <a:ext cx="399593" cy="3995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07045" y="3291840"/>
            <a:ext cx="28599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career, fast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8207045" y="3931920"/>
            <a:ext cx="28599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name, a network, and a future in a market that's only growing.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depend on your results — but the opportunity is real, and it's yours to take.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off-plan is the easiest place to start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before completion — and why clients love it.</a:t>
            </a:r>
            <a:endParaRPr lang="en-US" sz="140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65960"/>
            <a:ext cx="2590724" cy="3108960"/>
          </a:xfrm>
          <a:prstGeom prst="roundRect">
            <a:avLst>
              <a:gd name="adj" fmla="val 353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23962" y="233172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161" y="2553919"/>
            <a:ext cx="378562" cy="3785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337560"/>
            <a:ext cx="24078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to start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977640"/>
            <a:ext cx="23164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 home with a deposit, not the full price.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413684" y="1965960"/>
            <a:ext cx="2590724" cy="3108960"/>
          </a:xfrm>
          <a:prstGeom prst="roundRect">
            <a:avLst>
              <a:gd name="adj" fmla="val 353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97566" y="233172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765" y="2553919"/>
            <a:ext cx="378562" cy="3785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05124" y="3337560"/>
            <a:ext cx="24078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in stages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550844" y="3977640"/>
            <a:ext cx="23164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payment plans through construction.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187288" y="1965960"/>
            <a:ext cx="2590724" cy="3108960"/>
          </a:xfrm>
          <a:prstGeom prst="roundRect">
            <a:avLst>
              <a:gd name="adj" fmla="val 353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071170" y="233172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369" y="2553919"/>
            <a:ext cx="378562" cy="3785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78728" y="3337560"/>
            <a:ext cx="24078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can grow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324448" y="3977640"/>
            <a:ext cx="23164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can rise between launch and handover.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8960891" y="1965960"/>
            <a:ext cx="2590724" cy="3108960"/>
          </a:xfrm>
          <a:prstGeom prst="roundRect">
            <a:avLst>
              <a:gd name="adj" fmla="val 353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844773" y="233172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6973" y="2553919"/>
            <a:ext cx="378562" cy="3785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52331" y="3337560"/>
            <a:ext cx="24078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incentives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9098051" y="3977640"/>
            <a:ext cx="23164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pricing, fee deals, and developer offers.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what to remember</a:t>
            </a:r>
            <a:endParaRPr lang="en-US" sz="2800" dirty="0"/>
          </a:p>
        </p:txBody>
      </p:sp>
      <p:pic>
        <p:nvPicPr>
          <p:cNvPr id="3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874520"/>
            <a:ext cx="10911535" cy="822960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68680" y="2039112"/>
            <a:ext cx="502920" cy="5029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1874520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picked the right market.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is safe, tax-free, global, and growing.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10911535" cy="822960"/>
          </a:xfrm>
          <a:prstGeom prst="roundRect">
            <a:avLst>
              <a:gd name="adj" fmla="val 1111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999232"/>
            <a:ext cx="502920" cy="5029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45920" y="2834640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huge.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change hands every single week.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794760"/>
            <a:ext cx="10911535" cy="822960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8680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45920" y="3794760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 real value.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growth, easy payments, and residency for clients.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754880"/>
            <a:ext cx="10911535" cy="822960"/>
          </a:xfrm>
          <a:prstGeom prst="roundRect">
            <a:avLst>
              <a:gd name="adj" fmla="val 1111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919472"/>
            <a:ext cx="502920" cy="5029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68680" y="4919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45920" y="4754880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pays you well.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 earning — with training and a team behind you.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how a deal actually works — the simple way.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warm-up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pressure — just to lock in today's big ideas.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97228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reasons the world buys property in Dubai.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3154680"/>
            <a:ext cx="97228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what yearly rental return can a well-chosen home earn?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480560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4297680"/>
            <a:ext cx="97228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property value can open a 10-year Golden Visa for a client?</a:t>
            </a:r>
            <a:endParaRPr lang="en-US" sz="1500" dirty="0"/>
          </a:p>
        </p:txBody>
      </p:sp>
      <p:pic>
        <p:nvPicPr>
          <p:cNvPr id="16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 — answers</a:t>
            </a:r>
            <a:endParaRPr lang="en-US" sz="2800" dirty="0"/>
          </a:p>
        </p:txBody>
      </p:sp>
      <p:pic>
        <p:nvPicPr>
          <p:cNvPr id="3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96596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21992"/>
            <a:ext cx="402336" cy="4023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8760" y="1965960"/>
            <a:ext cx="98599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two: tax-free income, safety &amp; stability, a global hub, strong growth.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40080" y="306324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19272"/>
            <a:ext cx="402336" cy="4023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08760" y="3063240"/>
            <a:ext cx="98599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6–8% a year (varies by property and area).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640080" y="416052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16552"/>
            <a:ext cx="402336" cy="4023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08760" y="4160520"/>
            <a:ext cx="98599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2,000,000 in property value.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work — that's Day 1. Tomorrow we make it real.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Bridges and Allies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Bridges and Allies</dc:creator>
  <cp:lastModifiedBy>Bridges and Allies</cp:lastModifiedBy>
  <cp:revision>1</cp:revision>
  <dcterms:created xsi:type="dcterms:W3CDTF">2026-06-16T12:18:14Z</dcterms:created>
  <dcterms:modified xsi:type="dcterms:W3CDTF">2026-06-16T12:18:14Z</dcterms:modified>
</cp:coreProperties>
</file>